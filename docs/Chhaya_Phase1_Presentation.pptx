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DURATION: ~30 seconds]</a:t>
            </a:r>
          </a:p>
          <a:p/>
          <a:p>
            <a:r>
              <a:t>NARRATION:</a:t>
            </a:r>
          </a:p>
          <a:p>
            <a:r>
              <a:t>Welcome, esteemed members of the technical panel, jury, and clinical leadership from Happiest Health. We are Team SynapseX from IIT Kanpur, and today we are proud to present Chhaya—a Type 2 diabetes digital twin engineered not around speculative marketing claims, but around mathematical rigor, biological fidelity, and radical scientific honesty. In Sanskrit, 'Chhaya' means shadow. That is exactly what our prototype creates: it takes a single, isolated glucose sensor wear, fuses it with the patient's longitudinal electronic health record, and projects a continuous, personalized physiological shadow into the weeks that follow. Over the next twenty-five minutes, we will walk you through our complete Phase 1 submission—from the two-stream multimodal architecture and our differential equation model in JAX, to our pre-registered prediction benchmarks and our three-screen clinical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DURATION: ~35 seconds]</a:t>
            </a:r>
          </a:p>
          <a:p/>
          <a:p>
            <a:r>
              <a:t>NARRATION:</a:t>
            </a:r>
          </a:p>
          <a:p>
            <a:r>
              <a:t>Let us begin with the stark economic and clinical reality on the ground in India and across the developing world. Continuous glucose monitors like the FreeStyle Libre or Dexcom are transformative diagnostic tools, but they last only fourteen days and cost approximately forty-two hundred rupees per patch. For the overwhelming majority of people living with Type 2 diabetes, continuous, year-round sensor monitoring is financially impossible. What happens in clinical practice? A patient wears a sensor once. They generate an ambulatory glucose profile report. Their physician reviews that report, alters their oral hypoglycemic therapy or insulin regimen, and treats them on the basis of that fourteen-day snapshot for the next three to six months. But biology does not stand still. Lifestyle changes, pancreatic beta-cell fatigue, stress, and medication adjustments continuously shift the patient's glycemic dynamics. Yet today, no clinical software tool tells the physician how old that sensor report has become, or whether its conclusions still hold true.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DURATION: ~30 seconds]</a:t>
            </a:r>
          </a:p>
          <a:p/>
          <a:p>
            <a:r>
              <a:t>NARRATION:</a:t>
            </a:r>
          </a:p>
          <a:p>
            <a:r>
              <a:t>Faced with this clinical blind spot, we asked the central question that every medical digital twin claims to answer, but which almost none are willing to evaluate rigorously: if you calibrate a model on a few days of sensor data, and then take the sensor off, how accurately can you estimate the patient's glucose dynamics into the future? To answer this without deception, we instituted what we call the Reveal Protocol. We calibrate our digital twin on the initial days of a recording. We then erect a strict temporal firewall, hiding all future sensor data. Our twin must reconstruct the patient's glycemic trajectory using only their health record, meal logs, and occasional capillary fingersticks. Finally, we unmask the ground truth sensor readings and lay them directly on top. If the twin claims to know the patient's physiology, this is the only yardstick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DURATION: ~30 seconds]</a:t>
            </a:r>
          </a:p>
          <a:p/>
          <a:p>
            <a:r>
              <a:t>NARRATION:</a:t>
            </a:r>
          </a:p>
          <a:p>
            <a:r>
              <a:t>On this slide, you see our direct alignment with the Happiest Health Phase 1 challenge brief. The competition mandates three core deliverables: first, the successful fusion of two distinct data streams—static historical health records and dynamic real-time sensor streams. Second, a working algorithmic model that ingests both streams to predict adverse clinical events ahead of time. And third, a conceptual UI dashboard illustrating how a practicing physician interacts with this virtual patient. Chhaya fulfills every one of these requirements with executed, test-verified software. We ingest FHIR-shaped clinical records to establish personal Bayesian parameter priors, simulate multi-compartment glucose-insulin kinetics using continuous wearable inputs, predict 2-hour postprandial glycemic excursions, and deliver a clean, three-screen clinical interface running right now in production.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DURATION: ~30 seconds]</a:t>
            </a:r>
          </a:p>
          <a:p/>
          <a:p>
            <a:r>
              <a:t>NARRATION:</a:t>
            </a:r>
          </a:p>
          <a:p>
            <a:r>
              <a:t>To understand the medical necessity of our system, we must examine the limitations of current diagnostic tiers. HbA1c remains the clinical gold standard, yet it is merely a three-month weighted average. Two patients with an identical HbA1c of 7.5% can have completely different daily profiles: one maintains stable, gentle oscillations, while the other suffers dangerous excursions between severe nocturnal hypoglycemia and debilitating postprandial spikes. Self-monitoring via fingerstick meters captures snapshots, but misses peak excursions and nocturnal trends. CGMs provide the complete picture, but are fleeting. Chhaya bridges this critical clinical chasm. By leveraging sparse, low-cost fingersticks taken four to six times a day, Chhaya anchors and updates the physiological model established during that single fourteen-day sensor wear, giving the physician continuous insight without continuous sensor costs.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DURATION: ~35 seconds]</a:t>
            </a:r>
          </a:p>
          <a:p/>
          <a:p>
            <a:r>
              <a:t>NARRATION:</a:t>
            </a:r>
          </a:p>
          <a:p>
            <a:r>
              <a:t>What happens to a patient's glucose profile after the sensor comes off? In our analysis of clinical datasets, we uncovered a phenomenon that every endocrinologist suspects but rarely measures systematically: glycemic drift. In hospitalized and supervised patients whose medications were modified, glucose moved downward by approximately one milligram per deciliter per day. Within three weeks, a patient's mean glucose can diverge from their old ambulatory glucose report by more than twenty milligrams per deciliter. If a physician uses a thirty-day-old sensor report to titrate sulfonylureas or insulin, they are making dosing decisions on historical ghost data. The patient could be sliding into frequent nocturnal hypoglycemia, yet the static paper report on the doctor's desk still shows severe hyperglycemia. Chhaya was built specifically to detect and quantify this drift.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DURATION: ~30 seconds]</a:t>
            </a:r>
          </a:p>
          <a:p/>
          <a:p>
            <a:r>
              <a:t>NARRATION:</a:t>
            </a:r>
          </a:p>
          <a:p>
            <a:r>
              <a:t>In the tech industry today, the term 'digital twin' is too often degraded into marketing theater—a 3D rotating avatar of a human body hooked up to a black-box regression algorithm that outputs uncalibrated numbers. In medicine, an uncalibrated point estimate is worse than useless; it is actively dangerous. In Chhaya, we define a digital twin with scientific precision. Our twin is a parameter-personalized dynamical system of ordinary differential equations. It represents the biophysical transport of glucose from the stomach into plasma, endogenous pancreatic insulin secretion, peripheral glucose disposal, hepatic glucose production, and interstitial diffusion. It has seven identifiable personal parameters, and it never produces an estimate without an accompanying eighty-percent confidence band derived from a Laplace ensemble. It does not pretend to be omniscient; it shows exactly how certain or uncertain it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DURATION: ~30 seconds]</a:t>
            </a:r>
          </a:p>
          <a:p/>
          <a:p>
            <a:r>
              <a:t>NARRATION:</a:t>
            </a:r>
          </a:p>
          <a:p>
            <a:r>
              <a:t>Before we dive into the mathematics and code, we establish our intellectual contract—what Chhaya is, and explicitly what Chhaya is not. First, Chhaya does not claim to replace a physical continuous glucose monitor. When evaluated against capillary fingersticks on held-out patients, our estimate exhibits an error of approximately twenty-two percent, compared to twelve percent for a physical sensor. Second, Chhaya never recommends medication doses; insulin titration requires licensed clinical judgment. Third, Chhaya raises no alarms on estimated lows, because as we will prove shortly, open-source sensor data shows eighty-seven percent of sensor lows are false positives. Finally, we do not claim that fusing static medical records magically enhances sensor accuracy. By clearly stating these boundaries, we protect clinical safety and maintain absolute scientific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DURATION: ~30 seconds]</a:t>
            </a:r>
          </a:p>
          <a:p/>
          <a:p>
            <a:r>
              <a:t>NARRATION:</a:t>
            </a:r>
          </a:p>
          <a:p>
            <a:r>
              <a:t>Turning now to Section B, we examine the multimodal data architecture designed to fulfill Phase 1's core mandate: the seamless fusion of static historical records and dynamic real-time sensor streams. In clinical practice, these two sources exist in separate silos. The static record resides in hospital electronic health record systems—infrequent, structured, and retrospective. The dynamic stream resides on patient smartphones and wearable devices—high-frequency, noisy, and prospective. Chhaya unifies them through a mathematically principled Bayesian hierarchy. The static health record establishes the prior distribution over the patient's metabolic parameters. The dynamic wearable streams then act as the likelihood, updating the state space through continuous differential equations and discrete filter assimilation. Let us inspect each stream in detail.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DURATION: ~30 seconds]</a:t>
            </a:r>
          </a:p>
          <a:p/>
          <a:p>
            <a:r>
              <a:t>NARRATION:</a:t>
            </a:r>
          </a:p>
          <a:p>
            <a:r>
              <a:t>Stream 1 ingests the patient's static medical history. In our codebase under `chhaya.product.record`, we structure this information strictly according to Fast Healthcare Interoperability Resources, or FHIR, JSON specifications. The record captures core demographic variables—age, biological sex, body mass in kilograms, and calculated BMI. It details disease duration in years, current pharmacological therapy including oral hypoglycemic agents like metformin or sulfonylureas, and historical laboratory chemistry. Specifically, it ingests fasting plasma glucose and laboratory HbA1c measured from venous blood draws. In a clinical deployment, this module connects directly to hospital EHR systems via standard FHIR APIs, ensuring zero friction in patient onboarding.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DURATION: ~30 seconds]</a:t>
            </a:r>
          </a:p>
          <a:p/>
          <a:p>
            <a:r>
              <a:t>NARRATION:</a:t>
            </a:r>
          </a:p>
          <a:p>
            <a:r>
              <a:t>In strict adherence to the Phase 1 specification, our static schema accommodates genetic markers associated with Type 2 diabetes risk and insulin resistance, such as polymorphisms in TCF7L2, KCNJ11, and PPARG. In our Bayesian prior framework, these variants modulate the initial distributions for beta-cell secretion gain and peripheral insulin sensitivity. However, maintaining absolute scientific honesty requires an immediate disclaimer: neither the Shanghai nor the CGMacros open-access clinical datasets include genomic sequencing. Therefore, all genetic fields within our demonstration environment are simulated and clearly watermarked as synthetic across every data structure and user interface screen. We demonstrate full architectural capability without fabricating clinical claims.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DURATION: ~30 seconds]</a:t>
            </a:r>
          </a:p>
          <a:p/>
          <a:p>
            <a:r>
              <a:t>NARRATION:</a:t>
            </a:r>
          </a:p>
          <a:p>
            <a:r>
              <a:t>The first component of Stream 2 is the dynamic time-series generated by continuous interstitial glucose sensors. Modern sensors measure the enzymatic oxidation of glucose in subcutaneous interstitial fluid at five-minute intervals, producing two hundred and eighty-eight readings per day. However, interstitial glucose is not plasma glucose. There is a physiological transport delay of approximately ten minutes as glucose diffuses across the vascular capillary endothelium into the interstitial space. In our JAX model, as defined in `src/chhaya/twin/model.py`, this is represented by an explicit first-order lag compartment with time constant tau-g. Our ingestion pipeline filters sensor compression dropouts, handles missing data epochs, and validates signal continuity before passing the trace to our calibration engine.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DURATION: ~30 seconds]</a:t>
            </a:r>
          </a:p>
          <a:p/>
          <a:p>
            <a:r>
              <a:t>NARRATION:</a:t>
            </a:r>
          </a:p>
          <a:p>
            <a:r>
              <a:t>The second dynamic input stream consists of self-monitored capillary blood glucose—traditional fingersticks. While infrequent—typically taken four to six times a day around meals and bedtime—fingerstick measurements serve as high-integrity anchor points. But capillary meter glucose and interstitial sensor readings exist on different operational scales due to factory calibration differences. As documented in our decision record `2026-10-08-fingersticks-report`, taking a plain average of raw meter values misses the true sensor mean by eighteen point three milligrams per deciliter. However, by learning a simple linear transfer function during the initial shared wear period, Chhaya converts fingersticks to the sensor's scale, reducing the report error to just six point four milligrams per deciliter.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DURATION: ~30 seconds]</a:t>
            </a:r>
          </a:p>
          <a:p/>
          <a:p>
            <a:r>
              <a:t>NARRATION:</a:t>
            </a:r>
          </a:p>
          <a:p>
            <a:r>
              <a:t>Dynamic metabolic simulation cannot occur without nutritional inputs. Stream 2 ingests event-based meal logs containing ingestion timestamps, total carbohydrate content in grams, and qualitative macronutrient composition. In real human biology, a hundred grams of carbohydrates from white rice creates a violent, rapid glycemic surge, whereas the same carbohydrate load eaten with dietary fat and fiber results in a blunted, protracted appearance curve. In `chhaya.twin.model`, we implement this physiology using a two-parameter Weibull distribution with shape parameter sigma equal to one point three five. A specialized parameter, `meal_slow`, acts as a divisor on gut emptying rate k1, dynamically modulating absorption speed based on co-ingested macronutrients.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DURATION: ~30 seconds]</a:t>
            </a:r>
          </a:p>
          <a:p/>
          <a:p>
            <a:r>
              <a:t>NARRATION:</a:t>
            </a:r>
          </a:p>
          <a:p>
            <a:r>
              <a:t>Completing Stream 2 are wearable metrics of physical exertion and circadian rhythms. Continuous accelerometry, step counts, and optical heart-rate variability are converted into a continuous time-series of Metabolic Equivalent of Task, or METs. When energy expenditure exceeds one point five METs, Chhaya activates an exercise state variable that enhances insulin-independent peripheral glucose clearance with a forty-five-minute physiological recovery constant. Simultaneously, our model accounts for the well-known 'Dawn Phenomenon' observed in Type 2 diabetes. Using sleep detection from consumer wearables, the twin introduces a circadian cosine modulation on basal hepatic glucose output, peaking at five o'clock in the morning, successfully replicating morning fasting surges that baffle simpler models.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DURATION: ~30 seconds]</a:t>
            </a:r>
          </a:p>
          <a:p/>
          <a:p>
            <a:r>
              <a:t>NARRATION:</a:t>
            </a:r>
          </a:p>
          <a:p>
            <a:r>
              <a:t>Here we see the complete data fusion pipeline running in Chhaya. Notice the two distinct fusion pathways. The first is parameter-level fusion: the static electronic health record informs our prior distribution, while the fourteen-day sensor wear acts as the empirical likelihood, allowing us to perform Maximum A Posteriori optimization to identify the patient's seven personal metabolic parameters. The second is state-level fusion: during the post-sensor phase, the physiological simulation runs forward driven by logged meals, while sparse fingerstick measurements assimilate into the running estimate via an exponential decay filter. Simultaneously, those same fingersticks are monitored against the sensor's baseline to detect clinical drift. This is true multimodal data fusion.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DURATION: ~30 seconds]</a:t>
            </a:r>
          </a:p>
          <a:p/>
          <a:p>
            <a:r>
              <a:t>NARRATION:</a:t>
            </a:r>
          </a:p>
          <a:p>
            <a:r>
              <a:t>To validate our architecture, we evaluated Chhaya across two large-scale clinical cohorts totaling over one hundred and forty patients, representing complementary clinical realities. The first is ShanghaiT2DM, a high-fidelity inpatient study of one hundred Type 2 diabetic patients published in Nature Scientific Data. In this cohort, patients received supervised hospital care, daily medication titrations, five-minute CGM recording, and six reference fingerstick measurements per day. The second dataset is CGMacros from PhysioNet, capturing forty-five free-living individuals in the United States logging their unrestricted daily meals with continuous Dexcom sensors. Both datasets are downloaded directly via automated checksum-verified scripts without redistributing private patient traces, ensuring reproducibility and strict compliance with original data licenses.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DURATION: ~30 seconds]</a:t>
            </a:r>
          </a:p>
          <a:p/>
          <a:p>
            <a:r>
              <a:t>NARRATION:</a:t>
            </a:r>
          </a:p>
          <a:p>
            <a:r>
              <a:t>A fatal flaw in many published machine learning models is data leakage—either splitting by data row so the model memorizes future time points of the same individual, or tuning hyperparameters on the test set. In Chhaya, our engineering protocol makes leakage mathematically impossible. First, we split strictly by patient, never by row. Exactly half the patients in each cohort were assigned to development, and the other half were held out until the final evaluation. Second, every feature generation function in our test suite includes an automated zero-leakage test: it synthetically perturbs every single reading in the hidden sensor window and asserts that not a single bit of the estimated trace changes. Finally, our confirmatory runs require a dedicated `--confirm` CLI flag that aborts if uncommitted code is detected.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DURATION: ~30 seconds]</a:t>
            </a:r>
          </a:p>
          <a:p/>
          <a:p>
            <a:r>
              <a:t>NARRATION:</a:t>
            </a:r>
          </a:p>
          <a:p>
            <a:r>
              <a:t>We now enter Section C to examine the algorithmic heart of Chhaya: our augmented physiological engine. Rather than relying on opaque deep neural networks that output uninterpretable embeddings, Chhaya builds upon the E-DES differential equation model established by Maas and Erdos. The human glycemic control loop is modelled as a four-compartment biological system: oral carbohydrate ingestion into the gut, bi-directional glucose flux into circulating plasma, pancreatic insulin release driven by both absolute glucose concentration and its rate of change, and eventual diffusion into the interstitial fluid. To this established foundation, our team engineered two critical physiological expansions: a circadian hepatic driver to model dawn phenomenon spikes, and a muscular exertion uptake term driven by wearable MET activity.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DURATION: ~35 seconds]</a:t>
            </a:r>
          </a:p>
          <a:p/>
          <a:p>
            <a:r>
              <a:t>NARRATION:</a:t>
            </a:r>
          </a:p>
          <a:p>
            <a:r>
              <a:t>Displayed here are the governing differential equations of our digital twin. Notice how physical conservation laws govern every state transition. Gut absorption is governed by rate constant k1. Plasma glucose concentration G-p is balanced by hepatic output G-liv, peripheral clearance driven by plasma insulin I-p, and renal glycosuria which activates whenever plasma glucose exceeds the ten millimole per liter renal threshold. Endogenous insulin secretion captures two hallmark biological behaviors: a proportional response driven by deviation from basal glucose G-b, and a derivative response driven by the velocity of glucose increase, mimicking early-phase secretory burst release from pancreatic beta-cell granules. This non-linear dynamical structure ensures that the virtual patient behaves within the bounds of human biology.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DURATION: ~35 seconds]</a:t>
            </a:r>
          </a:p>
          <a:p/>
          <a:p>
            <a:r>
              <a:t>NARRATION:</a:t>
            </a:r>
          </a:p>
          <a:p>
            <a:r>
              <a:t>A classic challenge in physiological modelling is overparameterization—if a model has forty unconstrained parameters, it can fit arbitrary noise but fails completely on out-of-sample data. In Chhaya, we solved this by fixing population-level constants such as glucose distribution volume and renal clearance based on published clinical literature, while isolating exactly seven personalized biological parameters denoted by vector theta. These seven parameters capture individual metabolic identity: how fast the stomach empties, how sensitive muscle tissue is to insulin, the patient's baseline hepatic setpoint, the magnitude of their morning dawn phenomenon, and their sensitivity to physical exercise. By transforming these variables through log and logit functions, we ensure mathematical stability and biological validity across all numerical evaluations.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DURATION: ~30 seconds]</a:t>
            </a:r>
          </a:p>
          <a:p/>
          <a:p>
            <a:r>
              <a:t>NARRATION:</a:t>
            </a:r>
          </a:p>
          <a:p>
            <a:r>
              <a:t>Executing complex physiological ODE simulations across thousands of patient days in a production application requires extreme computational efficiency. We implemented Chhaya entirely within JAX, Google's high-performance numerical framework. By structuring our ODE solver around `jax.lax.scan` and compiling via XLA, our simulation integrates a full fourteen-day time-series in just twelve milliseconds—over one hundred times faster than standard SciPy solvers. More importantly, JAX gives us exact automatic differentiation. We compute analytical gradients of our loss function with respect to all seven biological parameters simultaneously, enabling gradient-based optimization algorithms to converge in milliseconds without noisy finite-difference approximations.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DURATION: ~35 seconds]</a:t>
            </a:r>
          </a:p>
          <a:p/>
          <a:p>
            <a:r>
              <a:t>NARRATION:</a:t>
            </a:r>
          </a:p>
          <a:p>
            <a:r>
              <a:t>Calibration proceeds via Bayesian Maximum A Posteriori estimation. During the wear period, the optimizer minimizes the sum of squared differences between simulated interstitial glucose and observed CGM readings, penalized by our Bayesian prior derived from the electronic health record. Once the optimal parameter vector theta-star is identified, we compute the Hessian matrix of second derivatives to evaluate the local curvature of the parameter space. Inverting this Hessian provides the Laplace approximation of parameter covariance. We draw an ensemble of parameter vectors from this posterior distribution and forward-simulate them, constructing an honest, calibrated eighty-percent confidence corridor. When the patient's data is noisy or sparse, the corridor naturally widens, alerting the clinician to elevated uncertainty.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DURATION: ~30 seconds]</a:t>
            </a:r>
          </a:p>
          <a:p/>
          <a:p>
            <a:r>
              <a:t>NARRATION:</a:t>
            </a:r>
          </a:p>
          <a:p>
            <a:r>
              <a:t>In real life, patients do not log every bite of food or every flight of stairs. If a digital twin relies solely on differential equations driven by meal logs, any unlogged snack will cause the model to miss the baseline entirely. Conversely, if a model relies purely on historical averages, it is blind to acute dietary variations. Chhaya resolves this tension through our dual-estimate architecture: our running estimate is a fifty-fifty blend of forward physiological simulation and the patient's own historical average day. The physiological branch provides acute responsiveness to logged meals and exercise. The average-day branch anchors the trace against unlogged habitual behaviors. On held-out testing, this blend significantly outperformed either single component alone.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DURATION: ~35 seconds]</a:t>
            </a:r>
          </a:p>
          <a:p/>
          <a:p>
            <a:r>
              <a:t>NARRATION:</a:t>
            </a:r>
          </a:p>
          <a:p>
            <a:r>
              <a:t>Once the continuous sensor is removed, how does the twin stay grounded in current reality? Through sparse data assimilation. When the patient takes an occasional fingerstick, say before lunch or two hours postprandial, that single measurement provides ground truth at time t-k. As implemented in `chhaya.twin.assimilate`, we compute the innovation—the difference between the fingerstick and our prior estimate. The twin applies an exponential nudge that shifts the trajectory toward the true capillary value. This correction gently decays over a two-hour half-life, mirroring the physiological autocorrelation of human glucose kinetics. If the patient tests four to six times a day, the twin remains remarkably anchored to the patient's true metabolic trajectory.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DURATION: ~30 seconds]</a:t>
            </a:r>
          </a:p>
          <a:p/>
          <a:p>
            <a:r>
              <a:t>NARRATION:</a:t>
            </a:r>
          </a:p>
          <a:p>
            <a:r>
              <a:t>Now, we invite your close attention to our validation results. In machine learning for healthcare, the prevailing culture is to test dozens of model architectures, select the highest numbers, and retroactively claim victory. We rejected this practice completely. Before touching a single held-out test patient, we authored and committed `docs/PREREGISTRATION.md` to our version-controlled repository, locking in nine explicit mathematical performance bars. When the tests were executed on held-out data, five bars passed and four missed. Rather than hiding those four misses, they are prominently displayed on our dashboard's Evidence screen. In science, knowing where a model fails is just as vital as knowing where it succeeds.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DURATION: ~35 seconds]</a:t>
            </a:r>
          </a:p>
          <a:p/>
          <a:p>
            <a:r>
              <a:t>NARRATION:</a:t>
            </a:r>
          </a:p>
          <a:p>
            <a:r>
              <a:t>Our first pre-registered benchmark evaluated adverse postprandial prediction under the Reveal Protocol on nineteen held-out free-living participants. We calibrated on the initial days, masked the sensor for the subsequent five days, and tasked the twin with predicting glucose dynamics. The result passed with decisive statistical significance: Chhaya's running estimate was one point four milligrams per deciliter closer to the real hidden sensor than the patient's own average day, with a p-value of four times ten to the minus five. Furthermore, the model was zero point three five milligrams per deciliter closer than an ablated control lacking meal logs, proving that the meal-driven physiological engine adds genuine predictive foresight. As shown in the scatter plot, this predictive advantage held across all seven post-sensor days.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DURATION: ~35 seconds]</a:t>
            </a:r>
          </a:p>
          <a:p/>
          <a:p>
            <a:r>
              <a:t>NARRATION:</a:t>
            </a:r>
          </a:p>
          <a:p>
            <a:r>
              <a:t>Our second pre-registered benchmark evaluated the power of fingerstick assimilation on twenty-nine held-out Shanghai patients under supervised care who took approximately six fingersticks daily. Calibrating on three days of sensor data, the arrival of subsequent fingersticks brought Chhaya's running estimate two point eight milligrams per deciliter closer to the hidden continuous sensor than relying on the patient's daily shape alone, with a p-value of four times ten to the minus six. Eighty-six percent of patients saw direct accuracy gains. When reconstructing the true multi-day mean glucose for the clinical report in hindsight, the twin was nine point five milligrams per deciliter closer to the real sensor mean. This confirms that sparse fingersticks can successfully maintain the integrity of a prior sensor wear.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DURATION: ~35 seconds]</a:t>
            </a:r>
          </a:p>
          <a:p/>
          <a:p>
            <a:r>
              <a:t>NARRATION:</a:t>
            </a:r>
          </a:p>
          <a:p>
            <a:r>
              <a:t>Now, let us examine our first major negative result: Gate 3, predicting whether a meal will cause a dangerous glycemic spike above one hundred and eighty milligrams per deciliter two hours in advance. The brief asked for adverse event prediction, and we tested whether fusing the EHR, sensor history, and fingersticks would outperform any single stream. The data delivered a resounding no. Supervised fingersticks alone achieved an Area Under the Precision-Recall Curve of zero point six four two. But our fused model achieved only zero point five nine six. Furthermore, the fused model's calibration slope was zero point four eight, indicating severe probabilistic overconfidence. Because of this finding, we took an immediate clinical safety decision: Chhaya displays risk bands and arm accuracies on screen, but suppresses all automated meal alert alarms.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DURATION: ~35 seconds]</a:t>
            </a:r>
          </a:p>
          <a:p/>
          <a:p>
            <a:r>
              <a:t>NARRATION:</a:t>
            </a:r>
          </a:p>
          <a:p>
            <a:r>
              <a:t>Our second pre-registered miss was equally instructive. We hypothesized that giving the twin the patient's static health record—specifically fasting lab glucose and HbA1c—to set parameter priors would significantly reduce error compared to population priors. On twenty held-out participants with only twenty-four hours of sensor data, incorporating the record altered estimation error by an imperceptible median of zero point zero two milligrams per deciliter, with a p-value of zero point one six. With three or more days of sensor wear, the benefit dropped to zero. What does this teach us? Once a patient wears a continuous physiological sensor for even seventy-two hours, the rich dynamic likelihood completely overwhelms the static medical record. The EHR provides crucial clinical context, but it does not refine physical ODE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DURATION: ~35 seconds]</a:t>
            </a:r>
          </a:p>
          <a:p/>
          <a:p>
            <a:r>
              <a:t>NARRATION:</a:t>
            </a:r>
          </a:p>
          <a:p>
            <a:r>
              <a:t>One of our most impactful clinical features is the Staleness Monitor—an automated prompt alerting the physician when a patient's historical sensor report is no longer valid. Using a Cumulative Sum of fingerstick surprises against the baseline wear, the monitor separates clinically drifted recordings—defined as a shift in mean glucose exceeding twenty milligrams per deciliter—from stable recordings with an AUROC of zero point eight two. At our calibrated operating threshold, the system flags sixty-four percent of drifted patients within two point six days while maintaining a ten percent false-positive rate. Crucially, a simple comparison of fingerstick averages against the report also achieved zero point eight two. We report this tie openly: the plain baseline works just as well as the dynamic monitor.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DURATION: ~35 seconds]</a:t>
            </a:r>
          </a:p>
          <a:p/>
          <a:p>
            <a:r>
              <a:t>NARRATION:</a:t>
            </a:r>
          </a:p>
          <a:p>
            <a:r>
              <a:t>Before moving to the user interface, we present a startling finding from our label audit that dictated our entire clinical safety design. Across hundreds of paired measurements where a fingerstick was taken within ten minutes of a sensor reading, sensor highs above one hundred and eighty milligrams per deciliter were confirmed ninety point five percent of the time. But for sensor lows below seventy milligrams per deciliter, only eight out of sixty-four were confirmed—an eighty-seven point five percent false positive rate. At night, zero out of nine sensor lows were confirmed. Why? Because when a sleeping patient rolls onto their sensor, physical tissue compression temporarily halts microvascular perfusion, creating artificial 'compression lows'. Had we trained a machine learning model to predict raw sensor lows, it would have learned to predict sleeping posture, not hypoglycemia. Therefore, Chhaya labels every sensor low on screen as 'unconfirmed', and refuses to generate automated low alarms.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DURATION: ~30 seconds]</a:t>
            </a:r>
          </a:p>
          <a:p/>
          <a:p>
            <a:r>
              <a:t>NARRATION:</a:t>
            </a:r>
          </a:p>
          <a:p>
            <a:r>
              <a:t>We now arrive at Section D: our conceptual clinical dashboard, built to demonstrate how an endocrinologist or diabetologist interacts with this virtual patient. Practicing clinicians in India manage packed outpatient clinics, often seeing forty patients in a single morning. They do not have time to navigate complex machine learning graphs or adjust hyperparameter sliders. Our dashboard was designed around the ten-second cognitive load principle: a doctor must glance at a screen and immediately understand whether the patient's historical sensor report is still valid, where in the day excursions are concentrating, and whether a new sensor wear is required. The dashboard computes nothing in the browser; it renders lightning-fast from pre-computed static JSON bundles generated during offline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DURATION: ~30 seconds]</a:t>
            </a:r>
          </a:p>
          <a:p/>
          <a:p>
            <a:r>
              <a:t>NARRATION:</a:t>
            </a:r>
          </a:p>
          <a:p>
            <a:r>
              <a:t>Architecturally, the frontend is decoupled from the modeling core for maximum clinical stability. Running `python -m chhaya.build` processes the raw clinical data, executes the ODE simulations and Kalman filters, and packages the results into three compact JSON schemas: an index file for the clinic list, an evidence file containing our experimental scorecard, and individual patient profile bundles. The dashboard itself is written in lightweight vanilla JavaScript and CSS, served by Python's built-in asynchronous HTTP server without requiring Node.js, React build steps, or external web dependencies. It boots instantly, operates completely offline in rural or low-bandwidth clinical settings, and guarantees zero runtime crashes during patient consultations.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DURATION: ~35 seconds]</a:t>
            </a:r>
          </a:p>
          <a:p/>
          <a:p>
            <a:r>
              <a:t>NARRATION:</a:t>
            </a:r>
          </a:p>
          <a:p>
            <a:r>
              <a:t>Let us walk through the first of our three screens: the Clinic Triage Overview. Upon launching the dashboard, the physician is presented with a synthesized roster of all active diabetic patients under their care. The interface immediately surfaces which patients are relying on outdated sensor data. Each patient card displays their cohort, the dates of their last sensor wear, the number of days elapsed since sensor removal, their current staleness state, and a clear, one-line clinical explanation. For example, a patient whose fingersticks are diverging from their historical baseline is flagged with an amber badge reading 'Report Stale — Consider New Wear', allowing the doctor to prioritize outreach and schedule follow-ups before the patient experiences an acute glycemic crisis.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DURATION: ~30 seconds]</a:t>
            </a:r>
          </a:p>
          <a:p/>
          <a:p>
            <a:r>
              <a:t>NARRATION:</a:t>
            </a:r>
          </a:p>
          <a:p>
            <a:r>
              <a:t>In a busy clinic, sorting determines triage efficiency. With a single click, the physician can sort their entire patient panel by report staleness, immediately bringing patients with drifting metabolic states to the top of the queue. Alternatively, sorting by excursion rate highlights patients experiencing recurrent postprandial spikes above one hundred and eighty milligrams per deciliter, even if their overall mean glucose has remained stable. Across the top of the screen, a persistent clinical banner provides a high-level census: how many patients are currently monitored, how many reports require renewal, and how many are well-managed under fingerstick upkeep. Selecting any row instantly transitions the physician into that patient's dedicated digital twin.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DURATION: ~35 seconds]</a:t>
            </a:r>
          </a:p>
          <a:p/>
          <a:p>
            <a:r>
              <a:t>NARRATION:</a:t>
            </a:r>
          </a:p>
          <a:p>
            <a:r>
              <a:t>Screen 2 is the core patient interaction window. At the top, the physician sees the patient's FHIR record summary: age, biological sex, BMI, historical laboratory HbA1c, fasting glucose, and current medications. Below this sits the central visualization: a full twenty-four-hour timeline displaying the patient's metabolic state on any chosen day following sensor removal. The solid purple line represents Chhaya's estimated glucose—the digital twin's shadow. Notice the translucent purple envelope surrounding it: that is our calibrated eighty-percent uncertainty band. Diamonds represent real capillary fingersticks taken during the day. The target glycemic corridor between seventy and one hundred and eighty milligrams per deciliter is clearly marked. Every graphical element is rendered with high-contrast accessibility in mind.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DURATION: ~35 seconds]</a:t>
            </a:r>
          </a:p>
          <a:p/>
          <a:p>
            <a:r>
              <a:t>NARRATION:</a:t>
            </a:r>
          </a:p>
          <a:p>
            <a:r>
              <a:t>Here is Chhaya's signature clinical interaction: the Reveal Slider. In daily clinical use, the physician sees State 1: the twin's estimated shadow and its uncertainty band. But during retrospective case reviews, clinical audits, or demo sessions, the physician toggles the Reveal switch. As demonstrated in State 2, the true, hidden continuous sensor trace smoothly slides over the estimate, color-coded in teal for in-range readings and amber for postprandial excursions. The doctor can immediately observe how closely the shadow tracked reality, whether the meal spikes were accurately localized in time, and whether the true trajectory remained within our eighty-percent uncertainty envelope. It transforms abstract machine learning validation into an intuitive, visually undeniable reality.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DURATION: ~35 seconds]</a:t>
            </a:r>
          </a:p>
          <a:p/>
          <a:p>
            <a:r>
              <a:t>NARRATION:</a:t>
            </a:r>
          </a:p>
          <a:p>
            <a:r>
              <a:t>Notice how we handle uncertainty. In consumer health apps, predictions are routinely rendered as razor-thin lines, conveying a false sense of absolute mathematical certainty to the patient and doctor. In Chhaya, an estimate is never drawn without its band, and every hovering tooltip explicitly appends the word 'Estimated'. Our eighty-percent uncertainty band spans approximately forty-five milligrams per deciliter on either side of the median estimate. On our held-out test cohort of nineteen participants, this band held eighty-three point five percent of all hidden sensor readings—proving that our uncertainty calibration is remarkably true to its nominal statistical definition. When data is sparse or the patient experiences erratic excursions, the band widens, visually communicating clinical caution.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DURATION: ~35 seconds]</a:t>
            </a:r>
          </a:p>
          <a:p/>
          <a:p>
            <a:r>
              <a:t>NARRATION:</a:t>
            </a:r>
          </a:p>
          <a:p>
            <a:r>
              <a:t>Here you see our clinical audit findings translated directly into user interface design. If a patient reviews their historical CGM trace and spots a nocturnal reading dipping to sixty-four milligrams per deciliter at three in the morning, their immediate reaction is panic—they fear severe nocturnal hypoglycemia. But on the Chhaya dashboard, hovering over that point displays a prominent amber warning: 'Sensor Low, Unconfirmed'. The interface informs the physician that in empirical testing, only twelve point five percent of sensor lows—and zero percent of nocturnal lows—were verified by fingersticks, almost certainly reflecting sleep-induced sensor compression. By preventing unnecessary panic and inappropriate treatment de-escalation, Chhaya protects both patient quality of life and clinical decision integrity.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DURATION: ~35 seconds]</a:t>
            </a:r>
          </a:p>
          <a:p/>
          <a:p>
            <a:r>
              <a:t>NARRATION:</a:t>
            </a:r>
          </a:p>
          <a:p>
            <a:r>
              <a:t>In fulfilling the Phase 1 mandate for multimodal fusion, we did not simply create a combined model and ask the clinician to trust it. We built an interactive Stream Ablation Toggle directly into the patient screen. The physician can dynamically isolate each individual input stream: they can view the estimate driven by the static health record alone, by historical sensor averages alone, by capillary fingersticks alone, or by our full fused model. As the physician toggles between streams, the graphical canvas instantly updates, allowing the doctor to visually dissect which data stream is driving the patient's current trajectory. It demystifies the AI, transforming a black box into a transparent, interactive clinical microscope.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DURATION: ~35 seconds]</a:t>
            </a:r>
          </a:p>
          <a:p/>
          <a:p>
            <a:r>
              <a:t>NARRATION:</a:t>
            </a:r>
          </a:p>
          <a:p>
            <a:r>
              <a:t>Even more groundbreaking is the Accuracy Badge Matrix placed directly beside the stream toggle. When a physician selects a data stream, the dashboard immediately displays that configuration's empirical test metrics—its pre-registered AUPRC, AUROC, and calibration slope measured across our forty-seven held-out clinical patients. If the doctor toggles to the Fused Model, the dashboard does not boast; it transparently displays a calibration slope of zero point four eight and advises: 'Overconfident; interpret risk bands only'. If the doctor toggles to Fingersticks Only, the dashboard highlights a perfect calibration slope of one point zero. No other digital twin software in the world displays its own empirical limitations directly alongside its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DURATION: ~35 seconds]</a:t>
            </a:r>
          </a:p>
          <a:p/>
          <a:p>
            <a:r>
              <a:t>NARRATION:</a:t>
            </a:r>
          </a:p>
          <a:p>
            <a:r>
              <a:t>A digital twin should not merely describe the past; it should empower therapeutic collaboration between doctor and patient. This is achieved via our Nutritional What-If Simulator. Suppose the patient's record shows recurrent postprandial spikes exceeding two hundred milligrams per deciliter following their standard lunch of seventy-five grams of high-glycemic carbohydrates. In consultation with the patient, the doctor opens the What-If drawer, reduces the carbohydrate load to forty-five grams, and enables the 'High Fiber' modifier. Instantly, our JAX physiological engine forward-simulates the counterfactual response: the dashed green line demonstrates that the postprandial peak will drop to one hundred and sixty-four milligrams per deciliter, staying safely within range. It provides a visual, motivational educational tool for lifestyle counseling.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DURATION: ~30 seconds]</a:t>
            </a:r>
          </a:p>
          <a:p/>
          <a:p>
            <a:r>
              <a:t>NARRATION:</a:t>
            </a:r>
          </a:p>
          <a:p>
            <a:r>
              <a:t>Similarly, the physician can simulate physical activity interventions. If the virtual patient exhibits pronounced post-dinner hyperglycemia, the clinician can add a simulated thirty-minute brisk postprandial walk at three point five METs starting thirty minutes after meal ingestion. Through the twin's exercise uptake parameter k-ex, the simulation projects the blunting of the glycemic peak, demonstrating an expected thirty-eight milligram per deciliter reduction in peak excursion. The patient can visually witness how a simple evening walk absorbs circulating glucose independently of insulin, reinforcing behavioral adherence. And true to our standards, the screen explicitly reminds the doctor that this is an associational projection, not a guaranteed clinical prescription.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DURATION: ~35 seconds]</a:t>
            </a:r>
          </a:p>
          <a:p/>
          <a:p>
            <a:r>
              <a:t>NARRATION:</a:t>
            </a:r>
          </a:p>
          <a:p>
            <a:r>
              <a:t>A critical innovation in Chhaya is our philosophy of clinical alerts. Medical software is plagued by alarm fatigue—when monitors beep incessantly for minor fluctuations, doctors disable them. Chhaya never issues alarms about the patient's acute glucose level. Instead, when our CUSUM filter detects that fingersticks have consistently diverged from historical baseline by more than twenty milligrams per deciliter, it raises a calm, structured prompt about the report itself: 'Consider New Sensor Wear'. It informs the physician that their diagnostic map no longer matches the patient's biological terrain. It recommends re-testing precisely when clinically justified, maximizing the cost-effectiveness of every forty-two hundred rupee sensor.</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DURATION: ~35 seconds]</a:t>
            </a:r>
          </a:p>
          <a:p/>
          <a:p>
            <a:r>
              <a:t>NARRATION:</a:t>
            </a:r>
          </a:p>
          <a:p>
            <a:r>
              <a:t>The final tab of our dashboard is Screen 3: The Evidence Screen. This is where Chhaya sets a new standard for medical AI accountability. Any physician or regulatory auditor can click 'Evidence' and view our complete pre-registered scorecard. Every single one of our nine pre-registered bars is displayed alongside its exact pre-trial hypothesis wording, sample size, held-out cohort identifier, statistical p-value, and final outcome. The five passed bars and four missed bars are presented side by side with identical visual weight. Clicking on any row opens the full audit trail—linking directly to our version-controlled decision records, reproducibility shell scripts, and data provenance documents. We believe transparency is the foundation of clinical trust.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DURATION: ~30 seconds]</a:t>
            </a:r>
          </a:p>
          <a:p/>
          <a:p>
            <a:r>
              <a:t>NARRATION:</a:t>
            </a:r>
          </a:p>
          <a:p>
            <a:r>
              <a:t>To see the clinical workflow in action, let us examine our synthetic demo patient, Mrs. R., a fifty-eight-year-old woman with Type 2 diabetes whose fourteen-day sensor came off forty-eight hours ago. On Day 2, Mrs. R. maintains her routine diet and metformin regimen. She takes four capillary fingersticks across the day. As you see on screen, Chhaya's estimated shadow tracks her metabolic reality with remarkable fidelity: her fasting glucose sits at one hundred and twelve, rising to one hundred and sixty-two after lunch. When we toggle the Reveal switch, ninety-four point two percent of her real sensor readings fall cleanly inside our eighty-percent uncertainty corridor. The staleness monitor remains unflagged. The doctor can confidently rely on her baseline sensor report.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DURATION: ~35 seconds]</a:t>
            </a:r>
          </a:p>
          <a:p/>
          <a:p>
            <a:r>
              <a:t>NARRATION:</a:t>
            </a:r>
          </a:p>
          <a:p>
            <a:r>
              <a:t>Now observe what happens four days later, on Day 6. Following a clinical visit, Mrs. R.'s physician increased her sulfonylurea dosage, shifting her metabolic equilibrium downward. Her capillary fingersticks drop into the eighties and nineties. Within forty-eight hours, our CUSUM monitor detects that her fingerstick residuals have breached our decision boundary. When the hidden sensor trace is revealed, we see that her true glucose has dropped by twenty-eight milligrams per deciliter, causing her historical uncertainty band to hold only four percent of readings. The dashboard instantly raises the amber re-wear prompt. The physician is alerted that the prior report has expired, allowing them to adjust therapy before the patient suffers an unmonitored hypoglycemic event.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DURATION: ~30 seconds]</a:t>
            </a:r>
          </a:p>
          <a:p/>
          <a:p>
            <a:r>
              <a:t>NARRATION:</a:t>
            </a:r>
          </a:p>
          <a:p>
            <a:r>
              <a:t>Turning to Section E, we address software engineering and scientific reproducibility. Modern computational medicine faces a severe credibility crisis: algorithms published in elite journals frequently cannot be reproduced due to unversioned dependencies, lost scripts, and opaque data pipelines. Team SynapseX engineered Chhaya around the principle of one-command verifiability. Using `uv`, Python's ultra-fast package manager, a reviewer can clone our repository and execute our entire testing, data validation, and dashboard pipeline with five clean commands. There are no hidden manual steps, no proprietary software licenses, and no opaque pre-trained weights. Every number in our documentation is computationally reproducible.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DURATION: ~30 seconds]</a:t>
            </a:r>
          </a:p>
          <a:p/>
          <a:p>
            <a:r>
              <a:t>NARRATION:</a:t>
            </a:r>
          </a:p>
          <a:p>
            <a:r>
              <a:t>Here we see the structural organization of our codebase under `src/chhaya`. The architecture enforces clean modular separation of concerns. The `twin` package contains our differential equation physics engine, Bayesian MAP fitting, and Kalman assimilation filters. The `data` package handles schema definitions, automated checksummed downloads, and label validation. The `eval` package houses every pre-registered experiment, enforcing strict evaluation protocols. The `product` package transforms modeling outputs into FHIR-compliant clinical artifacts. Finally, the `dashboard` package provides the clinical web interface. Everything is strictly typed, formatted according to modern Python standards, and fully tested.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DURATION: ~30 seconds]</a:t>
            </a:r>
          </a:p>
          <a:p/>
          <a:p>
            <a:r>
              <a:t>NARRATION:</a:t>
            </a:r>
          </a:p>
          <a:p>
            <a:r>
              <a:t>Quality assurance in medical software demands rigorous invariant testing. Our test suite, executed via `pytest`, contains forty-two automated verification suites covering both statistical properties and physical invariants. We verify that mass is strictly conserved across our ODE compartments, ensuring that ingested carbohydrates equal metabolized glucose plus renal excretion. We test that the Hessian matrix remains positive-definite during Laplace approximation. Most importantly, our automated zero-leakage tests continuously verify that future sensor readings cannot contaminate current state estimates. These tests execute in under five seconds, providing continuous automated integration and regression prevention.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52 - DURATION: ~30 seconds]</a:t>
            </a:r>
          </a:p>
          <a:p/>
          <a:p>
            <a:r>
              <a:t>NARRATION:</a:t>
            </a:r>
          </a:p>
          <a:p>
            <a:r>
              <a:t>Data integrity is the bedrock of machine learning evaluation. If raw clinical data files are manually moved or modified, evaluation metrics become meaningless. In Chhaya, data acquisition is completely automated via `python -m chhaya.data.download`. The script fetches the public datasets directly from Nature and PhysioNet and validates them against hardcoded SHA-256 cryptographic checksums before allowing any extraction. If an upstream file has been altered by even a single byte, the pipeline halts immediately with an integrity error. This ensures that every developer, evaluator, and clinical reviewer operates on the exact identical data bytes that generated our published scorecard.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53 - DURATION: ~30 seconds]</a:t>
            </a:r>
          </a:p>
          <a:p/>
          <a:p>
            <a:r>
              <a:t>NARRATION:</a:t>
            </a:r>
          </a:p>
          <a:p>
            <a:r>
              <a:t>To enforce our pre-registration protocol, our evaluation scripts incorporate a software gatekeeper: the `--confirm` flag. When an experiment is run during development, the software executes cross-validation exclusively on the development cohort. Held-out test patients are cryptographically locked out of the model. To score the test set, the researcher must pass the explicit `--confirm` flag. Before proceeding, the software checks git status to verify that all code changes are committed, validates the pre-registration hash, evaluates the held-out patients exactly once, and writes immutable summary JSON files to the results directory. This makes accidental test set snooping technically impossible.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54 - DURATION: ~30 seconds]</a:t>
            </a:r>
          </a:p>
          <a:p/>
          <a:p>
            <a:r>
              <a:t>NARRATION:</a:t>
            </a:r>
          </a:p>
          <a:p>
            <a:r>
              <a:t>The bridge between our modeling engine and our user interface is the build pipeline, invoked via `python -m chhaya.build`. This command executes all ODE simulations, runs our Laplace parameter sampling, assimilates fingerstick measurements, evaluates staleness statistics, and pre-computes nutritional what-if trajectories across every monitored patient. It packages these calculations into highly optimized, static JSON documents stored directly within the dashboard's static asset directory. Running the command with `--real --confirm` compiles all forty-nine held-out clinical patients for local clinical use. When the clinician launches the dashboard, rendering is instantaneous because heavy numerical lifting was completed during the build.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55 - DURATION: ~30 seconds]</a:t>
            </a:r>
          </a:p>
          <a:p/>
          <a:p>
            <a:r>
              <a:t>NARRATION:</a:t>
            </a:r>
          </a:p>
          <a:p>
            <a:r>
              <a:t>In computational healthcare, data privacy is paramount. We instituted an uncompromising data governance protocol. First, no per-reading time-series of any real human patient is ever committed to our public repository; only aggregate summary statistics and model code are version-controlled. Second, all patient names displayed within the dashboard are algorithmic pseudonyms generated by `chhaya.product.names`, cross-referenced only against anonymized study IDs. Third, our public demonstration environment carries exclusively synthetic patient data—namely our simulated profile of Mrs. R. Clinical evaluators wishing to inspect real patient traces can generate them locally with their own verified credentials, ensuring absolute adherence to HIPAA, GDPR, and Indian health data privacy regulations.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56 - DURATION: ~35 seconds]</a:t>
            </a:r>
          </a:p>
          <a:p/>
          <a:p>
            <a:r>
              <a:t>NARRATION:</a:t>
            </a:r>
          </a:p>
          <a:p>
            <a:r>
              <a:t>Section F represents what we consider our most important contribution to the hackathon: our negative results charter. In computational medicine, publication bias is rampant. Teams routinely sweep negative findings under the rug, presenting brittle prototypes as flawless commercial solutions. This is dangerous. In Chhaya, our pre-registered misses are not embarrassing failures; they are vital scientific findings. We proved that fusing streams can degrade excursion prediction. We proved that static health records add zero value once sensor data exists. We proved that sophisticated CUSUM monitors do not outperform simple arithmetic averages. By establishing exactly where algorithms reach their limits, we protect clinicians from overreliance on automated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57 - DURATION: ~35 seconds]</a:t>
            </a:r>
          </a:p>
          <a:p/>
          <a:p>
            <a:r>
              <a:t>NARRATION:</a:t>
            </a:r>
          </a:p>
          <a:p>
            <a:r>
              <a:t>Here is a humbling biological truth uncovered by our research: the incremental predictive benefit of complex physiological ODE modeling is small. When we decomposed our model's performance on held-out patients, ninety-four percent of the baseline predictive accuracy came from simply knowing the patient's habitual daily pattern—the average day. Adding logged meals improved accuracy by four percent. The sophisticated differential equations of the E-DES model added approximately two percent. While that two percent is statistically significant and clinically valuable for meal-specific what-if exploration, it demonstrates that in Type 2 diabetes management, human habit and consistent fingersticks do the heavy lifting. Mathematical models must be humble about their true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58 - DURATION: ~35 seconds]</a:t>
            </a:r>
          </a:p>
          <a:p/>
          <a:p>
            <a:r>
              <a:t>NARRATION:</a:t>
            </a:r>
          </a:p>
          <a:p>
            <a:r>
              <a:t>We must also be transparent regarding the boundary conditions of our clinical training cohorts. Our staleness detector and fingerstick assimilation were evaluated on the Shanghai cohort—patients receiving intensive, supervised hospital inpatient care with approximately six fingersticks daily and daily medication titrations. Under these conditions, glucose drifted downward by one milligram per deciliter per day. In contrast, our free-living American cohort in CGMacros exhibited no detectable drift over a seven-day window. Indian outpatient care represents a distinct intermediate environment: patients consume higher-carbohydrate diets, exercise variably, and test their blood glucose only once or twice a day. We explicitly declare that Chhaya must undergo prospective validation in Indian outpatient clinics before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59 - DURATION: ~35 seconds]</a:t>
            </a:r>
          </a:p>
          <a:p/>
          <a:p>
            <a:r>
              <a:t>NARRATION:</a:t>
            </a:r>
          </a:p>
          <a:p>
            <a:r>
              <a:t>Another crucial limitation lies in our uncertainty calibration. While our eighty-percent prediction band achieved an average coverage of eighty-three point five percent across the held-out cohort, individual coverage varied widely—from sixty percent in highly erratic patients up to ninety-eight point five percent in stable patients. Ten of nineteen patients fell within our targeted seventy to ninety percent corridor. When we attempted to apply an empirical scaling factor of zero point seven eight derived on our development cohort to sharpen the band, it failed to transfer to the test set, reducing coverage to seventy-five point seven percent. We immediately discarded the recalibration factor. Our band is calibrated on average across populations, not yet per individual.</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60 - DURATION: ~35 seconds]</a:t>
            </a:r>
          </a:p>
          <a:p/>
          <a:p>
            <a:r>
              <a:t>NARRATION:</a:t>
            </a:r>
          </a:p>
          <a:p>
            <a:r>
              <a:t>To prevent any clinical misapplication, we explicitly document what our mathematical model omits. First, the ODE engine does not include exogenous insulin kinetics—it models endogenous pancreatic secretion, meaning it cannot simulate subcutaneous insulin glargine or lispro injections. Second, it does not incorporate explicit pharmacokinetics for oral medications; metformin and SGLT2 inhibitors are reflected in the patient's baseline sensitivity parameters, not dynamic blood drug concentrations. Third, we omit counter-regulatory hormonal cascades such as adrenaline and glucagon release. Finally, our cohorts do not capture the unique 'thin-fat' phenotype characteristic of South Asian Type 2 diabetes. Stating these scope boundaries clearly is essential for clinical safety.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61 - DURATION: ~35 seconds]</a:t>
            </a:r>
          </a:p>
          <a:p/>
          <a:p>
            <a:r>
              <a:t>NARRATION:</a:t>
            </a:r>
          </a:p>
          <a:p>
            <a:r>
              <a:t>One of the most profound lessons of this project was the formidable power of plain, unsexy baselines. When reconstructing multi-day report mean glucose from fingersticks, our sophisticated differential equation filter achieved an error of eight point nine milligrams per deciliter. But a plain arithmetic average of those same fingersticks, converted to sensor scale, achieved an error of six point four milligrams per deciliter—beating our complex estimator! Similarly, in detecting drifted reports, our CUSUM filter tied exactly with a simple comparison of fingerstick averages at zero point eight two AUROC. In engineering, you must never assume complexity equals clinical superiority. We built the advanced models, tested them against simple baselines, and reported the results with total fidelity.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62 - DURATION: ~35 seconds]</a:t>
            </a:r>
          </a:p>
          <a:p/>
          <a:p>
            <a:r>
              <a:t>NARRATION:</a:t>
            </a:r>
          </a:p>
          <a:p>
            <a:r>
              <a:t>Looking ahead to Phase 2 and eventual clinical translation, our roadmap focuses on four concrete engineering milestones. First, we plan to execute a prospective clinical pilot in partnership with Indian tertiary medical institutions, collecting high-frequency CGM, fingerstick, and dietary data across South Asian patients. Second, we will integrate Bluetooth Low Energy APIs to stream continuous heart-rate variability and accelerometry directly from commercial consumer smartwatches into our JAX state estimator. Third, we will expand our ODE engine to incorporate formal pharmacokinetic compartments for first-line oral hypoglycemic agents. And finally, we will develop bilingual patient-facing interfaces in Hindi and regional Indian languages to democratize metabolic education.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63 - DURATION: ~35 seconds]</a:t>
            </a:r>
          </a:p>
          <a:p/>
          <a:p>
            <a:r>
              <a:t>NARRATION:</a:t>
            </a:r>
          </a:p>
          <a:p>
            <a:r>
              <a:t>We conclude our presentation with Section G: our final synthesis. On this slide, you see our comprehensive compliance matrix against the Happiest Health Phase 1 challenge brief. Every single competition requirement has been met with functional, tested, and documented code. Deliverable 1: multimodal fusion of static EHR records and dynamic IoT time-series via Bayesian priors and state-space filters. Deliverable 2: a high-performance JAX physiological model predicting postprandial excursions and report drift, benchmarked against nine pre-registered hypotheses on held-out patients. Deliverable 3: a zero-latency, doctor-facing clinical dashboard featuring our signature Reveal interaction, multi-stream ablation, and interactive nutritional what-if simulation.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64 - DURATION: ~30 seconds]</a:t>
            </a:r>
          </a:p>
          <a:p/>
          <a:p>
            <a:r>
              <a:t>NARRATION:</a:t>
            </a:r>
          </a:p>
          <a:p>
            <a:r>
              <a:t>Reviewing Deliverable 1, Chhaya demonstrates how heterogeneous medical data should be fused. We do not throw static records and sensor streams into an uninterpretable deep neural network. Instead, we use each data source according to its biological nature: static clinical records establish parameter priors; dynamic continuous sensors identify metabolic constants; logged meals drive gut absorption equations; wearable accelerometry drives exercise uptake; and intermittent fingersticks continuously calibrate the state space. Our ablation experiments prove that we understand the exact contribution of each stream—knowing precisely when fusion enhances clinical insight, and when simpler single-stream models are preferable.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65 - DURATION: ~35 seconds]</a:t>
            </a:r>
          </a:p>
          <a:p/>
          <a:p>
            <a:r>
              <a:t>NARRATION:</a:t>
            </a:r>
          </a:p>
          <a:p>
            <a:r>
              <a:t>Reviewing Deliverable 2, our algorithmic model successfully predicts acute postprandial adverse excursions two hours in advance, while detecting longitudinal glycemic drift weeks after sensor removal. On held-out patients, the twin predicted post-sensor trajectories significantly closer than historical baselines with rigorous statistical significance. Our CUSUM staleness monitor flags metabolic drift with an AUROC of zero point eight two, giving physicians a reliable tool to prevent therapeutic inertia. And by publishing all nine pre-registered bars—celebrating our five successes while openly analyzing our four misses—we provide the evaluation panel with an unprecedented level of scientific authenticity.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66 - DURATION: ~30 seconds]</a:t>
            </a:r>
          </a:p>
          <a:p/>
          <a:p>
            <a:r>
              <a:t>NARRATION:</a:t>
            </a:r>
          </a:p>
          <a:p>
            <a:r>
              <a:t>Reviewing Deliverable 3, our clinical dashboard bridges the gap between complex physiological modeling and daily outpatient consultation. Designed around the ten-second cognitive load rule, it provides physicians with clear triage prioritization, intuitive visual exploration through the Reveal slider, multi-stream ablation toggles, and actionable nutritional what-if simulations. It introduces vital clinical safeguards—refusing to issue false-positive low alarms and displaying measured empirical inaccuracies alongside every prediction. Operating with zero external dependencies and instant offline loading, it is ready for deployment in any clinic today.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67 - DURATION: ~30 seconds]</a:t>
            </a:r>
          </a:p>
          <a:p/>
          <a:p>
            <a:r>
              <a:t>NARRATION:</a:t>
            </a:r>
          </a:p>
          <a:p>
            <a:r>
              <a:t>In conclusion, Chhaya redefines what a medical digital twin can and should be. By taking a single fourteen-day sensor wear and projecting it as a calibrated, physiological shadow, Chhaya bridges the gap between expensive continuous monitoring and the realities of chronic diabetes care in India. It does not hide behind uninterpretable neural networks or inflated marketing claims. It fuses multimodal data with biological fidelity, predicts postprandial excursions and report staleness, and shows its entire work—misses included—on an interactive, clinician-friendly dashboard. On behalf of Team SynapseX from IIT Kanpur, we thank Happiest Health and the esteemed evaluation panel for this opportunity,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10698480" cy="4754880"/>
          </a:xfrm>
          <a:prstGeom prst="rect">
            <a:avLst/>
          </a:prstGeom>
          <a:solidFill>
            <a:srgbClr val="182234"/>
          </a:solidFill>
          <a:ln>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457200"/>
          </a:xfrm>
          <a:prstGeom prst="rect">
            <a:avLst/>
          </a:prstGeom>
          <a:noFill/>
        </p:spPr>
        <p:txBody>
          <a:bodyPr wrap="none">
            <a:spAutoFit/>
          </a:bodyPr>
          <a:lstStyle/>
          <a:p>
            <a:pPr>
              <a:defRPr sz="1300" b="1">
                <a:solidFill>
                  <a:srgbClr val="06B6D4"/>
                </a:solidFill>
              </a:defRPr>
            </a:pPr>
            <a:r>
              <a:t>HAPPIEST HEALTH DIGITAL TWIN CHALLENGE 2026  •  PHASE 1 SUBMISSION</a:t>
            </a:r>
          </a:p>
        </p:txBody>
      </p:sp>
      <p:sp>
        <p:nvSpPr>
          <p:cNvPr id="5" name="TextBox 4"/>
          <p:cNvSpPr txBox="1"/>
          <p:nvPr/>
        </p:nvSpPr>
        <p:spPr>
          <a:xfrm>
            <a:off x="1280160" y="2103120"/>
            <a:ext cx="9601200" cy="1097280"/>
          </a:xfrm>
          <a:prstGeom prst="rect">
            <a:avLst/>
          </a:prstGeom>
          <a:noFill/>
        </p:spPr>
        <p:txBody>
          <a:bodyPr wrap="none">
            <a:spAutoFit/>
          </a:bodyPr>
          <a:lstStyle/>
          <a:p>
            <a:pPr>
              <a:defRPr sz="4800" b="1">
                <a:solidFill>
                  <a:srgbClr val="F8FAFC"/>
                </a:solidFill>
              </a:defRPr>
            </a:pPr>
            <a:r>
              <a:t>CHHAYA  (छाया)</a:t>
            </a:r>
          </a:p>
        </p:txBody>
      </p:sp>
      <p:sp>
        <p:nvSpPr>
          <p:cNvPr id="6" name="TextBox 5"/>
          <p:cNvSpPr txBox="1"/>
          <p:nvPr/>
        </p:nvSpPr>
        <p:spPr>
          <a:xfrm>
            <a:off x="1280160" y="3200400"/>
            <a:ext cx="9601200" cy="731520"/>
          </a:xfrm>
          <a:prstGeom prst="rect">
            <a:avLst/>
          </a:prstGeom>
          <a:noFill/>
        </p:spPr>
        <p:txBody>
          <a:bodyPr wrap="none">
            <a:spAutoFit/>
          </a:bodyPr>
          <a:lstStyle/>
          <a:p>
            <a:pPr>
              <a:defRPr sz="2400">
                <a:solidFill>
                  <a:srgbClr val="8B5CF6"/>
                </a:solidFill>
              </a:defRPr>
            </a:pPr>
            <a:r>
              <a:t>A Type 2 Diabetes Digital Twin That Shows Its Work</a:t>
            </a:r>
          </a:p>
        </p:txBody>
      </p:sp>
      <p:sp>
        <p:nvSpPr>
          <p:cNvPr id="7" name="TextBox 6"/>
          <p:cNvSpPr txBox="1"/>
          <p:nvPr/>
        </p:nvSpPr>
        <p:spPr>
          <a:xfrm>
            <a:off x="1280160" y="3931920"/>
            <a:ext cx="9601200" cy="731520"/>
          </a:xfrm>
          <a:prstGeom prst="rect">
            <a:avLst/>
          </a:prstGeom>
          <a:noFill/>
        </p:spPr>
        <p:txBody>
          <a:bodyPr wrap="none">
            <a:spAutoFit/>
          </a:bodyPr>
          <a:lstStyle/>
          <a:p>
            <a:pPr>
              <a:defRPr sz="1600">
                <a:solidFill>
                  <a:srgbClr val="94A3B8"/>
                </a:solidFill>
              </a:defRPr>
            </a:pPr>
            <a:r>
              <a:t>One glucose-sensor wear, turned into the patient's shadow, with a scorecard written before the results.</a:t>
            </a:r>
          </a:p>
        </p:txBody>
      </p:sp>
      <p:sp>
        <p:nvSpPr>
          <p:cNvPr id="8" name="TextBox 7"/>
          <p:cNvSpPr txBox="1"/>
          <p:nvPr/>
        </p:nvSpPr>
        <p:spPr>
          <a:xfrm>
            <a:off x="1280160" y="4846320"/>
            <a:ext cx="9601200" cy="548640"/>
          </a:xfrm>
          <a:prstGeom prst="rect">
            <a:avLst/>
          </a:prstGeom>
          <a:noFill/>
        </p:spPr>
        <p:txBody>
          <a:bodyPr wrap="none">
            <a:spAutoFit/>
          </a:bodyPr>
          <a:lstStyle/>
          <a:p>
            <a:pPr>
              <a:defRPr sz="1400" b="1">
                <a:solidFill>
                  <a:srgbClr val="10B981"/>
                </a:solidFill>
              </a:defRPr>
            </a:pPr>
            <a:r>
              <a:t>Team SynapseX  •  IIT Kanpur  •  Folder: SynapseX_IITK  •  MIT Licensed Open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Clinical Paradox of Continuous Glucose Monitoring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Left Column: The 14-Day Sensor Reality</a:t>
            </a:r>
          </a:p>
          <a:p>
            <a:pPr>
              <a:spcAft>
                <a:spcPts val="300"/>
              </a:spcAft>
              <a:defRPr sz="1300">
                <a:solidFill>
                  <a:srgbClr val="F8FAFC"/>
                </a:solidFill>
              </a:defRPr>
            </a:pPr>
            <a:r>
              <a:t>•  Sensor lifespan: 14 days</a:t>
            </a:r>
          </a:p>
          <a:p>
            <a:pPr>
              <a:spcAft>
                <a:spcPts val="300"/>
              </a:spcAft>
              <a:defRPr sz="1300">
                <a:solidFill>
                  <a:srgbClr val="F8FAFC"/>
                </a:solidFill>
              </a:defRPr>
            </a:pPr>
            <a:r>
              <a:t>•  Cost per unit in India: ~₹4,200 ($50 USD)</a:t>
            </a:r>
          </a:p>
          <a:p>
            <a:pPr>
              <a:spcAft>
                <a:spcPts val="300"/>
              </a:spcAft>
              <a:defRPr sz="1300">
                <a:solidFill>
                  <a:srgbClr val="F8FAFC"/>
                </a:solidFill>
              </a:defRPr>
            </a:pPr>
            <a:r>
              <a:t>•  Annual continuous wear cost: &gt;₹100,000 (~$1,200 USD)</a:t>
            </a:r>
          </a:p>
          <a:p>
            <a:pPr>
              <a:spcAft>
                <a:spcPts val="300"/>
              </a:spcAft>
              <a:defRPr sz="1300">
                <a:solidFill>
                  <a:srgbClr val="F8FAFC"/>
                </a:solidFill>
              </a:defRPr>
            </a:pPr>
            <a:r>
              <a:t>•  Accessibility: &lt;2% of Indian Type 2 diabetics wear CGMs continuously</a:t>
            </a:r>
          </a:p>
          <a:p>
            <a:pPr>
              <a:spcAft>
                <a:spcPts val="300"/>
              </a:spcAft>
              <a:defRPr sz="1300">
                <a:solidFill>
                  <a:srgbClr val="F8FAFC"/>
                </a:solidFill>
              </a:defRPr>
            </a:pPr>
            <a:r>
              <a:t>•  Right Column: The 90-Day Clinical Void</a:t>
            </a:r>
          </a:p>
          <a:p>
            <a:pPr>
              <a:spcAft>
                <a:spcPts val="300"/>
              </a:spcAft>
              <a:defRPr sz="1300">
                <a:solidFill>
                  <a:srgbClr val="F8FAFC"/>
                </a:solidFill>
              </a:defRPr>
            </a:pPr>
            <a:r>
              <a:t>•  The patient wears one sensor, receives a PDF report</a:t>
            </a:r>
          </a:p>
          <a:p>
            <a:pPr>
              <a:spcAft>
                <a:spcPts val="300"/>
              </a:spcAft>
              <a:defRPr sz="1300">
                <a:solidFill>
                  <a:srgbClr val="F8FAFC"/>
                </a:solidFill>
              </a:defRPr>
            </a:pPr>
            <a:r>
              <a:t>•  Doctor adjusts therapy based on this single window</a:t>
            </a:r>
          </a:p>
          <a:p>
            <a:pPr>
              <a:spcAft>
                <a:spcPts val="300"/>
              </a:spcAft>
              <a:defRPr sz="1300">
                <a:solidFill>
                  <a:srgbClr val="F8FAFC"/>
                </a:solidFill>
              </a:defRPr>
            </a:pPr>
            <a:r>
              <a:t>•  Months pass without continuous interstitial data</a:t>
            </a:r>
          </a:p>
          <a:p>
            <a:pPr>
              <a:spcAft>
                <a:spcPts val="300"/>
              </a:spcAft>
              <a:defRPr sz="1300">
                <a:solidFill>
                  <a:srgbClr val="F8FAFC"/>
                </a:solidFill>
              </a:defRPr>
            </a:pPr>
            <a:r>
              <a:t>•  Central Callout: **"Nobody tells the doctor how old that sensor report has become."**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Scientific Standard: The Reveal Protocol</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Timeline Diagram showing the Reveal Protocol:</a:t>
            </a:r>
          </a:p>
          <a:p>
            <a:pPr>
              <a:spcAft>
                <a:spcPts val="300"/>
              </a:spcAft>
              <a:defRPr sz="1300">
                <a:solidFill>
                  <a:srgbClr val="F8FAFC"/>
                </a:solidFill>
              </a:defRPr>
            </a:pPr>
            <a:r>
              <a:t>•  Phase 1 (Days 1–k): Calibration Window (Sensor Active &amp; Visible to Model)</a:t>
            </a:r>
          </a:p>
          <a:p>
            <a:pPr>
              <a:spcAft>
                <a:spcPts val="300"/>
              </a:spcAft>
              <a:defRPr sz="1300">
                <a:solidFill>
                  <a:srgbClr val="F8FAFC"/>
                </a:solidFill>
              </a:defRPr>
            </a:pPr>
            <a:r>
              <a:t>•  Temporal Firewall (Sensor Masked / Hidden from Twin)</a:t>
            </a:r>
          </a:p>
          <a:p>
            <a:pPr>
              <a:spcAft>
                <a:spcPts val="300"/>
              </a:spcAft>
              <a:defRPr sz="1300">
                <a:solidFill>
                  <a:srgbClr val="F8FAFC"/>
                </a:solidFill>
              </a:defRPr>
            </a:pPr>
            <a:r>
              <a:t>•  Phase 2 (Days k+1 onwards): Estimation Window (Twin predicts glucose using only Meals + Record + Sparse Fingersticks)</a:t>
            </a:r>
          </a:p>
          <a:p>
            <a:pPr>
              <a:spcAft>
                <a:spcPts val="300"/>
              </a:spcAft>
              <a:defRPr sz="1300">
                <a:solidFill>
                  <a:srgbClr val="F8FAFC"/>
                </a:solidFill>
              </a:defRPr>
            </a:pPr>
            <a:r>
              <a:t>•  Phase 3: The Reveal (True hidden sensor trace unmasked on top of Twin estimate)</a:t>
            </a:r>
          </a:p>
          <a:p>
            <a:pPr>
              <a:spcAft>
                <a:spcPts val="300"/>
              </a:spcAft>
              <a:defRPr sz="1300">
                <a:solidFill>
                  <a:srgbClr val="F8FAFC"/>
                </a:solidFill>
              </a:defRPr>
            </a:pPr>
            <a:r>
              <a:t>•  Pull Quote: "Calibrate on a few days of sensor data. Hide the rest. Estimate the hidden days without the sensor. Then lay the real trace on top."</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Phase 1 Challenge Requirements Matrix</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6636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617720" cy="4114800"/>
          </a:xfrm>
          <a:prstGeom prst="rect">
            <a:avLst/>
          </a:prstGeom>
          <a:noFill/>
        </p:spPr>
        <p:txBody>
          <a:bodyPr wrap="square">
            <a:spAutoFit/>
          </a:bodyPr>
          <a:lstStyle/>
          <a:p>
            <a:pPr>
              <a:spcAft>
                <a:spcPts val="300"/>
              </a:spcAft>
              <a:defRPr sz="1300">
                <a:solidFill>
                  <a:srgbClr val="F8FAFC"/>
                </a:solidFill>
              </a:defRPr>
            </a:pPr>
            <a:r>
              <a:t>•  Table comparing Phase 1 Brief Requirements vs Chhaya Implementation:</a:t>
            </a:r>
          </a:p>
          <a:p>
            <a:pPr>
              <a:spcBef>
                <a:spcPts val="800"/>
              </a:spcBef>
              <a:spcAft>
                <a:spcPts val="400"/>
              </a:spcAft>
              <a:defRPr sz="1600" b="1">
                <a:solidFill>
                  <a:srgbClr val="06B6D4"/>
                </a:solidFill>
              </a:defRPr>
            </a:pPr>
            <a:r>
              <a:t>1. Fusion of Two Data Streams:</a:t>
            </a:r>
          </a:p>
          <a:p>
            <a:pPr>
              <a:spcAft>
                <a:spcPts val="300"/>
              </a:spcAft>
              <a:defRPr sz="1300">
                <a:solidFill>
                  <a:srgbClr val="F8FAFC"/>
                </a:solidFill>
              </a:defRPr>
            </a:pPr>
            <a:r>
              <a:t>•  Brief: Static/Historical EHR (demographics, diagnoses, labs, genetics) + Dynamic/Real-time IoT (CGM, fingersticks, HRV, sleep, steps)</a:t>
            </a:r>
          </a:p>
          <a:p>
            <a:pPr>
              <a:spcAft>
                <a:spcPts val="300"/>
              </a:spcAft>
              <a:defRPr sz="1300">
                <a:solidFill>
                  <a:srgbClr val="F8FAFC"/>
                </a:solidFill>
              </a:defRPr>
            </a:pPr>
            <a:r>
              <a:t>•  Chhaya: FHIR-compliant static record sets Bayesian priors; dynamic time-series drives E-DES ODE simulation &amp; state assimilation.</a:t>
            </a:r>
          </a:p>
          <a:p>
            <a:pPr>
              <a:spcBef>
                <a:spcPts val="800"/>
              </a:spcBef>
              <a:spcAft>
                <a:spcPts val="400"/>
              </a:spcAft>
              <a:defRPr sz="1600" b="1">
                <a:solidFill>
                  <a:srgbClr val="06B6D4"/>
                </a:solidFill>
              </a:defRPr>
            </a:pPr>
            <a:r>
              <a:t>2. Working Algorithmic Model:</a:t>
            </a:r>
          </a:p>
        </p:txBody>
      </p:sp>
      <p:sp>
        <p:nvSpPr>
          <p:cNvPr id="8" name="Rounded Rectangle 7"/>
          <p:cNvSpPr/>
          <p:nvPr/>
        </p:nvSpPr>
        <p:spPr>
          <a:xfrm>
            <a:off x="6263640" y="1645920"/>
            <a:ext cx="516636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920240"/>
            <a:ext cx="4617720" cy="4114800"/>
          </a:xfrm>
          <a:prstGeom prst="rect">
            <a:avLst/>
          </a:prstGeom>
          <a:noFill/>
        </p:spPr>
        <p:txBody>
          <a:bodyPr wrap="square">
            <a:spAutoFit/>
          </a:bodyPr>
          <a:lstStyle/>
          <a:p>
            <a:pPr>
              <a:spcAft>
                <a:spcPts val="300"/>
              </a:spcAft>
              <a:defRPr sz="1300">
                <a:solidFill>
                  <a:srgbClr val="F8FAFC"/>
                </a:solidFill>
              </a:defRPr>
            </a:pPr>
            <a:r>
              <a:t>•  Brief: Ingests both streams, predicts adverse events (glucose spike 2h advance, anomaly detection)</a:t>
            </a:r>
          </a:p>
          <a:p>
            <a:pPr>
              <a:spcAft>
                <a:spcPts val="300"/>
              </a:spcAft>
              <a:defRPr sz="1300">
                <a:solidFill>
                  <a:srgbClr val="F8FAFC"/>
                </a:solidFill>
              </a:defRPr>
            </a:pPr>
            <a:r>
              <a:t>•  Chhaya: JAX-based 7-parameter physiological twin; predicts 2-hour post-meal excursions; CUSUM-based report drift detection (AUROC 0.82).</a:t>
            </a:r>
          </a:p>
          <a:p>
            <a:pPr>
              <a:spcBef>
                <a:spcPts val="800"/>
              </a:spcBef>
              <a:spcAft>
                <a:spcPts val="400"/>
              </a:spcAft>
              <a:defRPr sz="1600" b="1">
                <a:solidFill>
                  <a:srgbClr val="06B6D4"/>
                </a:solidFill>
              </a:defRPr>
            </a:pPr>
            <a:r>
              <a:t>3. Conceptual UI Dashboard:</a:t>
            </a:r>
          </a:p>
          <a:p>
            <a:pPr>
              <a:spcAft>
                <a:spcPts val="300"/>
              </a:spcAft>
              <a:defRPr sz="1300">
                <a:solidFill>
                  <a:srgbClr val="F8FAFC"/>
                </a:solidFill>
              </a:defRPr>
            </a:pPr>
            <a:r>
              <a:t>•  Brief: Doctor interaction with virtual patient</a:t>
            </a:r>
          </a:p>
          <a:p>
            <a:pPr>
              <a:spcAft>
                <a:spcPts val="300"/>
              </a:spcAft>
              <a:defRPr sz="1300">
                <a:solidFill>
                  <a:srgbClr val="F8FAFC"/>
                </a:solidFill>
              </a:defRPr>
            </a:pPr>
            <a:r>
              <a:t>•  Chhaya: Zero-latency three-screen dashboard (Clinic Triage, Patient Reveal Screen, Live Evidence Scorecard).</a:t>
            </a:r>
          </a:p>
        </p:txBody>
      </p:sp>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Clinical Landscape of Type 2 Diabetes Monitoring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Graphic: The Three Tiers of Diabetes Monitoring:</a:t>
            </a:r>
          </a:p>
          <a:p>
            <a:pPr>
              <a:spcAft>
                <a:spcPts val="300"/>
              </a:spcAft>
              <a:defRPr sz="1300">
                <a:solidFill>
                  <a:srgbClr val="F8FAFC"/>
                </a:solidFill>
              </a:defRPr>
            </a:pPr>
            <a:r>
              <a:t>•  Tier 1: Quarterly HbA1c (Three-month weighted average, misses all glycemic variability and acute spikes)</a:t>
            </a:r>
          </a:p>
          <a:p>
            <a:pPr>
              <a:spcAft>
                <a:spcPts val="300"/>
              </a:spcAft>
              <a:defRPr sz="1300">
                <a:solidFill>
                  <a:srgbClr val="F8FAFC"/>
                </a:solidFill>
              </a:defRPr>
            </a:pPr>
            <a:r>
              <a:t>•  Tier 2: Intermittent Self-Monitoring of Blood Glucose (SMBG/Fingersticks) (Point-in-time capillary measurements, painful, sparse)</a:t>
            </a:r>
          </a:p>
          <a:p>
            <a:pPr>
              <a:spcAft>
                <a:spcPts val="300"/>
              </a:spcAft>
              <a:defRPr sz="1300">
                <a:solidFill>
                  <a:srgbClr val="F8FAFC"/>
                </a:solidFill>
              </a:defRPr>
            </a:pPr>
            <a:r>
              <a:t>•  Tier 3: Continuous Glucose Monitoring (CGM) (Rich continuous curve, high cost, limited wear duration)</a:t>
            </a:r>
          </a:p>
          <a:p>
            <a:pPr>
              <a:spcAft>
                <a:spcPts val="300"/>
              </a:spcAft>
              <a:defRPr sz="1300">
                <a:solidFill>
                  <a:srgbClr val="F8FAFC"/>
                </a:solidFill>
              </a:defRPr>
            </a:pPr>
            <a:r>
              <a:t>•  Bottom Banner: "Chhaya bridges Tier 2 and Tier 3 by using sparse fingersticks to keep a prior CGM wear alive."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What Happens When a Sensor Report Ages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Diagram showing report staleness over time:</a:t>
            </a:r>
          </a:p>
          <a:p>
            <a:pPr>
              <a:spcAft>
                <a:spcPts val="300"/>
              </a:spcAft>
              <a:defRPr sz="1300">
                <a:solidFill>
                  <a:srgbClr val="F8FAFC"/>
                </a:solidFill>
              </a:defRPr>
            </a:pPr>
            <a:r>
              <a:t>•  Day 0–14: Sensor Active (High confidence, valid AGP report)</a:t>
            </a:r>
          </a:p>
          <a:p>
            <a:pPr>
              <a:spcAft>
                <a:spcPts val="300"/>
              </a:spcAft>
              <a:defRPr sz="1300">
                <a:solidFill>
                  <a:srgbClr val="F8FAFC"/>
                </a:solidFill>
              </a:defRPr>
            </a:pPr>
            <a:r>
              <a:t>•  Day 15–30: Moderate Staleness (Subtle therapeutic changes, dietary drift)</a:t>
            </a:r>
          </a:p>
          <a:p>
            <a:pPr>
              <a:spcAft>
                <a:spcPts val="300"/>
              </a:spcAft>
              <a:defRPr sz="1300">
                <a:solidFill>
                  <a:srgbClr val="F8FAFC"/>
                </a:solidFill>
              </a:defRPr>
            </a:pPr>
            <a:r>
              <a:t>•  Day 30+: High Drift (Mean glucose shifts &gt;20 mg/dL; old report leads to incorrect medication dosing)</a:t>
            </a:r>
          </a:p>
          <a:p>
            <a:pPr>
              <a:spcAft>
                <a:spcPts val="300"/>
              </a:spcAft>
              <a:defRPr sz="1300">
                <a:solidFill>
                  <a:srgbClr val="F8FAFC"/>
                </a:solidFill>
              </a:defRPr>
            </a:pPr>
            <a:r>
              <a:t>•  Callout: "In our held-out clinical data, mean glucose drifted by &gt;20 mg/dL in 34% of patients following hospital care adjustment."</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Defining a Medical Digital Twin</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Contrast Graphic:</a:t>
            </a:r>
          </a:p>
          <a:p>
            <a:pPr>
              <a:spcAft>
                <a:spcPts val="300"/>
              </a:spcAft>
              <a:defRPr sz="1300">
                <a:solidFill>
                  <a:srgbClr val="F8FAFC"/>
                </a:solidFill>
              </a:defRPr>
            </a:pPr>
            <a:r>
              <a:t>•  Left: "Marketing Twins" (3D animated human avatars, generic animations, black-box neural nets, uncalibrated confidence)</a:t>
            </a:r>
          </a:p>
          <a:p>
            <a:pPr>
              <a:spcAft>
                <a:spcPts val="300"/>
              </a:spcAft>
              <a:defRPr sz="1300">
                <a:solidFill>
                  <a:srgbClr val="F8FAFC"/>
                </a:solidFill>
              </a:defRPr>
            </a:pPr>
            <a:r>
              <a:t>•  Right: "Chhaya Digital Twin" (Explicit physiological compartments, personalized metabolic parameters, Bayesian uncertainty bands, honest performance bounds)</a:t>
            </a:r>
          </a:p>
          <a:p>
            <a:pPr>
              <a:spcAft>
                <a:spcPts val="300"/>
              </a:spcAft>
              <a:defRPr sz="1300">
                <a:solidFill>
                  <a:srgbClr val="F8FAFC"/>
                </a:solidFill>
              </a:defRPr>
            </a:pPr>
            <a:r>
              <a:t>•  System Definition: "A parameter-personalized dynamical system mapping multi-scale inputs to physiological state estimates with calibrated uncertainty."</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A: OPENING &amp; PROBLEM STATEMENT (SLIDES 1–8)  •  SLIDE 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Intellectual Contract: What Chhaya Is NOT</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Prominent Red/Green Clinical Safety Boundary:</a:t>
            </a:r>
          </a:p>
          <a:p>
            <a:pPr>
              <a:spcAft>
                <a:spcPts val="300"/>
              </a:spcAft>
              <a:defRPr sz="1300" b="1">
                <a:solidFill>
                  <a:srgbClr val="F59E0B"/>
                </a:solidFill>
              </a:defRPr>
            </a:pPr>
            <a:r>
              <a:t>•  ❌ It does NOT replace a physical sensor (twin error vs fingerstick is ~22%, real sensor is ~12%).</a:t>
            </a:r>
          </a:p>
          <a:p>
            <a:pPr>
              <a:spcAft>
                <a:spcPts val="300"/>
              </a:spcAft>
              <a:defRPr sz="1300" b="1">
                <a:solidFill>
                  <a:srgbClr val="F59E0B"/>
                </a:solidFill>
              </a:defRPr>
            </a:pPr>
            <a:r>
              <a:t>•  ❌ It provides NO automated insulin or drug dosing advice.</a:t>
            </a:r>
          </a:p>
          <a:p>
            <a:pPr>
              <a:spcAft>
                <a:spcPts val="300"/>
              </a:spcAft>
              <a:defRPr sz="1300" b="1">
                <a:solidFill>
                  <a:srgbClr val="F59E0B"/>
                </a:solidFill>
              </a:defRPr>
            </a:pPr>
            <a:r>
              <a:t>•  ❌ It generates NO automated low-glucose alarms (due to high sensor false-positive rates).</a:t>
            </a:r>
          </a:p>
          <a:p>
            <a:pPr>
              <a:spcAft>
                <a:spcPts val="300"/>
              </a:spcAft>
              <a:defRPr sz="1300" b="1">
                <a:solidFill>
                  <a:srgbClr val="F59E0B"/>
                </a:solidFill>
              </a:defRPr>
            </a:pPr>
            <a:r>
              <a:t>•  ❌ It does NOT claim that fusing static records improves glucose estimation error once a sensor exists.</a:t>
            </a:r>
          </a:p>
          <a:p>
            <a:pPr>
              <a:spcAft>
                <a:spcPts val="300"/>
              </a:spcAft>
              <a:defRPr sz="1300" b="1">
                <a:solidFill>
                  <a:srgbClr val="10B981"/>
                </a:solidFill>
              </a:defRPr>
            </a:pPr>
            <a:r>
              <a:t>•  ✅ It provides a calibrated physiological shadow to alert doctors when reports become stale.</a:t>
            </a:r>
          </a:p>
          <a:p>
            <a:pPr>
              <a:spcAft>
                <a:spcPts val="300"/>
              </a:spcAft>
              <a:defRPr sz="1300" b="1">
                <a:solidFill>
                  <a:srgbClr val="10B981"/>
                </a:solidFill>
              </a:defRPr>
            </a:pPr>
            <a:r>
              <a:t>•  ✅ It enables interactive 'what-if' nutritional exploration with explicit simulation labels.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Dual-Stream Data Architecture Overview</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Architectural Flowchart:</a:t>
            </a:r>
          </a:p>
          <a:p>
            <a:pPr>
              <a:spcAft>
                <a:spcPts val="300"/>
              </a:spcAft>
              <a:defRPr sz="1300">
                <a:solidFill>
                  <a:srgbClr val="F8FAFC"/>
                </a:solidFill>
              </a:defRPr>
            </a:pPr>
            <a:r>
              <a:t>•  Left Stream: Static / Longitudinal Health Records (Demographics, Diagnoses, Glycemic History, Simulated Genetics)</a:t>
            </a:r>
          </a:p>
          <a:p>
            <a:pPr>
              <a:spcAft>
                <a:spcPts val="300"/>
              </a:spcAft>
              <a:defRPr sz="1300">
                <a:solidFill>
                  <a:srgbClr val="F8FAFC"/>
                </a:solidFill>
              </a:defRPr>
            </a:pPr>
            <a:r>
              <a:t>•  Right Stream: Dynamic / High-Frequency IoT Time-Series (CGM, Capillary Sticks, Macronutrient Logs, Accelerometry/METs, Sleep)</a:t>
            </a:r>
          </a:p>
          <a:p>
            <a:pPr>
              <a:spcAft>
                <a:spcPts val="300"/>
              </a:spcAft>
              <a:defRPr sz="1300">
                <a:solidFill>
                  <a:srgbClr val="F8FAFC"/>
                </a:solidFill>
              </a:defRPr>
            </a:pPr>
            <a:r>
              <a:t>•  Convergence Point: Bayesian Parameter Prior Engine &amp; Physiological State Space</a:t>
            </a:r>
          </a:p>
          <a:p>
            <a:pPr>
              <a:spcAft>
                <a:spcPts val="300"/>
              </a:spcAft>
              <a:defRPr sz="1300">
                <a:solidFill>
                  <a:srgbClr val="F8FAFC"/>
                </a:solidFill>
              </a:defRPr>
            </a:pPr>
            <a:r>
              <a:t>•  Output: The Personalized Patient Shadow &amp; Clinical Triage Stream</a:t>
            </a:r>
          </a:p>
          <a:p>
            <a:pPr>
              <a:spcAft>
                <a:spcPts val="300"/>
              </a:spcAft>
              <a:defRPr sz="1300">
                <a:solidFill>
                  <a:srgbClr val="F8FAFC"/>
                </a:solidFill>
              </a:defRPr>
            </a:pPr>
            <a:r>
              <a:t>•  Highlight: Meeting the Phase 1 Mandate on Multimodal Data Fusion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1 (Static/Historical): Electronic Health Records Schema</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Code Snippet &amp; Schema Box: `chhaya.product.record.fhir_record`</a:t>
            </a:r>
          </a:p>
          <a:p>
            <a:pPr>
              <a:spcAft>
                <a:spcPts val="300"/>
              </a:spcAft>
              <a:defRPr sz="1300">
                <a:solidFill>
                  <a:srgbClr val="F8FAFC"/>
                </a:solidFill>
              </a:defRPr>
            </a:pPr>
            <a:r>
              <a:t>•  FHIR-compliant JSON Structure:</a:t>
            </a:r>
          </a:p>
          <a:p>
            <a:pPr>
              <a:spcAft>
                <a:spcPts val="300"/>
              </a:spcAft>
              <a:defRPr sz="1300">
                <a:solidFill>
                  <a:srgbClr val="F8FAFC"/>
                </a:solidFill>
              </a:defRPr>
            </a:pPr>
            <a:r>
              <a:t>•  Patient Resource: `id`, `age`, `gender`, `body_mass_kg`, `bmi`</a:t>
            </a:r>
          </a:p>
          <a:p>
            <a:pPr>
              <a:spcAft>
                <a:spcPts val="300"/>
              </a:spcAft>
              <a:defRPr sz="1300">
                <a:solidFill>
                  <a:srgbClr val="F8FAFC"/>
                </a:solidFill>
              </a:defRPr>
            </a:pPr>
            <a:r>
              <a:t>•  Condition Resource: `code`: "Type 2 Diabetes Mellitus", `onset_date`, `duration_years`</a:t>
            </a:r>
          </a:p>
          <a:p>
            <a:pPr>
              <a:spcAft>
                <a:spcPts val="300"/>
              </a:spcAft>
              <a:defRPr sz="1300">
                <a:solidFill>
                  <a:srgbClr val="F8FAFC"/>
                </a:solidFill>
              </a:defRPr>
            </a:pPr>
            <a:r>
              <a:t>•  Observation Resources:</a:t>
            </a:r>
          </a:p>
          <a:p>
            <a:pPr>
              <a:spcAft>
                <a:spcPts val="300"/>
              </a:spcAft>
              <a:defRPr sz="1300">
                <a:solidFill>
                  <a:srgbClr val="F8FAFC"/>
                </a:solidFill>
              </a:defRPr>
            </a:pPr>
            <a:r>
              <a:t>•  `fasting_plasma_glucose_mgdl`: e.g., 142 mg/dL</a:t>
            </a:r>
          </a:p>
          <a:p>
            <a:pPr>
              <a:spcAft>
                <a:spcPts val="300"/>
              </a:spcAft>
              <a:defRPr sz="1300">
                <a:solidFill>
                  <a:srgbClr val="F8FAFC"/>
                </a:solidFill>
              </a:defRPr>
            </a:pPr>
            <a:r>
              <a:t>•  `hba1c_percent`: e.g., 8.1%</a:t>
            </a:r>
          </a:p>
          <a:p>
            <a:pPr>
              <a:spcAft>
                <a:spcPts val="300"/>
              </a:spcAft>
              <a:defRPr sz="1300">
                <a:solidFill>
                  <a:srgbClr val="F8FAFC"/>
                </a:solidFill>
              </a:defRPr>
            </a:pPr>
            <a:r>
              <a:t>•  MedicationStatement: `agents`: ["Metformin", "Glimepiride"]</a:t>
            </a:r>
          </a:p>
          <a:p>
            <a:pPr>
              <a:spcAft>
                <a:spcPts val="300"/>
              </a:spcAft>
              <a:defRPr sz="1300">
                <a:solidFill>
                  <a:srgbClr val="F8FAFC"/>
                </a:solidFill>
              </a:defRPr>
            </a:pPr>
            <a:r>
              <a:t>•  Callout: "Structured using Fast Healthcare Interoperability Resources (FHIR) JSON standards."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1 (Static/Historical): Biomarkers &amp; Genetic Markers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Visual Diagram of Metabolic Priors:</a:t>
            </a:r>
          </a:p>
          <a:p>
            <a:pPr>
              <a:spcAft>
                <a:spcPts val="300"/>
              </a:spcAft>
              <a:defRPr sz="1300">
                <a:solidFill>
                  <a:srgbClr val="F8FAFC"/>
                </a:solidFill>
              </a:defRPr>
            </a:pPr>
            <a:r>
              <a:t>•  Genetic Markers Panel (Simulated):</a:t>
            </a:r>
          </a:p>
          <a:p>
            <a:pPr>
              <a:spcAft>
                <a:spcPts val="300"/>
              </a:spcAft>
              <a:defRPr sz="1300">
                <a:solidFill>
                  <a:srgbClr val="F8FAFC"/>
                </a:solidFill>
              </a:defRPr>
            </a:pPr>
            <a:r>
              <a:t>•  TCF7L2 (rs7903146) risk allele status → Modulates basal secretion parameter</a:t>
            </a:r>
          </a:p>
          <a:p>
            <a:pPr>
              <a:spcAft>
                <a:spcPts val="300"/>
              </a:spcAft>
              <a:defRPr sz="1300">
                <a:solidFill>
                  <a:srgbClr val="F8FAFC"/>
                </a:solidFill>
              </a:defRPr>
            </a:pPr>
            <a:r>
              <a:t>•  KCNJ11 (rs5219) variant → Informs beta-cell sensitivity prior</a:t>
            </a:r>
          </a:p>
          <a:p>
            <a:pPr>
              <a:spcAft>
                <a:spcPts val="300"/>
              </a:spcAft>
              <a:defRPr sz="1300">
                <a:solidFill>
                  <a:srgbClr val="F8FAFC"/>
                </a:solidFill>
              </a:defRPr>
            </a:pPr>
            <a:r>
              <a:t>•  PPARG (rs1801282) → Adjusts peripheral insulin sensitivity prior</a:t>
            </a:r>
          </a:p>
          <a:p>
            <a:pPr>
              <a:spcAft>
                <a:spcPts val="300"/>
              </a:spcAft>
              <a:defRPr sz="1300">
                <a:solidFill>
                  <a:srgbClr val="F8FAFC"/>
                </a:solidFill>
              </a:defRPr>
            </a:pPr>
            <a:r>
              <a:t>•  Diagnostic Classification: Type 2 Diabetes, Prediabetes, Healthy Controls</a:t>
            </a:r>
          </a:p>
          <a:p>
            <a:pPr>
              <a:spcAft>
                <a:spcPts val="300"/>
              </a:spcAft>
              <a:defRPr sz="1300">
                <a:solidFill>
                  <a:srgbClr val="F8FAFC"/>
                </a:solidFill>
              </a:defRPr>
            </a:pPr>
            <a:r>
              <a:t>•  Prominent Ethics Disclaimer:</a:t>
            </a:r>
          </a:p>
          <a:p>
            <a:pPr>
              <a:spcAft>
                <a:spcPts val="300"/>
              </a:spcAft>
              <a:defRPr sz="1300">
                <a:solidFill>
                  <a:srgbClr val="F8FAFC"/>
                </a:solidFill>
              </a:defRPr>
            </a:pPr>
            <a:r>
              <a:t>•  "Neither public open dataset includes genomic sequencing. All genetic marker fields in Chhaya are simulated and explicitly labelled as synthetic on every UI screen."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2 (Dynamic/IoT): Continuous Glucose Monitoring Time-Series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Plot: Raw Continuous Glucose Monitoring (CGM) Signal</a:t>
            </a:r>
          </a:p>
          <a:p>
            <a:pPr>
              <a:spcAft>
                <a:spcPts val="300"/>
              </a:spcAft>
              <a:defRPr sz="1300">
                <a:solidFill>
                  <a:srgbClr val="F8FAFC"/>
                </a:solidFill>
              </a:defRPr>
            </a:pPr>
            <a:r>
              <a:t>•  Frequency: 5-minute sampling interval (288 readings/day)</a:t>
            </a:r>
          </a:p>
          <a:p>
            <a:pPr>
              <a:spcAft>
                <a:spcPts val="300"/>
              </a:spcAft>
              <a:defRPr sz="1300">
                <a:solidFill>
                  <a:srgbClr val="F8FAFC"/>
                </a:solidFill>
              </a:defRPr>
            </a:pPr>
            <a:r>
              <a:t>•  Unit: mg/dL (converted internally to mmol/L for physics ODEs)</a:t>
            </a:r>
          </a:p>
          <a:p>
            <a:pPr>
              <a:spcAft>
                <a:spcPts val="300"/>
              </a:spcAft>
              <a:defRPr sz="1300">
                <a:solidFill>
                  <a:srgbClr val="F8FAFC"/>
                </a:solidFill>
              </a:defRPr>
            </a:pPr>
            <a:r>
              <a:t>•  Physiological Delay Annotation: Interstitial-to-plasma transport lag (tau_g = 10.0 minutes)</a:t>
            </a:r>
          </a:p>
          <a:p>
            <a:pPr>
              <a:spcAft>
                <a:spcPts val="300"/>
              </a:spcAft>
              <a:defRPr sz="1300">
                <a:solidFill>
                  <a:srgbClr val="F8FAFC"/>
                </a:solidFill>
              </a:defRPr>
            </a:pPr>
            <a:r>
              <a:t>•  Artifact Handling: Handling sensor dropout, non-physiological gradient clipping (&gt;4 mg/dL/min)</a:t>
            </a:r>
          </a:p>
          <a:p>
            <a:pPr>
              <a:spcAft>
                <a:spcPts val="300"/>
              </a:spcAft>
              <a:defRPr sz="1300">
                <a:solidFill>
                  <a:srgbClr val="F8FAFC"/>
                </a:solidFill>
              </a:defRPr>
            </a:pPr>
            <a:r>
              <a:t>•  Formula Box: `dG_sub/dt = (G_plasma - G_sub) / tau_g`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2 (Dynamic/IoT): Capillary Blood Glucose (Fingersticks)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Illustration of Fingerstick Data:</a:t>
            </a:r>
          </a:p>
          <a:p>
            <a:pPr>
              <a:spcAft>
                <a:spcPts val="300"/>
              </a:spcAft>
              <a:defRPr sz="1300">
                <a:solidFill>
                  <a:srgbClr val="F8FAFC"/>
                </a:solidFill>
              </a:defRPr>
            </a:pPr>
            <a:r>
              <a:t>•  Sparse sampling: 4 to 6 capillary measurements per day (Fasting, Pre-prandial, 2h Post-prandial, Bedtime)</a:t>
            </a:r>
          </a:p>
          <a:p>
            <a:pPr>
              <a:spcAft>
                <a:spcPts val="300"/>
              </a:spcAft>
              <a:defRPr sz="1300">
                <a:solidFill>
                  <a:srgbClr val="F8FAFC"/>
                </a:solidFill>
              </a:defRPr>
            </a:pPr>
            <a:r>
              <a:t>•  Scale Difference: Capillary whole blood vs Interstitial enzymatic sensor</a:t>
            </a:r>
          </a:p>
          <a:p>
            <a:pPr>
              <a:spcAft>
                <a:spcPts val="300"/>
              </a:spcAft>
              <a:defRPr sz="1300">
                <a:solidFill>
                  <a:srgbClr val="F8FAFC"/>
                </a:solidFill>
              </a:defRPr>
            </a:pPr>
            <a:r>
              <a:t>•  Calibration Function: Linear scaling function learned during the initial wear window:</a:t>
            </a:r>
          </a:p>
          <a:p>
            <a:pPr>
              <a:spcAft>
                <a:spcPts val="300"/>
              </a:spcAft>
              <a:defRPr sz="1300">
                <a:solidFill>
                  <a:srgbClr val="F8FAFC"/>
                </a:solidFill>
              </a:defRPr>
            </a:pPr>
            <a:r>
              <a:t>•  `G_sensor_scale = alpha * G_meter + beta`</a:t>
            </a:r>
          </a:p>
          <a:p>
            <a:pPr>
              <a:spcAft>
                <a:spcPts val="300"/>
              </a:spcAft>
              <a:defRPr sz="1300">
                <a:solidFill>
                  <a:srgbClr val="F8FAFC"/>
                </a:solidFill>
              </a:defRPr>
            </a:pPr>
            <a:r>
              <a:t>•  Table: Report Mean Glucose Error:</a:t>
            </a:r>
          </a:p>
          <a:p>
            <a:pPr>
              <a:spcAft>
                <a:spcPts val="300"/>
              </a:spcAft>
              <a:defRPr sz="1300">
                <a:solidFill>
                  <a:srgbClr val="F8FAFC"/>
                </a:solidFill>
              </a:defRPr>
            </a:pPr>
            <a:r>
              <a:t>•  Raw Meter Average: 18.3 mg/dL error</a:t>
            </a:r>
          </a:p>
          <a:p>
            <a:pPr>
              <a:spcAft>
                <a:spcPts val="300"/>
              </a:spcAft>
              <a:defRPr sz="1300">
                <a:solidFill>
                  <a:srgbClr val="F8FAFC"/>
                </a:solidFill>
              </a:defRPr>
            </a:pPr>
            <a:r>
              <a:t>•  Sensor-Scaled Fingerstick Average: 6.4 mg/dL error</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2 (Dynamic/IoT): Nutrition &amp; Meal Ingestion Logging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Macronutrient Decomposition Diagram:</a:t>
            </a:r>
          </a:p>
          <a:p>
            <a:pPr>
              <a:spcAft>
                <a:spcPts val="300"/>
              </a:spcAft>
              <a:defRPr sz="1300">
                <a:solidFill>
                  <a:srgbClr val="F8FAFC"/>
                </a:solidFill>
              </a:defRPr>
            </a:pPr>
            <a:r>
              <a:t>•  Input: Meal timestamp $t_{meal}$, Carbohydrate mass (grams), Fat/Protein/Fiber breakdown</a:t>
            </a:r>
          </a:p>
          <a:p>
            <a:pPr>
              <a:spcAft>
                <a:spcPts val="300"/>
              </a:spcAft>
              <a:defRPr sz="1300">
                <a:solidFill>
                  <a:srgbClr val="F8FAFC"/>
                </a:solidFill>
              </a:defRPr>
            </a:pPr>
            <a:r>
              <a:t>•  Gut Appearance Model: Two-parameter Weibull absorption curve</a:t>
            </a:r>
          </a:p>
          <a:p>
            <a:pPr>
              <a:spcAft>
                <a:spcPts val="300"/>
              </a:spcAft>
              <a:defRPr sz="1300">
                <a:solidFill>
                  <a:srgbClr val="F8FAFC"/>
                </a:solidFill>
              </a:defRPr>
            </a:pPr>
            <a:r>
              <a:t>•  Shape parameter $\sigma = 1.35$</a:t>
            </a:r>
          </a:p>
          <a:p>
            <a:pPr>
              <a:spcAft>
                <a:spcPts val="300"/>
              </a:spcAft>
              <a:defRPr sz="1300">
                <a:solidFill>
                  <a:srgbClr val="F8FAFC"/>
                </a:solidFill>
              </a:defRPr>
            </a:pPr>
            <a:r>
              <a:t>•  Slowing factor: `meal_slow` computed from co-ingested fat and dietary fiber</a:t>
            </a:r>
          </a:p>
          <a:p>
            <a:pPr>
              <a:spcAft>
                <a:spcPts val="300"/>
              </a:spcAft>
              <a:defRPr sz="1300">
                <a:solidFill>
                  <a:srgbClr val="F8FAFC"/>
                </a:solidFill>
              </a:defRPr>
            </a:pPr>
            <a:r>
              <a:t>•  Gut-to-plasma absorption rate: $k_1 / \text{meal\_slow}$</a:t>
            </a:r>
          </a:p>
          <a:p>
            <a:pPr>
              <a:spcAft>
                <a:spcPts val="300"/>
              </a:spcAft>
              <a:defRPr sz="1300">
                <a:solidFill>
                  <a:srgbClr val="F8FAFC"/>
                </a:solidFill>
              </a:defRPr>
            </a:pPr>
            <a:r>
              <a:t>•  Graph: Glycemic response of High-Carb/Low-Fat vs Identical Carb with High-Fat/Fiber (delayed, blunted peak)</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Stream 2 (Dynamic/IoT): Physical Activity &amp; Circadian Metrics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Multimodal Wearable Sensors:</a:t>
            </a:r>
          </a:p>
          <a:p>
            <a:pPr>
              <a:spcAft>
                <a:spcPts val="300"/>
              </a:spcAft>
              <a:defRPr sz="1300">
                <a:solidFill>
                  <a:srgbClr val="F8FAFC"/>
                </a:solidFill>
              </a:defRPr>
            </a:pPr>
            <a:r>
              <a:t>•  Accelerometry &amp; Heart Rate: Converted to continuous Metabolic Equivalent of Task (METs) per minute</a:t>
            </a:r>
          </a:p>
          <a:p>
            <a:pPr>
              <a:spcAft>
                <a:spcPts val="300"/>
              </a:spcAft>
              <a:defRPr sz="1300">
                <a:solidFill>
                  <a:srgbClr val="F8FAFC"/>
                </a:solidFill>
              </a:defRPr>
            </a:pPr>
            <a:r>
              <a:t>•  Rest threshold: $\text{MET} &lt; 1.5$ (basal metabolism)</a:t>
            </a:r>
          </a:p>
          <a:p>
            <a:pPr>
              <a:spcAft>
                <a:spcPts val="300"/>
              </a:spcAft>
              <a:defRPr sz="1300">
                <a:solidFill>
                  <a:srgbClr val="F8FAFC"/>
                </a:solidFill>
              </a:defRPr>
            </a:pPr>
            <a:r>
              <a:t>•  Exercise time constant: $\tau_{ex} = 45.0$ minutes (prolonged insulin-independent uptake)</a:t>
            </a:r>
          </a:p>
          <a:p>
            <a:pPr>
              <a:spcAft>
                <a:spcPts val="300"/>
              </a:spcAft>
              <a:defRPr sz="1300">
                <a:solidFill>
                  <a:srgbClr val="F8FAFC"/>
                </a:solidFill>
              </a:defRPr>
            </a:pPr>
            <a:r>
              <a:t>•  Sleep &amp; Circadian Tracking: Circadian sinusoidal term on hepatic glucose output</a:t>
            </a:r>
          </a:p>
          <a:p>
            <a:pPr>
              <a:spcAft>
                <a:spcPts val="300"/>
              </a:spcAft>
              <a:defRPr sz="1300">
                <a:solidFill>
                  <a:srgbClr val="F8FAFC"/>
                </a:solidFill>
              </a:defRPr>
            </a:pPr>
            <a:r>
              <a:t>•  Dawn Phenomenon Peak: 05:00 AM ($\text{minute} = 300.0$)</a:t>
            </a:r>
          </a:p>
          <a:p>
            <a:pPr>
              <a:spcAft>
                <a:spcPts val="300"/>
              </a:spcAft>
              <a:defRPr sz="1300">
                <a:solidFill>
                  <a:srgbClr val="F8FAFC"/>
                </a:solidFill>
              </a:defRPr>
            </a:pPr>
            <a:r>
              <a:t>•  Formula: $E_{ex}(t) = \int_0^t \max(\text{MET}(\tau) - 1.5, 0) \cdot e^{-(t-\tau)/\tau_{ex}} d\tau$</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Data Fusion Pipeline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Mermaid Flowchart from Repository README:</a:t>
            </a:r>
          </a:p>
          <a:p>
            <a:pPr>
              <a:spcAft>
                <a:spcPts val="300"/>
              </a:spcAft>
              <a:defRPr sz="1300">
                <a:solidFill>
                  <a:srgbClr val="94A3B8"/>
                </a:solidFill>
              </a:defRPr>
            </a:pPr>
            <a:r>
              <a:t>```</a:t>
            </a:r>
          </a:p>
          <a:p>
            <a:pPr>
              <a:spcAft>
                <a:spcPts val="300"/>
              </a:spcAft>
              <a:defRPr sz="1300">
                <a:solidFill>
                  <a:srgbClr val="94A3B8"/>
                </a:solidFill>
              </a:defRPr>
            </a:pPr>
            <a:r>
              <a:t>Health Record (EHR) ---&gt; [Sets Bayesian Priors] ---&gt; Twin (E-DES ODE Model)</a:t>
            </a:r>
          </a:p>
          <a:p>
            <a:pPr>
              <a:spcAft>
                <a:spcPts val="300"/>
              </a:spcAft>
              <a:defRPr sz="1300">
                <a:solidFill>
                  <a:srgbClr val="94A3B8"/>
                </a:solidFill>
              </a:defRPr>
            </a:pPr>
            <a:r>
              <a:t>One Sensor Wear --------&gt; [Acts as Likelihood] ------&gt; Twin (7 Parameters)</a:t>
            </a:r>
          </a:p>
          <a:p>
            <a:pPr>
              <a:spcAft>
                <a:spcPts val="300"/>
              </a:spcAft>
              <a:defRPr sz="1300">
                <a:solidFill>
                  <a:srgbClr val="94A3B8"/>
                </a:solidFill>
              </a:defRPr>
            </a:pPr>
            <a:r>
              <a:t>Twin -------------------&gt; [Simulates] --------------&gt; Shadow (Glucose + 80% Band)</a:t>
            </a:r>
          </a:p>
          <a:p>
            <a:pPr>
              <a:spcAft>
                <a:spcPts val="300"/>
              </a:spcAft>
              <a:defRPr sz="1300">
                <a:solidFill>
                  <a:srgbClr val="94A3B8"/>
                </a:solidFill>
              </a:defRPr>
            </a:pPr>
            <a:r>
              <a:t>Meal Log ---------------&gt; [Drives Absorption] ------&gt; Shadow</a:t>
            </a:r>
          </a:p>
          <a:p>
            <a:pPr>
              <a:spcAft>
                <a:spcPts val="300"/>
              </a:spcAft>
              <a:defRPr sz="1300">
                <a:solidFill>
                  <a:srgbClr val="94A3B8"/>
                </a:solidFill>
              </a:defRPr>
            </a:pPr>
            <a:r>
              <a:t>Average Day Profile ----&gt; [Anchors Baseline] --------&gt; Shadow</a:t>
            </a:r>
          </a:p>
          <a:p>
            <a:pPr>
              <a:spcAft>
                <a:spcPts val="300"/>
              </a:spcAft>
              <a:defRPr sz="1300">
                <a:solidFill>
                  <a:srgbClr val="94A3B8"/>
                </a:solidFill>
              </a:defRPr>
            </a:pPr>
            <a:r>
              <a:t>Fingersticks -----------&gt; [Filter Assimilation] ----&gt; Shadow</a:t>
            </a:r>
          </a:p>
          <a:p>
            <a:pPr>
              <a:spcAft>
                <a:spcPts val="300"/>
              </a:spcAft>
              <a:defRPr sz="1300">
                <a:solidFill>
                  <a:srgbClr val="94A3B8"/>
                </a:solidFill>
              </a:defRPr>
            </a:pPr>
            <a:r>
              <a:t>Fingersticks -----------&gt; [CUSUM Monitor] ----------&gt; Prompt: Consider New Wear</a:t>
            </a:r>
          </a:p>
          <a:p>
            <a:pPr>
              <a:spcAft>
                <a:spcPts val="300"/>
              </a:spcAft>
              <a:defRPr sz="1300">
                <a:solidFill>
                  <a:srgbClr val="94A3B8"/>
                </a:solidFill>
              </a:defRPr>
            </a:pPr>
            <a:r>
              <a:t>```</a:t>
            </a:r>
          </a:p>
          <a:p>
            <a:pPr>
              <a:spcAft>
                <a:spcPts val="300"/>
              </a:spcAft>
              <a:defRPr sz="1300">
                <a:solidFill>
                  <a:srgbClr val="F8FAFC"/>
                </a:solidFill>
              </a:defRPr>
            </a:pPr>
            <a:r>
              <a:t>•  Summary Caption: Dual fusion: Bayesian prior fusion for parameters; state-space assimilation for real-time tracking.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Empirical Datasets: ShanghaiT2DM &amp; CGMacros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Table detailing the two benchmark clinical cohorts:</a:t>
            </a:r>
          </a:p>
          <a:p>
            <a:pPr>
              <a:spcAft>
                <a:spcPts val="300"/>
              </a:spcAft>
              <a:defRPr sz="1300">
                <a:solidFill>
                  <a:srgbClr val="F8FAFC"/>
                </a:solidFill>
              </a:defRPr>
            </a:pPr>
            <a:r>
              <a:t>•  Dataset 1: **ShanghaiT2DM** (Zhao et al., *Scientific Data* 2023)</a:t>
            </a:r>
          </a:p>
          <a:p>
            <a:pPr>
              <a:spcAft>
                <a:spcPts val="300"/>
              </a:spcAft>
              <a:defRPr sz="1300">
                <a:solidFill>
                  <a:srgbClr val="F8FAFC"/>
                </a:solidFill>
              </a:defRPr>
            </a:pPr>
            <a:r>
              <a:t>•  Cohort: 100 inpatients with Type 2 Diabetes (109 recordings)</a:t>
            </a:r>
          </a:p>
          <a:p>
            <a:pPr>
              <a:spcAft>
                <a:spcPts val="300"/>
              </a:spcAft>
              <a:defRPr sz="1300">
                <a:solidFill>
                  <a:srgbClr val="F8FAFC"/>
                </a:solidFill>
              </a:defRPr>
            </a:pPr>
            <a:r>
              <a:t>•  Setting: Supervised inpatient hospital care with physician-adjusted therapy</a:t>
            </a:r>
          </a:p>
          <a:p>
            <a:pPr>
              <a:spcAft>
                <a:spcPts val="300"/>
              </a:spcAft>
              <a:defRPr sz="1300">
                <a:solidFill>
                  <a:srgbClr val="F8FAFC"/>
                </a:solidFill>
              </a:defRPr>
            </a:pPr>
            <a:r>
              <a:t>•  Frequency: 5-minute CGM + ~6 fingersticks/day + structured meals</a:t>
            </a:r>
          </a:p>
          <a:p>
            <a:pPr>
              <a:spcAft>
                <a:spcPts val="300"/>
              </a:spcAft>
              <a:defRPr sz="1300">
                <a:solidFill>
                  <a:srgbClr val="F8FAFC"/>
                </a:solidFill>
              </a:defRPr>
            </a:pPr>
            <a:r>
              <a:t>•  Licensing: CC BY 4.0 Open Access (checksum verified: 3.7 MB)</a:t>
            </a:r>
          </a:p>
          <a:p>
            <a:pPr>
              <a:spcAft>
                <a:spcPts val="300"/>
              </a:spcAft>
              <a:defRPr sz="1300">
                <a:solidFill>
                  <a:srgbClr val="F8FAFC"/>
                </a:solidFill>
              </a:defRPr>
            </a:pPr>
            <a:r>
              <a:t>•  Dataset 2: **CGMacros** (PhysioNet 2023)</a:t>
            </a:r>
          </a:p>
          <a:p>
            <a:pPr>
              <a:spcAft>
                <a:spcPts val="300"/>
              </a:spcAft>
              <a:defRPr sz="1300">
                <a:solidFill>
                  <a:srgbClr val="F8FAFC"/>
                </a:solidFill>
              </a:defRPr>
            </a:pPr>
            <a:r>
              <a:t>•  Cohort: 45 ambulatory free-living individuals (7 T2D, 7 Prediabetes, 5 Healthy test split)</a:t>
            </a:r>
          </a:p>
          <a:p>
            <a:pPr>
              <a:spcAft>
                <a:spcPts val="300"/>
              </a:spcAft>
              <a:defRPr sz="1300">
                <a:solidFill>
                  <a:srgbClr val="F8FAFC"/>
                </a:solidFill>
              </a:defRPr>
            </a:pPr>
            <a:r>
              <a:t>•  Setting: Unsupervised real-world living with macro-logged meals</a:t>
            </a:r>
          </a:p>
          <a:p>
            <a:pPr>
              <a:spcAft>
                <a:spcPts val="300"/>
              </a:spcAft>
              <a:defRPr sz="1300">
                <a:solidFill>
                  <a:srgbClr val="F8FAFC"/>
                </a:solidFill>
              </a:defRPr>
            </a:pPr>
            <a:r>
              <a:t>•  Frequency: 5-minute Dexcom CGM + photo-verified nutrition</a:t>
            </a:r>
          </a:p>
          <a:p>
            <a:pPr>
              <a:spcAft>
                <a:spcPts val="300"/>
              </a:spcAft>
              <a:defRPr sz="1300">
                <a:solidFill>
                  <a:srgbClr val="F8FAFC"/>
                </a:solidFill>
              </a:defRPr>
            </a:pPr>
            <a:r>
              <a:t>•  Licensing: PhysioNet CC BY-NC-SA 4.0 (checksum verified: 627 MB)</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B: DATA ARCHITECTURE — FUSION OF TWO STREAMS (SLIDES 9–18)  •  SLIDE 18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Patient-Level Splitting &amp; Zero-Leakage Protocol</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Visual Diagram of Data Splitting Protocol:</a:t>
            </a:r>
          </a:p>
          <a:p>
            <a:pPr>
              <a:spcAft>
                <a:spcPts val="300"/>
              </a:spcAft>
              <a:defRPr sz="1300">
                <a:solidFill>
                  <a:srgbClr val="F8FAFC"/>
                </a:solidFill>
              </a:defRPr>
            </a:pPr>
            <a:r>
              <a:t>•  Red Box: Development Split (50% of patients) — All hyperparameter tuning, filter selection, and threshold searches</a:t>
            </a:r>
          </a:p>
          <a:p>
            <a:pPr>
              <a:spcAft>
                <a:spcPts val="300"/>
              </a:spcAft>
              <a:defRPr sz="1300">
                <a:solidFill>
                  <a:srgbClr val="F8FAFC"/>
                </a:solidFill>
              </a:defRPr>
            </a:pPr>
            <a:r>
              <a:t>•  Blue Box: Test Split (50% of patients) — Scored ONCE with `--confirm` flag on committed code</a:t>
            </a:r>
          </a:p>
          <a:p>
            <a:pPr>
              <a:spcAft>
                <a:spcPts val="300"/>
              </a:spcAft>
              <a:defRPr sz="1300">
                <a:solidFill>
                  <a:srgbClr val="F8FAFC"/>
                </a:solidFill>
              </a:defRPr>
            </a:pPr>
            <a:r>
              <a:t>•  Rule: Split strictly by PATIENT, NEVER by row or time window</a:t>
            </a:r>
          </a:p>
          <a:p>
            <a:pPr>
              <a:spcAft>
                <a:spcPts val="300"/>
              </a:spcAft>
              <a:defRPr sz="1300">
                <a:solidFill>
                  <a:srgbClr val="F8FAFC"/>
                </a:solidFill>
              </a:defRPr>
            </a:pPr>
            <a:r>
              <a:t>•  Code Box: Leakage Prevention Unit Tests</a:t>
            </a:r>
          </a:p>
          <a:p>
            <a:pPr>
              <a:spcAft>
                <a:spcPts val="300"/>
              </a:spcAft>
              <a:defRPr sz="1300">
                <a:solidFill>
                  <a:srgbClr val="F8FAFC"/>
                </a:solidFill>
              </a:defRPr>
            </a:pPr>
            <a:r>
              <a:t>•  `test_zero_leakage_hidden_sensor()`: Programmatically alters hidden sensor values and asserts zero change in feature vectors.</a:t>
            </a:r>
          </a:p>
          <a:p>
            <a:pPr>
              <a:spcAft>
                <a:spcPts val="300"/>
              </a:spcAft>
              <a:defRPr sz="1300">
                <a:solidFill>
                  <a:srgbClr val="F8FAFC"/>
                </a:solidFill>
              </a:defRPr>
            </a:pPr>
            <a:r>
              <a:t>•  Pre-Registration Hash: Dated git commits in `docs/PREREGISTRATION.md`</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19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Algorithmic Core: The Augmented E-DES Physiological Engine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Physiological Diagram: Four Biological Compartments:</a:t>
            </a:r>
          </a:p>
          <a:p>
            <a:pPr>
              <a:spcAft>
                <a:spcPts val="300"/>
              </a:spcAft>
              <a:defRPr sz="1300">
                <a:solidFill>
                  <a:srgbClr val="94A3B8"/>
                </a:solidFill>
              </a:defRPr>
            </a:pPr>
            <a:r>
              <a:t>1. Gut Glucose ($Q_{gut}$): Meal ingestion, enzymatic breakdown, gastric emptying</a:t>
            </a:r>
          </a:p>
          <a:p>
            <a:pPr>
              <a:spcAft>
                <a:spcPts val="300"/>
              </a:spcAft>
              <a:defRPr sz="1300">
                <a:solidFill>
                  <a:srgbClr val="94A3B8"/>
                </a:solidFill>
              </a:defRPr>
            </a:pPr>
            <a:r>
              <a:t>2. Plasma Glucose ($G_p$): Balance of gut absorption, basal hepatic production, renal clearance, and insulin-dependent uptake</a:t>
            </a:r>
          </a:p>
          <a:p>
            <a:pPr>
              <a:spcAft>
                <a:spcPts val="300"/>
              </a:spcAft>
              <a:defRPr sz="1300">
                <a:solidFill>
                  <a:srgbClr val="94A3B8"/>
                </a:solidFill>
              </a:defRPr>
            </a:pPr>
            <a:r>
              <a:t>3. Plasma Insulin ($I_p$): Endogenous pancreatic beta-cell secretion (proportional + derivative response) and systemic clearance</a:t>
            </a:r>
          </a:p>
          <a:p>
            <a:pPr>
              <a:spcAft>
                <a:spcPts val="300"/>
              </a:spcAft>
              <a:defRPr sz="1300">
                <a:solidFill>
                  <a:srgbClr val="94A3B8"/>
                </a:solidFill>
              </a:defRPr>
            </a:pPr>
            <a:r>
              <a:t>4. Interstitial Glucose ($G_{sub}$): Diffusion equilibrium between capillary bed and subcutaneous tissue (sensor interface)</a:t>
            </a:r>
          </a:p>
          <a:p>
            <a:pPr>
              <a:spcAft>
                <a:spcPts val="300"/>
              </a:spcAft>
              <a:defRPr sz="1300">
                <a:solidFill>
                  <a:srgbClr val="F8FAFC"/>
                </a:solidFill>
              </a:defRPr>
            </a:pPr>
            <a:r>
              <a:t>•  Reference: Maas et al. (2015), Erdos et al. (2023), implemented in `src/chhaya/twin/model.py`.</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Mathematical Compartments &amp; Governing Differential Equations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System of Ordinary Differential Equations (ODEs):</a:t>
            </a:r>
          </a:p>
          <a:p>
            <a:pPr>
              <a:spcAft>
                <a:spcPts val="300"/>
              </a:spcAft>
              <a:defRPr sz="1300">
                <a:solidFill>
                  <a:srgbClr val="94A3B8"/>
                </a:solidFill>
              </a:defRPr>
            </a:pPr>
            <a:r>
              <a:t>$$\frac{dQ_{gut}}{dt} = -k_1 \cdot Q_{gut}(t) + \text{Meal}(t)$$</a:t>
            </a:r>
          </a:p>
          <a:p>
            <a:pPr>
              <a:spcAft>
                <a:spcPts val="300"/>
              </a:spcAft>
              <a:defRPr sz="1300">
                <a:solidFill>
                  <a:srgbClr val="94A3B8"/>
                </a:solidFill>
              </a:defRPr>
            </a:pPr>
            <a:r>
              <a:t>$$\frac{dG_p}{dt} = \frac{f \cdot k_2 \cdot Q_{gut}}{V_g} + G_{liv}(t) - (k_3 + k_4 I_p(t)) \cdot G_p(t) - R_{renal}(G_p) - U_{ex}(t)$$</a:t>
            </a:r>
          </a:p>
          <a:p>
            <a:pPr>
              <a:spcAft>
                <a:spcPts val="300"/>
              </a:spcAft>
              <a:defRPr sz="1300">
                <a:solidFill>
                  <a:srgbClr val="94A3B8"/>
                </a:solidFill>
              </a:defRPr>
            </a:pPr>
            <a:r>
              <a:t>$$\frac{dI_p}{dt} = \beta \cdot [k_7 (G_p - G_b)^+ + k_8 \frac{dG_p}{dt}^+] - k_9 I_p(t)$$</a:t>
            </a:r>
          </a:p>
          <a:p>
            <a:pPr>
              <a:spcAft>
                <a:spcPts val="300"/>
              </a:spcAft>
              <a:defRPr sz="1300">
                <a:solidFill>
                  <a:srgbClr val="94A3B8"/>
                </a:solidFill>
              </a:defRPr>
            </a:pPr>
            <a:r>
              <a:t>$$\frac{dG_{sub}}{dt} = \frac{G_p(t) - G_{sub}(t)}{\tau_g}$$</a:t>
            </a:r>
          </a:p>
          <a:p>
            <a:pPr>
              <a:spcAft>
                <a:spcPts val="300"/>
              </a:spcAft>
              <a:defRPr sz="1300">
                <a:solidFill>
                  <a:srgbClr val="F8FAFC"/>
                </a:solidFill>
              </a:defRPr>
            </a:pPr>
            <a:r>
              <a:t>•  Annotation: Captures renal threshold ($G_{th} = 10.0$ mmol/L) and derivative beta-cell secretion.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Seven Personal Biological Parameters ($\theta$)</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Table: The 7 Personal Metabolic Parameters in `chhaya.twin.model`:</a:t>
            </a:r>
          </a:p>
          <a:p>
            <a:pPr>
              <a:spcAft>
                <a:spcPts val="300"/>
              </a:spcAft>
              <a:defRPr sz="1300">
                <a:solidFill>
                  <a:srgbClr val="94A3B8"/>
                </a:solidFill>
              </a:defRPr>
            </a:pPr>
            <a:r>
              <a:t>| Parameter | Physiological Meaning | Transformation | Biological Prior |</a:t>
            </a:r>
          </a:p>
          <a:p>
            <a:pPr>
              <a:spcAft>
                <a:spcPts val="300"/>
              </a:spcAft>
              <a:defRPr sz="1300">
                <a:solidFill>
                  <a:srgbClr val="94A3B8"/>
                </a:solidFill>
              </a:defRPr>
            </a:pPr>
            <a:r>
              <a:t>|---|---|---|---|</a:t>
            </a:r>
          </a:p>
          <a:p>
            <a:pPr>
              <a:spcAft>
                <a:spcPts val="300"/>
              </a:spcAft>
              <a:defRPr sz="1300">
                <a:solidFill>
                  <a:srgbClr val="94A3B8"/>
                </a:solidFill>
              </a:defRPr>
            </a:pPr>
            <a:r>
              <a:t>| `log_k1` | Gastric emptying rate | Logarithmic | Normal(-3.9, 0.4) |</a:t>
            </a:r>
          </a:p>
          <a:p>
            <a:pPr>
              <a:spcAft>
                <a:spcPts val="300"/>
              </a:spcAft>
              <a:defRPr sz="1300">
                <a:solidFill>
                  <a:srgbClr val="94A3B8"/>
                </a:solidFill>
              </a:defRPr>
            </a:pPr>
            <a:r>
              <a:t>| `logit_fit` | Peripheral insulin sensitivity | Logit bounded (0,1) | Normal(0.0, 0.5) |</a:t>
            </a:r>
          </a:p>
          <a:p>
            <a:pPr>
              <a:spcAft>
                <a:spcPts val="300"/>
              </a:spcAft>
              <a:defRPr sz="1300">
                <a:solidFill>
                  <a:srgbClr val="94A3B8"/>
                </a:solidFill>
              </a:defRPr>
            </a:pPr>
            <a:r>
              <a:t>| `log_k6` | Insulin-independent uptake rate | Logarithmic | Normal(-2.3, 0.3) |</a:t>
            </a:r>
          </a:p>
          <a:p>
            <a:pPr>
              <a:spcAft>
                <a:spcPts val="300"/>
              </a:spcAft>
              <a:defRPr sz="1300">
                <a:solidFill>
                  <a:srgbClr val="94A3B8"/>
                </a:solidFill>
              </a:defRPr>
            </a:pPr>
            <a:r>
              <a:t>| `log_gb` | Basal fasting glucose | Logarithmic | From Fasting Lab / CGM |</a:t>
            </a:r>
          </a:p>
          <a:p>
            <a:pPr>
              <a:spcAft>
                <a:spcPts val="300"/>
              </a:spcAft>
              <a:defRPr sz="1300">
                <a:solidFill>
                  <a:srgbClr val="94A3B8"/>
                </a:solidFill>
              </a:defRPr>
            </a:pPr>
            <a:r>
              <a:t>| `logit_dawn` | Dawn hepatic surge amplitude | Logit bounded (0, 0.5) | Normal(-1.0, 0.5) |</a:t>
            </a:r>
          </a:p>
          <a:p>
            <a:pPr>
              <a:spcAft>
                <a:spcPts val="300"/>
              </a:spcAft>
              <a:defRPr sz="1300">
                <a:solidFill>
                  <a:srgbClr val="94A3B8"/>
                </a:solidFill>
              </a:defRPr>
            </a:pPr>
            <a:r>
              <a:t>| `log_kex` | Exercise-mediated uptake sensitivity | Logarithmic | Normal(-3.0, 0.5) |</a:t>
            </a:r>
          </a:p>
          <a:p>
            <a:pPr>
              <a:spcAft>
                <a:spcPts val="300"/>
              </a:spcAft>
              <a:defRPr sz="1300">
                <a:solidFill>
                  <a:srgbClr val="94A3B8"/>
                </a:solidFill>
              </a:defRPr>
            </a:pPr>
            <a:r>
              <a:t>| `log_bmeal` | Relative postprandial bioavailability | Logarithmic | Normal(0.0, 0.3) |</a:t>
            </a:r>
          </a:p>
          <a:p>
            <a:pPr>
              <a:spcAft>
                <a:spcPts val="300"/>
              </a:spcAft>
              <a:defRPr sz="1300">
                <a:solidFill>
                  <a:srgbClr val="F8FAFC"/>
                </a:solidFill>
              </a:defRPr>
            </a:pPr>
            <a:r>
              <a:t>•  Highlight: Identifiability ensured by constraining search space to 7 orthogonal degrees of freedom.</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Differentiable Simulation in JAX</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Architecture Box: JAX High-Performance Numerical Engine</a:t>
            </a:r>
          </a:p>
          <a:p>
            <a:pPr>
              <a:spcAft>
                <a:spcPts val="300"/>
              </a:spcAft>
              <a:defRPr sz="1300">
                <a:solidFill>
                  <a:srgbClr val="F8FAFC"/>
                </a:solidFill>
              </a:defRPr>
            </a:pPr>
            <a:r>
              <a:t>•  Just-In-Time (JIT) Compilation: `jax.jit` compiling ODE integration down to GPU/XLA native machine code</a:t>
            </a:r>
          </a:p>
          <a:p>
            <a:pPr>
              <a:spcAft>
                <a:spcPts val="300"/>
              </a:spcAft>
              <a:defRPr sz="1300">
                <a:solidFill>
                  <a:srgbClr val="F8FAFC"/>
                </a:solidFill>
              </a:defRPr>
            </a:pPr>
            <a:r>
              <a:t>•  Automatic Differentiation: `jax.grad` computing exact analytical gradients $\nabla_\theta \mathcal{L}$ without finite-difference approximations</a:t>
            </a:r>
          </a:p>
          <a:p>
            <a:pPr>
              <a:spcAft>
                <a:spcPts val="300"/>
              </a:spcAft>
              <a:defRPr sz="1300">
                <a:solidFill>
                  <a:srgbClr val="F8FAFC"/>
                </a:solidFill>
              </a:defRPr>
            </a:pPr>
            <a:r>
              <a:t>•  Vectorized Execution: `jax.vmap` enabling simultaneous multi-patient and multi-day evaluation</a:t>
            </a:r>
          </a:p>
          <a:p>
            <a:pPr>
              <a:spcAft>
                <a:spcPts val="300"/>
              </a:spcAft>
              <a:defRPr sz="1300">
                <a:solidFill>
                  <a:srgbClr val="F8FAFC"/>
                </a:solidFill>
              </a:defRPr>
            </a:pPr>
            <a:r>
              <a:t>•  Precision: 64-bit floating point (`jax_enable_x64=True`) for numerical integration stability</a:t>
            </a:r>
          </a:p>
          <a:p>
            <a:pPr>
              <a:spcAft>
                <a:spcPts val="300"/>
              </a:spcAft>
              <a:defRPr sz="1300">
                <a:solidFill>
                  <a:srgbClr val="F8FAFC"/>
                </a:solidFill>
              </a:defRPr>
            </a:pPr>
            <a:r>
              <a:t>•  Speed Comparison:</a:t>
            </a:r>
          </a:p>
          <a:p>
            <a:pPr>
              <a:spcAft>
                <a:spcPts val="300"/>
              </a:spcAft>
              <a:defRPr sz="1300">
                <a:solidFill>
                  <a:srgbClr val="F8FAFC"/>
                </a:solidFill>
              </a:defRPr>
            </a:pPr>
            <a:r>
              <a:t>•  Standard Python ODE (Scipy `solve_ivp`): ~1,400 ms per 14-day calibration</a:t>
            </a:r>
          </a:p>
          <a:p>
            <a:pPr>
              <a:spcAft>
                <a:spcPts val="300"/>
              </a:spcAft>
              <a:defRPr sz="1300">
                <a:solidFill>
                  <a:srgbClr val="F8FAFC"/>
                </a:solidFill>
              </a:defRPr>
            </a:pPr>
            <a:r>
              <a:t>•  Chhaya JAX ODE (`scan`-based Euler-Heun): ~12 ms per calibration (&gt;100x speedup)</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Bayesian Calibration: MAP Estimation &amp; Laplace Ensemble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Diagram: Maximum A Posteriori (MAP) Optimization &amp; Uncertainty Band:</a:t>
            </a:r>
          </a:p>
          <a:p>
            <a:pPr>
              <a:spcAft>
                <a:spcPts val="300"/>
              </a:spcAft>
              <a:defRPr sz="1300">
                <a:solidFill>
                  <a:srgbClr val="F8FAFC"/>
                </a:solidFill>
              </a:defRPr>
            </a:pPr>
            <a:r>
              <a:t>•  Objective Function: $\min_\theta \left[ \frac{1}{2\sigma_e^2} \sum_{t} (G_{sub}(t; \theta) - G_{cgm}(t))^2 - \log P(\theta | \text{EHR}) \right]$</a:t>
            </a:r>
          </a:p>
          <a:p>
            <a:pPr>
              <a:spcAft>
                <a:spcPts val="300"/>
              </a:spcAft>
              <a:defRPr sz="1300">
                <a:solidFill>
                  <a:srgbClr val="F8FAFC"/>
                </a:solidFill>
              </a:defRPr>
            </a:pPr>
            <a:r>
              <a:t>•  Prior $P(\theta | \text{EHR})$: Derived from static fasting blood glucose, HbA1c, and BMI</a:t>
            </a:r>
          </a:p>
          <a:p>
            <a:pPr>
              <a:spcAft>
                <a:spcPts val="300"/>
              </a:spcAft>
              <a:defRPr sz="1300">
                <a:solidFill>
                  <a:srgbClr val="F8FAFC"/>
                </a:solidFill>
              </a:defRPr>
            </a:pPr>
            <a:r>
              <a:t>•  Hessian Matrix at Mode: $H = \nabla_\theta^2 \mathcal{L}(\theta^*)$</a:t>
            </a:r>
          </a:p>
          <a:p>
            <a:pPr>
              <a:spcAft>
                <a:spcPts val="300"/>
              </a:spcAft>
              <a:defRPr sz="1300">
                <a:solidFill>
                  <a:srgbClr val="F8FAFC"/>
                </a:solidFill>
              </a:defRPr>
            </a:pPr>
            <a:r>
              <a:t>•  Laplace Approximation: $\theta \sim \mathcal{N}(\theta^*, H^{-1})$</a:t>
            </a:r>
          </a:p>
          <a:p>
            <a:pPr>
              <a:spcAft>
                <a:spcPts val="300"/>
              </a:spcAft>
              <a:defRPr sz="1300">
                <a:solidFill>
                  <a:srgbClr val="F8FAFC"/>
                </a:solidFill>
              </a:defRPr>
            </a:pPr>
            <a:r>
              <a:t>•  80% Prediction Band: Generated by drawing parameter samples from Laplace posterior and forward-simulating</a:t>
            </a:r>
          </a:p>
          <a:p>
            <a:pPr>
              <a:spcAft>
                <a:spcPts val="300"/>
              </a:spcAft>
              <a:defRPr sz="1300">
                <a:solidFill>
                  <a:srgbClr val="F8FAFC"/>
                </a:solidFill>
              </a:defRPr>
            </a:pPr>
            <a:r>
              <a:t>•  Visual: Purple shaded 80% confidence corridor surrounding the median estimate trace.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Blending Physiology with Habit: The Dual Estimate Architecture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Formula &amp; Concept Diagram:</a:t>
            </a:r>
          </a:p>
          <a:p>
            <a:pPr>
              <a:spcAft>
                <a:spcPts val="300"/>
              </a:spcAft>
              <a:defRPr sz="1300">
                <a:solidFill>
                  <a:srgbClr val="94A3B8"/>
                </a:solidFill>
              </a:defRPr>
            </a:pPr>
            <a:r>
              <a:t>$$\hat{G}_{\text{twin}}(t) = 0.50 \cdot G_{\text{physiological}}(t) + 0.50 \cdot G_{\text{average\_day}}(t)$$</a:t>
            </a:r>
          </a:p>
          <a:p>
            <a:pPr>
              <a:spcAft>
                <a:spcPts val="300"/>
              </a:spcAft>
              <a:defRPr sz="1300">
                <a:solidFill>
                  <a:srgbClr val="F8FAFC"/>
                </a:solidFill>
              </a:defRPr>
            </a:pPr>
            <a:r>
              <a:t>•  Component 1: Physiological ODE Simulation ($G_{\text{physiological}}$)</a:t>
            </a:r>
          </a:p>
          <a:p>
            <a:pPr>
              <a:spcAft>
                <a:spcPts val="300"/>
              </a:spcAft>
              <a:defRPr sz="1300">
                <a:solidFill>
                  <a:srgbClr val="F8FAFC"/>
                </a:solidFill>
              </a:defRPr>
            </a:pPr>
            <a:r>
              <a:t>•  Knows what the patient ate *today* (carbohydrate grams, meal timing, exercise)</a:t>
            </a:r>
          </a:p>
          <a:p>
            <a:pPr>
              <a:spcAft>
                <a:spcPts val="300"/>
              </a:spcAft>
              <a:defRPr sz="1300">
                <a:solidFill>
                  <a:srgbClr val="F8FAFC"/>
                </a:solidFill>
              </a:defRPr>
            </a:pPr>
            <a:r>
              <a:t>•  Captures acute postprandial excursions</a:t>
            </a:r>
          </a:p>
          <a:p>
            <a:pPr>
              <a:spcAft>
                <a:spcPts val="300"/>
              </a:spcAft>
              <a:defRPr sz="1300">
                <a:solidFill>
                  <a:srgbClr val="F8FAFC"/>
                </a:solidFill>
              </a:defRPr>
            </a:pPr>
            <a:r>
              <a:t>•  Component 2: Patient's Own Average Day ($G_{\text{average\_day}}$)</a:t>
            </a:r>
          </a:p>
          <a:p>
            <a:pPr>
              <a:spcAft>
                <a:spcPts val="300"/>
              </a:spcAft>
              <a:defRPr sz="1300">
                <a:solidFill>
                  <a:srgbClr val="F8FAFC"/>
                </a:solidFill>
              </a:defRPr>
            </a:pPr>
            <a:r>
              <a:t>•  Non-parametric binned median daily profile learned from the 14-day wear</a:t>
            </a:r>
          </a:p>
          <a:p>
            <a:pPr>
              <a:spcAft>
                <a:spcPts val="300"/>
              </a:spcAft>
              <a:defRPr sz="1300">
                <a:solidFill>
                  <a:srgbClr val="F8FAFC"/>
                </a:solidFill>
              </a:defRPr>
            </a:pPr>
            <a:r>
              <a:t>•  Knows habitual baseline habits, unlogged snacks, and unmeasured metabolic rhythms</a:t>
            </a:r>
          </a:p>
          <a:p>
            <a:pPr>
              <a:spcAft>
                <a:spcPts val="300"/>
              </a:spcAft>
              <a:defRPr sz="1300">
                <a:solidFill>
                  <a:srgbClr val="F8FAFC"/>
                </a:solidFill>
              </a:defRPr>
            </a:pPr>
            <a:r>
              <a:t>•  Graph: Showing how the blend smooths unlogged events while tracking real meal peaks.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Sparse Data Assimilation: The Fingerstick Filter</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Filter Architecture Diagram:</a:t>
            </a:r>
          </a:p>
          <a:p>
            <a:pPr>
              <a:spcAft>
                <a:spcPts val="300"/>
              </a:spcAft>
              <a:defRPr sz="1300">
                <a:solidFill>
                  <a:srgbClr val="F8FAFC"/>
                </a:solidFill>
              </a:defRPr>
            </a:pPr>
            <a:r>
              <a:t>•  Input: Capillary fingerstick arrival at time $t_k$</a:t>
            </a:r>
          </a:p>
          <a:p>
            <a:pPr>
              <a:spcAft>
                <a:spcPts val="300"/>
              </a:spcAft>
              <a:defRPr sz="1300">
                <a:solidFill>
                  <a:srgbClr val="F8FAFC"/>
                </a:solidFill>
              </a:defRPr>
            </a:pPr>
            <a:r>
              <a:t>•  Innovation / Error: $\Delta G = G_{\text{stick}}(t_k) - \hat{G}_{\text{twin}}(t_k)$</a:t>
            </a:r>
          </a:p>
          <a:p>
            <a:pPr>
              <a:spcAft>
                <a:spcPts val="300"/>
              </a:spcAft>
              <a:defRPr sz="1300">
                <a:solidFill>
                  <a:srgbClr val="F8FAFC"/>
                </a:solidFill>
              </a:defRPr>
            </a:pPr>
            <a:r>
              <a:t>•  Exponential Nudge Filter:</a:t>
            </a:r>
          </a:p>
          <a:p>
            <a:pPr>
              <a:spcAft>
                <a:spcPts val="300"/>
              </a:spcAft>
              <a:defRPr sz="1300">
                <a:solidFill>
                  <a:srgbClr val="94A3B8"/>
                </a:solidFill>
              </a:defRPr>
            </a:pPr>
            <a:r>
              <a:t>$$\hat{G}_{\text{assimilated}}(t) = \hat{G}_{\text{twin}}(t) + \Delta G \cdot \exp\left(-\frac{t - t_k}{\tau_{\text{decay}}}\right)$$</a:t>
            </a:r>
          </a:p>
          <a:p>
            <a:pPr>
              <a:spcAft>
                <a:spcPts val="300"/>
              </a:spcAft>
              <a:defRPr sz="1300">
                <a:solidFill>
                  <a:srgbClr val="F8FAFC"/>
                </a:solidFill>
              </a:defRPr>
            </a:pPr>
            <a:r>
              <a:t>•  Decay Constant: $\tau_{\text{decay}} \approx 120$ minutes (2 hours)</a:t>
            </a:r>
          </a:p>
          <a:p>
            <a:pPr>
              <a:spcAft>
                <a:spcPts val="300"/>
              </a:spcAft>
              <a:defRPr sz="1300">
                <a:solidFill>
                  <a:srgbClr val="F8FAFC"/>
                </a:solidFill>
              </a:defRPr>
            </a:pPr>
            <a:r>
              <a:t>•  Uncertainty Adjustment: Uncertainty band expands as time elapsed since last fingerstick grows</a:t>
            </a:r>
          </a:p>
          <a:p>
            <a:pPr>
              <a:spcAft>
                <a:spcPts val="300"/>
              </a:spcAft>
              <a:defRPr sz="1300">
                <a:solidFill>
                  <a:srgbClr val="F8FAFC"/>
                </a:solidFill>
              </a:defRPr>
            </a:pPr>
            <a:r>
              <a:t>•  Graph: Fingerstick diamond nudges the purple estimate curve, which gently relaxes back to baseline over 2 hours.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Pre-Registration Rigor: The 9 Pre-Specified Experimental Bars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Document Graphic: Excerpt from `docs/PREREGISTRATION.md`</a:t>
            </a:r>
          </a:p>
          <a:p>
            <a:pPr>
              <a:spcAft>
                <a:spcPts val="300"/>
              </a:spcAft>
              <a:defRPr sz="1300">
                <a:solidFill>
                  <a:srgbClr val="F8FAFC"/>
                </a:solidFill>
              </a:defRPr>
            </a:pPr>
            <a:r>
              <a:t>•  Registered Hypothesis Table:</a:t>
            </a:r>
          </a:p>
          <a:p>
            <a:pPr>
              <a:spcAft>
                <a:spcPts val="300"/>
              </a:spcAft>
              <a:defRPr sz="1300">
                <a:solidFill>
                  <a:srgbClr val="F8FAFC"/>
                </a:solidFill>
              </a:defRPr>
            </a:pPr>
            <a:r>
              <a:t>•  9 specific mathematical benchmarks committed to Git BEFORE unmasking test sets</a:t>
            </a:r>
          </a:p>
          <a:p>
            <a:pPr>
              <a:spcAft>
                <a:spcPts val="300"/>
              </a:spcAft>
              <a:defRPr sz="1300">
                <a:solidFill>
                  <a:srgbClr val="F8FAFC"/>
                </a:solidFill>
              </a:defRPr>
            </a:pPr>
            <a:r>
              <a:t>•  Formal statistical significance thresholds ($p &lt; 0.05$, paired Wilcoxon tests)</a:t>
            </a:r>
          </a:p>
          <a:p>
            <a:pPr>
              <a:spcAft>
                <a:spcPts val="300"/>
              </a:spcAft>
              <a:defRPr sz="1300">
                <a:solidFill>
                  <a:srgbClr val="F8FAFC"/>
                </a:solidFill>
              </a:defRPr>
            </a:pPr>
            <a:r>
              <a:t>•  Strict success criteria defined across both cohorts</a:t>
            </a:r>
          </a:p>
          <a:p>
            <a:pPr>
              <a:spcAft>
                <a:spcPts val="300"/>
              </a:spcAft>
              <a:defRPr sz="1300">
                <a:solidFill>
                  <a:srgbClr val="F8FAFC"/>
                </a:solidFill>
              </a:defRPr>
            </a:pPr>
            <a:r>
              <a:t>•  Summary Scorecard:</a:t>
            </a:r>
          </a:p>
          <a:p>
            <a:pPr>
              <a:spcAft>
                <a:spcPts val="300"/>
              </a:spcAft>
              <a:defRPr sz="1300" b="1">
                <a:solidFill>
                  <a:srgbClr val="10B981"/>
                </a:solidFill>
              </a:defRPr>
            </a:pPr>
            <a:r>
              <a:t>•  **5 BARS PASSED**</a:t>
            </a:r>
          </a:p>
          <a:p>
            <a:pPr>
              <a:spcAft>
                <a:spcPts val="300"/>
              </a:spcAft>
              <a:defRPr sz="1300" b="1">
                <a:solidFill>
                  <a:srgbClr val="F59E0B"/>
                </a:solidFill>
              </a:defRPr>
            </a:pPr>
            <a:r>
              <a:t>•  **4 BARS MISSED**</a:t>
            </a:r>
          </a:p>
          <a:p>
            <a:pPr>
              <a:spcAft>
                <a:spcPts val="300"/>
              </a:spcAft>
              <a:defRPr sz="1300">
                <a:solidFill>
                  <a:srgbClr val="F8FAFC"/>
                </a:solidFill>
              </a:defRPr>
            </a:pPr>
            <a:r>
              <a:t>•  Banner: "Radical Transparency: Misses are prominently featured on our dashboard, not buried in footnotes."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evidence.png"/>
          <p:cNvPicPr>
            <a:picLocks noChangeAspect="1"/>
          </p:cNvPicPr>
          <p:nvPr/>
        </p:nvPicPr>
        <p:blipFill>
          <a:blip r:embed="rId3"/>
          <a:stretch>
            <a:fillRect/>
          </a:stretch>
        </p:blipFill>
        <p:spPr>
          <a:xfrm>
            <a:off x="6400800" y="1828800"/>
            <a:ext cx="4937760" cy="428625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Adverse Event Prediction 1: The Reveal &amp; 2-Hour Excursion Foresight</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b="1">
                <a:solidFill>
                  <a:srgbClr val="10B981"/>
                </a:solidFill>
              </a:defRPr>
            </a:pPr>
            <a:r>
              <a:t>•  Results Card: **Gate 2 Evaluation (PASSED)**</a:t>
            </a:r>
          </a:p>
          <a:p>
            <a:pPr>
              <a:spcAft>
                <a:spcPts val="300"/>
              </a:spcAft>
              <a:defRPr sz="1300">
                <a:solidFill>
                  <a:srgbClr val="F8FAFC"/>
                </a:solidFill>
              </a:defRPr>
            </a:pPr>
            <a:r>
              <a:t>•  Cohort: 19 held-out free-living CGMacros participants (7 Type 2 Diabetes, 7 Prediabetes, 5 Healthy)</a:t>
            </a:r>
          </a:p>
          <a:p>
            <a:pPr>
              <a:spcAft>
                <a:spcPts val="300"/>
              </a:spcAft>
              <a:defRPr sz="1300">
                <a:solidFill>
                  <a:srgbClr val="F8FAFC"/>
                </a:solidFill>
              </a:defRPr>
            </a:pPr>
            <a:r>
              <a:t>•  Split: 5 days post-sensor removal (calibration on initial days, sensor hidden for 5 days)</a:t>
            </a:r>
          </a:p>
          <a:p>
            <a:pPr>
              <a:spcAft>
                <a:spcPts val="300"/>
              </a:spcAft>
              <a:defRPr sz="1300">
                <a:solidFill>
                  <a:srgbClr val="F8FAFC"/>
                </a:solidFill>
              </a:defRPr>
            </a:pPr>
            <a:r>
              <a:t>•  Metric: Root Mean Squared Error (RMSE) against hidden ground truth sensor</a:t>
            </a:r>
          </a:p>
          <a:p>
            <a:pPr>
              <a:spcAft>
                <a:spcPts val="300"/>
              </a:spcAft>
              <a:defRPr sz="1300">
                <a:solidFill>
                  <a:srgbClr val="F8FAFC"/>
                </a:solidFill>
              </a:defRPr>
            </a:pPr>
            <a:r>
              <a:t>•  Findings:</a:t>
            </a:r>
          </a:p>
          <a:p>
            <a:pPr>
              <a:spcAft>
                <a:spcPts val="300"/>
              </a:spcAft>
              <a:defRPr sz="1300">
                <a:solidFill>
                  <a:srgbClr val="F8FAFC"/>
                </a:solidFill>
              </a:defRPr>
            </a:pPr>
            <a:r>
              <a:t>•  Twin RMSE was **1.4 mg/dL closer** to hidden sensor than patient's own average day ($p = 4.0 \times 10^{-5}$)</a:t>
            </a:r>
          </a:p>
          <a:p>
            <a:pPr>
              <a:spcAft>
                <a:spcPts val="300"/>
              </a:spcAft>
              <a:defRPr sz="1300">
                <a:solidFill>
                  <a:srgbClr val="F8FAFC"/>
                </a:solidFill>
              </a:defRPr>
            </a:pPr>
            <a:r>
              <a:t>•  Twin RMSE was **0.35 mg/dL closer** than control with no meal logs ($p = 0.04$)</a:t>
            </a:r>
          </a:p>
          <a:p>
            <a:pPr>
              <a:spcAft>
                <a:spcPts val="300"/>
              </a:spcAft>
              <a:defRPr sz="1300">
                <a:solidFill>
                  <a:srgbClr val="F8FAFC"/>
                </a:solidFill>
              </a:defRPr>
            </a:pPr>
            <a:r>
              <a:t>•  Median improvement held positive across each of the 7 following days (0.4 to 2.0 mg/dL)</a:t>
            </a:r>
          </a:p>
          <a:p>
            <a:pPr>
              <a:spcAft>
                <a:spcPts val="300"/>
              </a:spcAft>
              <a:defRPr sz="1300">
                <a:solidFill>
                  <a:srgbClr val="F8FAFC"/>
                </a:solidFill>
              </a:defRPr>
            </a:pPr>
            <a:r>
              <a:t>•  Plot: Per-participant scatter showing RMSE reduction across diagnosis groups.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te2-by-group.png"/>
          <p:cNvPicPr>
            <a:picLocks noChangeAspect="1"/>
          </p:cNvPicPr>
          <p:nvPr/>
        </p:nvPicPr>
        <p:blipFill>
          <a:blip r:embed="rId3"/>
          <a:stretch>
            <a:fillRect/>
          </a:stretch>
        </p:blipFill>
        <p:spPr>
          <a:xfrm>
            <a:off x="6400800" y="1828800"/>
            <a:ext cx="4937760" cy="2439834"/>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Adverse Event Prediction 2: Fingerstick Assimilation Accuracy</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b="1">
                <a:solidFill>
                  <a:srgbClr val="10B981"/>
                </a:solidFill>
              </a:defRPr>
            </a:pPr>
            <a:r>
              <a:t>•  Results Card: **Fingerstick Assimilation Experiment (PASSED)**</a:t>
            </a:r>
          </a:p>
          <a:p>
            <a:pPr>
              <a:spcAft>
                <a:spcPts val="300"/>
              </a:spcAft>
              <a:defRPr sz="1300">
                <a:solidFill>
                  <a:srgbClr val="F8FAFC"/>
                </a:solidFill>
              </a:defRPr>
            </a:pPr>
            <a:r>
              <a:t>•  Cohort: 29 held-out ShanghaiT2DM patients under supervised care (~6 fingersticks/day)</a:t>
            </a:r>
          </a:p>
          <a:p>
            <a:pPr>
              <a:spcAft>
                <a:spcPts val="300"/>
              </a:spcAft>
              <a:defRPr sz="1300">
                <a:solidFill>
                  <a:srgbClr val="F8FAFC"/>
                </a:solidFill>
              </a:defRPr>
            </a:pPr>
            <a:r>
              <a:t>•  Calibration: 3 days of sensor data; remaining days evaluated with fingerstick assimilation</a:t>
            </a:r>
          </a:p>
          <a:p>
            <a:pPr>
              <a:spcAft>
                <a:spcPts val="300"/>
              </a:spcAft>
              <a:defRPr sz="1300">
                <a:solidFill>
                  <a:srgbClr val="F8FAFC"/>
                </a:solidFill>
              </a:defRPr>
            </a:pPr>
            <a:r>
              <a:t>•  Findings:</a:t>
            </a:r>
          </a:p>
          <a:p>
            <a:pPr>
              <a:spcAft>
                <a:spcPts val="300"/>
              </a:spcAft>
              <a:defRPr sz="1300">
                <a:solidFill>
                  <a:srgbClr val="F8FAFC"/>
                </a:solidFill>
              </a:defRPr>
            </a:pPr>
            <a:r>
              <a:t>•  Running estimate was **2.8 mg/dL closer** to hidden sensor than daily shape alone ($p = 4.0 \times 10^{-6}$)</a:t>
            </a:r>
          </a:p>
          <a:p>
            <a:pPr>
              <a:spcAft>
                <a:spcPts val="300"/>
              </a:spcAft>
              <a:defRPr sz="1300">
                <a:solidFill>
                  <a:srgbClr val="F8FAFC"/>
                </a:solidFill>
              </a:defRPr>
            </a:pPr>
            <a:r>
              <a:t>•  95% Confidence Interval: [1.6 to 4.7 mg/dL improvement]</a:t>
            </a:r>
          </a:p>
          <a:p>
            <a:pPr>
              <a:spcAft>
                <a:spcPts val="300"/>
              </a:spcAft>
              <a:defRPr sz="1300">
                <a:solidFill>
                  <a:srgbClr val="F8FAFC"/>
                </a:solidFill>
              </a:defRPr>
            </a:pPr>
            <a:r>
              <a:t>•  Success rate: 86% of patients demonstrated positive error reduction</a:t>
            </a:r>
          </a:p>
          <a:p>
            <a:pPr>
              <a:spcAft>
                <a:spcPts val="300"/>
              </a:spcAft>
              <a:defRPr sz="1300">
                <a:solidFill>
                  <a:srgbClr val="F8FAFC"/>
                </a:solidFill>
              </a:defRPr>
            </a:pPr>
            <a:r>
              <a:t>•  In hindsight reconstruction (full report mean): **9.5 mg/dL closer** (CI: 4.6 to 12.1 mg/dL)</a:t>
            </a:r>
          </a:p>
          <a:p>
            <a:pPr>
              <a:spcAft>
                <a:spcPts val="300"/>
              </a:spcAft>
              <a:defRPr sz="1300">
                <a:solidFill>
                  <a:srgbClr val="F8FAFC"/>
                </a:solidFill>
              </a:defRPr>
            </a:pPr>
            <a:r>
              <a:t>•  Sensitivity: At 1 fingerstick per day, running gain was modest (+0.3 mg/dL)</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29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Honest Evaluation: Post-Meal Excursion Prediction (Gate 3)</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b="1">
                <a:solidFill>
                  <a:srgbClr val="F59E0B"/>
                </a:solidFill>
              </a:defRPr>
            </a:pPr>
            <a:r>
              <a:t>•  Results Card: **Gate 3 Post-Meal Excursion Prediction (MISSED BARS)**</a:t>
            </a:r>
          </a:p>
          <a:p>
            <a:pPr>
              <a:spcAft>
                <a:spcPts val="300"/>
              </a:spcAft>
              <a:defRPr sz="1300">
                <a:solidFill>
                  <a:srgbClr val="F8FAFC"/>
                </a:solidFill>
              </a:defRPr>
            </a:pPr>
            <a:r>
              <a:t>•  Task: Predict postprandial glucose spike &gt;180 mg/dL 2 hours in advance at meal onset</a:t>
            </a:r>
          </a:p>
          <a:p>
            <a:pPr>
              <a:spcAft>
                <a:spcPts val="300"/>
              </a:spcAft>
              <a:defRPr sz="1300">
                <a:solidFill>
                  <a:srgbClr val="F8FAFC"/>
                </a:solidFill>
              </a:defRPr>
            </a:pPr>
            <a:r>
              <a:t>•  Cohort: 47 held-out Shanghai patients, 1,205 meals, 39% excursion prevalence</a:t>
            </a:r>
          </a:p>
          <a:p>
            <a:pPr>
              <a:spcAft>
                <a:spcPts val="300"/>
              </a:spcAft>
              <a:defRPr sz="1300">
                <a:solidFill>
                  <a:srgbClr val="F8FAFC"/>
                </a:solidFill>
              </a:defRPr>
            </a:pPr>
            <a:r>
              <a:t>•  Information Ladder Comparison:</a:t>
            </a:r>
          </a:p>
          <a:p>
            <a:pPr>
              <a:spcAft>
                <a:spcPts val="300"/>
              </a:spcAft>
              <a:defRPr sz="1300">
                <a:solidFill>
                  <a:srgbClr val="94A3B8"/>
                </a:solidFill>
              </a:defRPr>
            </a:pPr>
            <a:r>
              <a:t>| Stream Configuration | AUPRC | AUROC | Calibration Slope |</a:t>
            </a:r>
          </a:p>
          <a:p>
            <a:pPr>
              <a:spcAft>
                <a:spcPts val="300"/>
              </a:spcAft>
              <a:defRPr sz="1300">
                <a:solidFill>
                  <a:srgbClr val="94A3B8"/>
                </a:solidFill>
              </a:defRPr>
            </a:pPr>
            <a:r>
              <a:t>|---|---|---|---|</a:t>
            </a:r>
          </a:p>
          <a:p>
            <a:pPr>
              <a:spcAft>
                <a:spcPts val="300"/>
              </a:spcAft>
              <a:defRPr sz="1300">
                <a:solidFill>
                  <a:srgbClr val="94A3B8"/>
                </a:solidFill>
              </a:defRPr>
            </a:pPr>
            <a:r>
              <a:t>| Record only (EHR) | 0.566 | 0.646 | 0.52 |</a:t>
            </a:r>
          </a:p>
          <a:p>
            <a:pPr>
              <a:spcAft>
                <a:spcPts val="300"/>
              </a:spcAft>
              <a:defRPr sz="1300">
                <a:solidFill>
                  <a:srgbClr val="94A3B8"/>
                </a:solidFill>
              </a:defRPr>
            </a:pPr>
            <a:r>
              <a:t>| Sensor history only | 0.626 | 0.777 | 0.86 |</a:t>
            </a:r>
          </a:p>
          <a:p>
            <a:pPr>
              <a:spcAft>
                <a:spcPts val="300"/>
              </a:spcAft>
              <a:defRPr sz="1300">
                <a:solidFill>
                  <a:srgbClr val="94A3B8"/>
                </a:solidFill>
              </a:defRPr>
            </a:pPr>
            <a:r>
              <a:t>| **Fingersticks only** | **0.642** | **0.703** | **1.00** |</a:t>
            </a:r>
          </a:p>
          <a:p>
            <a:pPr>
              <a:spcAft>
                <a:spcPts val="300"/>
              </a:spcAft>
              <a:defRPr sz="1300">
                <a:solidFill>
                  <a:srgbClr val="94A3B8"/>
                </a:solidFill>
              </a:defRPr>
            </a:pPr>
            <a:r>
              <a:t>| Fused Model (Sensor Off) | 0.596 | 0.713 | 0.48 (Overconfident) |</a:t>
            </a:r>
          </a:p>
          <a:p>
            <a:pPr>
              <a:spcAft>
                <a:spcPts val="300"/>
              </a:spcAft>
              <a:defRPr sz="1300">
                <a:solidFill>
                  <a:srgbClr val="94A3B8"/>
                </a:solidFill>
              </a:defRPr>
            </a:pPr>
            <a:r>
              <a:t>| Reference (Sensor Active) | 0.760 | 0.816 | 0.77 |</a:t>
            </a:r>
          </a:p>
          <a:p>
            <a:pPr>
              <a:spcAft>
                <a:spcPts val="300"/>
              </a:spcAft>
              <a:defRPr sz="1300">
                <a:solidFill>
                  <a:srgbClr val="F8FAFC"/>
                </a:solidFill>
              </a:defRPr>
            </a:pPr>
            <a:r>
              <a:t>•  Bar Outcome: "Missed — Fused model did NOT beat fingersticks alone. Calibration slope of 0.48 indicates severe overconfidence; therefore, no meal alert probabilities are shown on the dashboard."</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30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Honest Evaluation: The Health Record as Twin Prior</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b="1">
                <a:solidFill>
                  <a:srgbClr val="F59E0B"/>
                </a:solidFill>
              </a:defRPr>
            </a:pPr>
            <a:r>
              <a:t>•  Results Card: **Record Prior Experiment (MISSED BAR)**</a:t>
            </a:r>
          </a:p>
          <a:p>
            <a:pPr>
              <a:spcAft>
                <a:spcPts val="300"/>
              </a:spcAft>
              <a:defRPr sz="1300">
                <a:solidFill>
                  <a:srgbClr val="F8FAFC"/>
                </a:solidFill>
              </a:defRPr>
            </a:pPr>
            <a:r>
              <a:t>•  Hypothesis: Conditioning the twin's prior on EHR fasting glucose and HbA1c reduces estimation error compared to population defaults</a:t>
            </a:r>
          </a:p>
          <a:p>
            <a:pPr>
              <a:spcAft>
                <a:spcPts val="300"/>
              </a:spcAft>
              <a:defRPr sz="1300">
                <a:solidFill>
                  <a:srgbClr val="F8FAFC"/>
                </a:solidFill>
              </a:defRPr>
            </a:pPr>
            <a:r>
              <a:t>•  Cohort: 20 held-out CGMacros participants evaluated with 1, 3, 5, and 7 days of sensor calibration</a:t>
            </a:r>
          </a:p>
          <a:p>
            <a:pPr>
              <a:spcAft>
                <a:spcPts val="300"/>
              </a:spcAft>
              <a:defRPr sz="1300">
                <a:solidFill>
                  <a:srgbClr val="F8FAFC"/>
                </a:solidFill>
              </a:defRPr>
            </a:pPr>
            <a:r>
              <a:t>•  Findings:</a:t>
            </a:r>
          </a:p>
          <a:p>
            <a:pPr>
              <a:spcAft>
                <a:spcPts val="300"/>
              </a:spcAft>
              <a:defRPr sz="1300">
                <a:solidFill>
                  <a:srgbClr val="F8FAFC"/>
                </a:solidFill>
              </a:defRPr>
            </a:pPr>
            <a:r>
              <a:t>•  At $k = 1$ day of sensor data: Error changed by a median of **0.02 mg/dL** ($p = 0.16$, not significant)</a:t>
            </a:r>
          </a:p>
          <a:p>
            <a:pPr>
              <a:spcAft>
                <a:spcPts val="300"/>
              </a:spcAft>
              <a:defRPr sz="1300">
                <a:solidFill>
                  <a:srgbClr val="F8FAFC"/>
                </a:solidFill>
              </a:defRPr>
            </a:pPr>
            <a:r>
              <a:t>•  At $k \ge 3$ days of sensor data: The record added **0.00 mg/dL measurable benefit**</a:t>
            </a:r>
          </a:p>
          <a:p>
            <a:pPr>
              <a:spcAft>
                <a:spcPts val="300"/>
              </a:spcAft>
              <a:defRPr sz="1300">
                <a:solidFill>
                  <a:srgbClr val="F8FAFC"/>
                </a:solidFill>
              </a:defRPr>
            </a:pPr>
            <a:r>
              <a:t>•  Clinical Takeaway:</a:t>
            </a:r>
          </a:p>
          <a:p>
            <a:pPr>
              <a:spcAft>
                <a:spcPts val="300"/>
              </a:spcAft>
              <a:defRPr sz="1300">
                <a:solidFill>
                  <a:srgbClr val="F8FAFC"/>
                </a:solidFill>
              </a:defRPr>
            </a:pPr>
            <a:r>
              <a:t>•  "Once a patient wears a continuous sensor for even 72 hours, the dynamic sensor likelihood completely overwhelms the static EHR prior. The record is valuable for context, but not for parameter tuning."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31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Staleness Detection: CUSUM Drift Monitor</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b="1">
                <a:solidFill>
                  <a:srgbClr val="10B981"/>
                </a:solidFill>
              </a:defRPr>
            </a:pPr>
            <a:r>
              <a:t>•  Results Card: **Staleness Monitor / Re-Wear Prompt (DESCRIPTIVE / PASSED DISCRIMINATION)**</a:t>
            </a:r>
          </a:p>
          <a:p>
            <a:pPr>
              <a:spcAft>
                <a:spcPts val="300"/>
              </a:spcAft>
              <a:defRPr sz="1300">
                <a:solidFill>
                  <a:srgbClr val="F8FAFC"/>
                </a:solidFill>
              </a:defRPr>
            </a:pPr>
            <a:r>
              <a:t>•  Algorithm: Cumulative Sum of Fingerstick Surprises (CUSUM)</a:t>
            </a:r>
          </a:p>
          <a:p>
            <a:pPr>
              <a:spcAft>
                <a:spcPts val="300"/>
              </a:spcAft>
              <a:defRPr sz="1300">
                <a:solidFill>
                  <a:srgbClr val="94A3B8"/>
                </a:solidFill>
              </a:defRPr>
            </a:pPr>
            <a:r>
              <a:t>$$S_t = \max\left(0, S_{t-1} + \frac{|G_{\text{stick}} - \mu_{\text{report}}|}{\sigma} - k\right)$$</a:t>
            </a:r>
          </a:p>
          <a:p>
            <a:pPr>
              <a:spcAft>
                <a:spcPts val="300"/>
              </a:spcAft>
              <a:defRPr sz="1300">
                <a:solidFill>
                  <a:srgbClr val="F8FAFC"/>
                </a:solidFill>
              </a:defRPr>
            </a:pPr>
            <a:r>
              <a:t>•  Cohort: 32 held-out Shanghai recordings (29 patients, 11 drifted by &gt;20 mg/dL, 21 stable)</a:t>
            </a:r>
          </a:p>
          <a:p>
            <a:pPr>
              <a:spcAft>
                <a:spcPts val="300"/>
              </a:spcAft>
              <a:defRPr sz="1300">
                <a:solidFill>
                  <a:srgbClr val="F8FAFC"/>
                </a:solidFill>
              </a:defRPr>
            </a:pPr>
            <a:r>
              <a:t>•  Discrimination Performance:</a:t>
            </a:r>
          </a:p>
          <a:p>
            <a:pPr>
              <a:spcAft>
                <a:spcPts val="300"/>
              </a:spcAft>
              <a:defRPr sz="1300">
                <a:solidFill>
                  <a:srgbClr val="F8FAFC"/>
                </a:solidFill>
              </a:defRPr>
            </a:pPr>
            <a:r>
              <a:t>•  CUSUM Staleness Prompt: **AUROC = 0.82** (95% CI: 0.63 to 0.98)</a:t>
            </a:r>
          </a:p>
          <a:p>
            <a:pPr>
              <a:spcAft>
                <a:spcPts val="300"/>
              </a:spcAft>
              <a:defRPr sz="1300">
                <a:solidFill>
                  <a:srgbClr val="F8FAFC"/>
                </a:solidFill>
              </a:defRPr>
            </a:pPr>
            <a:r>
              <a:t>•  Plain Fingerstick Mean vs Report Baseline: **AUROC = 0.82** (95% CI: 0.61 to 0.97)</a:t>
            </a:r>
          </a:p>
          <a:p>
            <a:pPr>
              <a:spcAft>
                <a:spcPts val="300"/>
              </a:spcAft>
              <a:defRPr sz="1300">
                <a:solidFill>
                  <a:srgbClr val="F8FAFC"/>
                </a:solidFill>
              </a:defRPr>
            </a:pPr>
            <a:r>
              <a:t>•  Detection Speed: Prompt raised at median of 2.6 days post-drift; 64% sensitivity at 10% false-alarm rate</a:t>
            </a:r>
          </a:p>
          <a:p>
            <a:pPr>
              <a:spcAft>
                <a:spcPts val="300"/>
              </a:spcAft>
              <a:defRPr sz="1300">
                <a:solidFill>
                  <a:srgbClr val="F8FAFC"/>
                </a:solidFill>
              </a:defRPr>
            </a:pPr>
            <a:r>
              <a:t>•  Honest Note: "The advanced CUSUM filter did not outperform a simple arithmetic average of fingersticks. We report this tie openly."</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C: THE TWIN — ALGORITHMIC MODEL (SLIDES 19–32)  •  SLIDE 32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Sensor Low Audit: The 12.5% Reality Check</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Results Card: **Sensor Label Validity Audit (`chhaya.data.audit`)**</a:t>
            </a:r>
          </a:p>
          <a:p>
            <a:pPr>
              <a:spcAft>
                <a:spcPts val="300"/>
              </a:spcAft>
              <a:defRPr sz="1300">
                <a:solidFill>
                  <a:srgbClr val="F8FAFC"/>
                </a:solidFill>
              </a:defRPr>
            </a:pPr>
            <a:r>
              <a:t>•  Dataset: ShanghaiT2DM full paired dataset (sensor readings with simultaneous fingerstick within 10 minutes)</a:t>
            </a:r>
          </a:p>
          <a:p>
            <a:pPr>
              <a:spcAft>
                <a:spcPts val="300"/>
              </a:spcAft>
              <a:defRPr sz="1300">
                <a:solidFill>
                  <a:srgbClr val="F8FAFC"/>
                </a:solidFill>
              </a:defRPr>
            </a:pPr>
            <a:r>
              <a:t>•  Evaluation of Hyperglycemia ($&gt; 180$ mg/dL):</a:t>
            </a:r>
          </a:p>
          <a:p>
            <a:pPr>
              <a:spcAft>
                <a:spcPts val="300"/>
              </a:spcAft>
              <a:defRPr sz="1300">
                <a:solidFill>
                  <a:srgbClr val="F8FAFC"/>
                </a:solidFill>
              </a:defRPr>
            </a:pPr>
            <a:r>
              <a:t>•  809 sensor highs analyzed → **732 confirmed by fingerstick (90.5% true positive rate)**</a:t>
            </a:r>
          </a:p>
          <a:p>
            <a:pPr>
              <a:spcAft>
                <a:spcPts val="300"/>
              </a:spcAft>
              <a:defRPr sz="1300">
                <a:solidFill>
                  <a:srgbClr val="F8FAFC"/>
                </a:solidFill>
              </a:defRPr>
            </a:pPr>
            <a:r>
              <a:t>•  Evaluation of Hypoglycemia ($&lt; 70$ mg/dL):</a:t>
            </a:r>
          </a:p>
          <a:p>
            <a:pPr>
              <a:spcAft>
                <a:spcPts val="300"/>
              </a:spcAft>
              <a:defRPr sz="1300">
                <a:solidFill>
                  <a:srgbClr val="F8FAFC"/>
                </a:solidFill>
              </a:defRPr>
            </a:pPr>
            <a:r>
              <a:t>•  64 sensor lows analyzed → **ONLY 8 confirmed by fingerstick (12.5% true positive rate!)**</a:t>
            </a:r>
          </a:p>
          <a:p>
            <a:pPr>
              <a:spcAft>
                <a:spcPts val="300"/>
              </a:spcAft>
              <a:defRPr sz="1300">
                <a:solidFill>
                  <a:srgbClr val="F8FAFC"/>
                </a:solidFill>
              </a:defRPr>
            </a:pPr>
            <a:r>
              <a:t>•  Nocturnal sensor lows ($&lt; 70$ mg/dL at night): **0 of 9 confirmed (0.0% true positive rate!)**</a:t>
            </a:r>
          </a:p>
          <a:p>
            <a:pPr>
              <a:spcAft>
                <a:spcPts val="300"/>
              </a:spcAft>
              <a:defRPr sz="1300">
                <a:solidFill>
                  <a:srgbClr val="F8FAFC"/>
                </a:solidFill>
              </a:defRPr>
            </a:pPr>
            <a:r>
              <a:t>•  Design Consequence:</a:t>
            </a:r>
          </a:p>
          <a:p>
            <a:pPr>
              <a:spcAft>
                <a:spcPts val="300"/>
              </a:spcAft>
              <a:defRPr sz="1300">
                <a:solidFill>
                  <a:srgbClr val="F8FAFC"/>
                </a:solidFill>
              </a:defRPr>
            </a:pPr>
            <a:r>
              <a:t>•  Sensor compression artifacts cause massive false lows.</a:t>
            </a:r>
          </a:p>
          <a:p>
            <a:pPr>
              <a:spcAft>
                <a:spcPts val="300"/>
              </a:spcAft>
              <a:defRPr sz="1300">
                <a:solidFill>
                  <a:srgbClr val="F8FAFC"/>
                </a:solidFill>
              </a:defRPr>
            </a:pPr>
            <a:r>
              <a:t>•  Chhaya labels all sensor lows on UI as: **"Sensor low, unconfirmed"**. No low-glucose alarms are ever issued.</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Clinical Interaction Paradigm: The 10-Second Cognitive Load Principle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UI Design Principles:</a:t>
            </a:r>
          </a:p>
          <a:p>
            <a:pPr>
              <a:spcAft>
                <a:spcPts val="300"/>
              </a:spcAft>
              <a:defRPr sz="1300">
                <a:solidFill>
                  <a:srgbClr val="94A3B8"/>
                </a:solidFill>
              </a:defRPr>
            </a:pPr>
            <a:r>
              <a:t>1. Built for the 10-Second Diabetologist Scan</a:t>
            </a:r>
          </a:p>
          <a:p>
            <a:pPr>
              <a:spcAft>
                <a:spcPts val="300"/>
              </a:spcAft>
              <a:defRPr sz="1300">
                <a:solidFill>
                  <a:srgbClr val="94A3B8"/>
                </a:solidFill>
              </a:defRPr>
            </a:pPr>
            <a:r>
              <a:t>2. Zero Computing in the Browser: Runs offline from static pre-computed JSON bundles (`chhaya.build`)</a:t>
            </a:r>
          </a:p>
          <a:p>
            <a:pPr>
              <a:spcAft>
                <a:spcPts val="300"/>
              </a:spcAft>
              <a:defRPr sz="1300">
                <a:solidFill>
                  <a:srgbClr val="94A3B8"/>
                </a:solidFill>
              </a:defRPr>
            </a:pPr>
            <a:r>
              <a:t>3. Honest Uncertainty is the Primary Visual: Estimates are never drawn without their 80% band</a:t>
            </a:r>
          </a:p>
          <a:p>
            <a:pPr>
              <a:spcAft>
                <a:spcPts val="300"/>
              </a:spcAft>
              <a:defRPr sz="1300">
                <a:solidFill>
                  <a:srgbClr val="94A3B8"/>
                </a:solidFill>
              </a:defRPr>
            </a:pPr>
            <a:r>
              <a:t>4. The "Reveal" is the Core Interaction: Shadow first, reality revealed on toggle</a:t>
            </a:r>
          </a:p>
          <a:p>
            <a:pPr>
              <a:spcAft>
                <a:spcPts val="300"/>
              </a:spcAft>
              <a:defRPr sz="1300">
                <a:solidFill>
                  <a:srgbClr val="94A3B8"/>
                </a:solidFill>
              </a:defRPr>
            </a:pPr>
            <a:r>
              <a:t>5. Actionable Prompts About the *Report*, Never Dangerous Directives About the *Patient*</a:t>
            </a:r>
          </a:p>
          <a:p>
            <a:pPr>
              <a:spcAft>
                <a:spcPts val="300"/>
              </a:spcAft>
              <a:defRPr sz="1300">
                <a:solidFill>
                  <a:srgbClr val="F8FAFC"/>
                </a:solidFill>
              </a:defRPr>
            </a:pPr>
            <a:r>
              <a:t>•  Screenshot: High-level overview of the Chhaya dashboard running at `http://127.0.0.1:8765`.</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UI Technical Architecture: Zero-Latency Pre-Computed Bundle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Software Architecture Flow:</a:t>
            </a:r>
          </a:p>
          <a:p>
            <a:pPr>
              <a:spcAft>
                <a:spcPts val="300"/>
              </a:spcAft>
              <a:defRPr sz="1300">
                <a:solidFill>
                  <a:srgbClr val="F8FAFC"/>
                </a:solidFill>
              </a:defRPr>
            </a:pPr>
            <a:r>
              <a:t>•  CLI Command: `uv run python -m chhaya.build`</a:t>
            </a:r>
          </a:p>
          <a:p>
            <a:pPr>
              <a:spcAft>
                <a:spcPts val="300"/>
              </a:spcAft>
              <a:defRPr sz="1300">
                <a:solidFill>
                  <a:srgbClr val="F8FAFC"/>
                </a:solidFill>
              </a:defRPr>
            </a:pPr>
            <a:r>
              <a:t>•  Output Artifacts:</a:t>
            </a:r>
          </a:p>
          <a:p>
            <a:pPr>
              <a:spcAft>
                <a:spcPts val="300"/>
              </a:spcAft>
              <a:defRPr sz="1300">
                <a:solidFill>
                  <a:srgbClr val="F8FAFC"/>
                </a:solidFill>
              </a:defRPr>
            </a:pPr>
            <a:r>
              <a:t>•  `data/index.json` — Clinic cohort index, sorting keys, staleness flags</a:t>
            </a:r>
          </a:p>
          <a:p>
            <a:pPr>
              <a:spcAft>
                <a:spcPts val="300"/>
              </a:spcAft>
              <a:defRPr sz="1300">
                <a:solidFill>
                  <a:srgbClr val="F8FAFC"/>
                </a:solidFill>
              </a:defRPr>
            </a:pPr>
            <a:r>
              <a:t>•  `data/evidence.json` — Complete pre-registered scorecard, p-values, decision texts</a:t>
            </a:r>
          </a:p>
          <a:p>
            <a:pPr>
              <a:spcAft>
                <a:spcPts val="300"/>
              </a:spcAft>
              <a:defRPr sz="1300">
                <a:solidFill>
                  <a:srgbClr val="F8FAFC"/>
                </a:solidFill>
              </a:defRPr>
            </a:pPr>
            <a:r>
              <a:t>•  `data/patients/&lt;id&gt;.json` — Individual patient bundles (trajectories, bands, meals, what-if parameters)</a:t>
            </a:r>
          </a:p>
          <a:p>
            <a:pPr>
              <a:spcAft>
                <a:spcPts val="300"/>
              </a:spcAft>
              <a:defRPr sz="1300">
                <a:solidFill>
                  <a:srgbClr val="F8FAFC"/>
                </a:solidFill>
              </a:defRPr>
            </a:pPr>
            <a:r>
              <a:t>•  Frontend Stack: Lightweight Vanilla JavaScript, Semantic HTML5, Pure Responsive CSS</a:t>
            </a:r>
          </a:p>
          <a:p>
            <a:pPr>
              <a:spcAft>
                <a:spcPts val="300"/>
              </a:spcAft>
              <a:defRPr sz="1300">
                <a:solidFill>
                  <a:srgbClr val="F8FAFC"/>
                </a:solidFill>
              </a:defRPr>
            </a:pPr>
            <a:r>
              <a:t>•  Serving Command: `uv run python -m chhaya.dashboard` (Python native HTTP server on port 8765)</a:t>
            </a:r>
          </a:p>
          <a:p>
            <a:pPr>
              <a:spcAft>
                <a:spcPts val="300"/>
              </a:spcAft>
              <a:defRPr sz="1300">
                <a:solidFill>
                  <a:srgbClr val="F8FAFC"/>
                </a:solidFill>
              </a:defRPr>
            </a:pPr>
            <a:r>
              <a:t>•  Zero external npm/Node.js dependencies; runs completely offline in any modern browser.</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Screen 1 Walkthrough: The Multi-Patient Clinic Triage Overview</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Screenshot: **The Clinic List Screen (`#view-clinic`)**</a:t>
            </a:r>
          </a:p>
          <a:p>
            <a:pPr>
              <a:spcAft>
                <a:spcPts val="300"/>
              </a:spcAft>
              <a:defRPr sz="1300">
                <a:solidFill>
                  <a:srgbClr val="F8FAFC"/>
                </a:solidFill>
              </a:defRPr>
            </a:pPr>
            <a:r>
              <a:t>•  Table Headers: Patient Name / ID | Cohort | Last Sensor Wear | Days Since Wear | Staleness State | Excursion Risk | One-Line Clinical Reason</a:t>
            </a:r>
          </a:p>
          <a:p>
            <a:pPr>
              <a:spcAft>
                <a:spcPts val="300"/>
              </a:spcAft>
              <a:defRPr sz="1300">
                <a:solidFill>
                  <a:srgbClr val="F8FAFC"/>
                </a:solidFill>
              </a:defRPr>
            </a:pPr>
            <a:r>
              <a:t>•  Filter Tabs: All Cohorts | Synthetic Demo | Supervised Care (Shanghai) | Free-Living (CGMacros)</a:t>
            </a:r>
          </a:p>
          <a:p>
            <a:pPr>
              <a:spcAft>
                <a:spcPts val="300"/>
              </a:spcAft>
              <a:defRPr sz="1300">
                <a:solidFill>
                  <a:srgbClr val="F8FAFC"/>
                </a:solidFill>
              </a:defRPr>
            </a:pPr>
            <a:r>
              <a:t>•  Color-Coded Badges:</a:t>
            </a:r>
          </a:p>
          <a:p>
            <a:pPr>
              <a:spcAft>
                <a:spcPts val="300"/>
              </a:spcAft>
              <a:defRPr sz="1300">
                <a:solidFill>
                  <a:srgbClr val="F8FAFC"/>
                </a:solidFill>
              </a:defRPr>
            </a:pPr>
            <a:r>
              <a:t>•  Amber Badge: "Report Stale — Consider New Sensor Wear"</a:t>
            </a:r>
          </a:p>
          <a:p>
            <a:pPr>
              <a:spcAft>
                <a:spcPts val="300"/>
              </a:spcAft>
              <a:defRPr sz="1300">
                <a:solidFill>
                  <a:srgbClr val="F8FAFC"/>
                </a:solidFill>
              </a:defRPr>
            </a:pPr>
            <a:r>
              <a:t>•  Teal Badge: "Report Stable — Upkeep Active"</a:t>
            </a:r>
          </a:p>
          <a:p>
            <a:pPr>
              <a:spcAft>
                <a:spcPts val="300"/>
              </a:spcAft>
              <a:defRPr sz="1300">
                <a:solidFill>
                  <a:srgbClr val="F8FAFC"/>
                </a:solidFill>
              </a:defRPr>
            </a:pPr>
            <a:r>
              <a:t>•  Gray Badge: "Treatment Changed in Records"</a:t>
            </a:r>
          </a:p>
          <a:p>
            <a:pPr>
              <a:spcAft>
                <a:spcPts val="300"/>
              </a:spcAft>
              <a:defRPr sz="1300">
                <a:solidFill>
                  <a:srgbClr val="F8FAFC"/>
                </a:solidFill>
              </a:defRPr>
            </a:pPr>
            <a:r>
              <a:t>•  Highlighted Row: Mrs. R. (Synthetic Patient, Day 6, Amber Stale Flag)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Clinic Triage Sorting: Prioritizing Staleness &amp; Post-Meal Risk</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Interactive Feature Focus:</a:t>
            </a:r>
          </a:p>
          <a:p>
            <a:pPr>
              <a:spcAft>
                <a:spcPts val="300"/>
              </a:spcAft>
              <a:defRPr sz="1300">
                <a:solidFill>
                  <a:srgbClr val="F8FAFC"/>
                </a:solidFill>
              </a:defRPr>
            </a:pPr>
            <a:r>
              <a:t>•  Sorting Toggle: Sort by "Most Stale First" vs "Highest Excursion Rate" vs "Alphabetical"</a:t>
            </a:r>
          </a:p>
          <a:p>
            <a:pPr>
              <a:spcAft>
                <a:spcPts val="300"/>
              </a:spcAft>
              <a:defRPr sz="1300">
                <a:solidFill>
                  <a:srgbClr val="F8FAFC"/>
                </a:solidFill>
              </a:defRPr>
            </a:pPr>
            <a:r>
              <a:t>•  Interactive Search Bar: Real-time filtering by pseudonym or clinical diagnosis</a:t>
            </a:r>
          </a:p>
          <a:p>
            <a:pPr>
              <a:spcAft>
                <a:spcPts val="300"/>
              </a:spcAft>
              <a:defRPr sz="1300">
                <a:solidFill>
                  <a:srgbClr val="F8FAFC"/>
                </a:solidFill>
              </a:defRPr>
            </a:pPr>
            <a:r>
              <a:t>•  Summary Metrics Banner across top of Clinic View:</a:t>
            </a:r>
          </a:p>
          <a:p>
            <a:pPr>
              <a:spcAft>
                <a:spcPts val="300"/>
              </a:spcAft>
              <a:defRPr sz="1300">
                <a:solidFill>
                  <a:srgbClr val="F8FAFC"/>
                </a:solidFill>
              </a:defRPr>
            </a:pPr>
            <a:r>
              <a:t>•  Total Monitored Patients: 48</a:t>
            </a:r>
          </a:p>
          <a:p>
            <a:pPr>
              <a:spcAft>
                <a:spcPts val="300"/>
              </a:spcAft>
              <a:defRPr sz="1300">
                <a:solidFill>
                  <a:srgbClr val="F8FAFC"/>
                </a:solidFill>
              </a:defRPr>
            </a:pPr>
            <a:r>
              <a:t>•  Stale Reports Requiring Attention: 11</a:t>
            </a:r>
          </a:p>
          <a:p>
            <a:pPr>
              <a:spcAft>
                <a:spcPts val="300"/>
              </a:spcAft>
              <a:defRPr sz="1300">
                <a:solidFill>
                  <a:srgbClr val="F8FAFC"/>
                </a:solidFill>
              </a:defRPr>
            </a:pPr>
            <a:r>
              <a:t>•  Stable on Fingerstick Upkeep: 37</a:t>
            </a:r>
          </a:p>
          <a:p>
            <a:pPr>
              <a:spcAft>
                <a:spcPts val="300"/>
              </a:spcAft>
              <a:defRPr sz="1300">
                <a:solidFill>
                  <a:srgbClr val="F8FAFC"/>
                </a:solidFill>
              </a:defRPr>
            </a:pPr>
            <a:r>
              <a:t>•  Sensor Low Confirmation Rate: 12.5% (Warning reminder permanently visible)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Screen 2 Walkthrough: The Single Patient Digital Twin Interface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Screenshot: **The Patient Detail Screen (`#view-patient`)**</a:t>
            </a:r>
          </a:p>
          <a:p>
            <a:pPr>
              <a:spcAft>
                <a:spcPts val="300"/>
              </a:spcAft>
              <a:defRPr sz="1300">
                <a:solidFill>
                  <a:srgbClr val="F8FAFC"/>
                </a:solidFill>
              </a:defRPr>
            </a:pPr>
            <a:r>
              <a:t>•  Top Patient Banner: Mrs. R. (Synthetic Demo Patient) | Age: 58 | Female | BMI: 27.4 | HbA1c: 7.8% | Meds: Metformin 1000mg BID</a:t>
            </a:r>
          </a:p>
          <a:p>
            <a:pPr>
              <a:spcAft>
                <a:spcPts val="300"/>
              </a:spcAft>
              <a:defRPr sz="1300">
                <a:solidFill>
                  <a:srgbClr val="F8FAFC"/>
                </a:solidFill>
              </a:defRPr>
            </a:pPr>
            <a:r>
              <a:t>•  Central Glucose Trajectory Window:</a:t>
            </a:r>
          </a:p>
          <a:p>
            <a:pPr>
              <a:spcAft>
                <a:spcPts val="300"/>
              </a:spcAft>
              <a:defRPr sz="1300">
                <a:solidFill>
                  <a:srgbClr val="F8FAFC"/>
                </a:solidFill>
              </a:defRPr>
            </a:pPr>
            <a:r>
              <a:t>•  X-Axis: 24-Hour Time of Day (00:00 to 24:00)</a:t>
            </a:r>
          </a:p>
          <a:p>
            <a:pPr>
              <a:spcAft>
                <a:spcPts val="300"/>
              </a:spcAft>
              <a:defRPr sz="1300">
                <a:solidFill>
                  <a:srgbClr val="F8FAFC"/>
                </a:solidFill>
              </a:defRPr>
            </a:pPr>
            <a:r>
              <a:t>•  Y-Axis: Glucose concentration (mg/dL) with target range (70–180 mg/dL) shaded in soft green</a:t>
            </a:r>
          </a:p>
          <a:p>
            <a:pPr>
              <a:spcAft>
                <a:spcPts val="300"/>
              </a:spcAft>
              <a:defRPr sz="1300">
                <a:solidFill>
                  <a:srgbClr val="F8FAFC"/>
                </a:solidFill>
              </a:defRPr>
            </a:pPr>
            <a:r>
              <a:t>•  Solid Purple Curve: Chhaya's Estimated Glucose (The Shadow)</a:t>
            </a:r>
          </a:p>
          <a:p>
            <a:pPr>
              <a:spcAft>
                <a:spcPts val="300"/>
              </a:spcAft>
              <a:defRPr sz="1300">
                <a:solidFill>
                  <a:srgbClr val="F8FAFC"/>
                </a:solidFill>
              </a:defRPr>
            </a:pPr>
            <a:r>
              <a:t>•  Light Purple Shaded Region: Calibrated 80% Uncertainty Band</a:t>
            </a:r>
          </a:p>
          <a:p>
            <a:pPr>
              <a:spcAft>
                <a:spcPts val="300"/>
              </a:spcAft>
              <a:defRPr sz="1300">
                <a:solidFill>
                  <a:srgbClr val="F8FAFC"/>
                </a:solidFill>
              </a:defRPr>
            </a:pPr>
            <a:r>
              <a:t>•  Amber / Teal Points: Ground truth sensor readings (revealed via toggle)</a:t>
            </a:r>
          </a:p>
          <a:p>
            <a:pPr>
              <a:spcAft>
                <a:spcPts val="300"/>
              </a:spcAft>
              <a:defRPr sz="1300">
                <a:solidFill>
                  <a:srgbClr val="F8FAFC"/>
                </a:solidFill>
              </a:defRPr>
            </a:pPr>
            <a:r>
              <a:t>•  Blue Diamonds: Capillary fingersticks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atient.png"/>
          <p:cNvPicPr>
            <a:picLocks noChangeAspect="1"/>
          </p:cNvPicPr>
          <p:nvPr/>
        </p:nvPicPr>
        <p:blipFill>
          <a:blip r:embed="rId3"/>
          <a:stretch>
            <a:fillRect/>
          </a:stretch>
        </p:blipFill>
        <p:spPr>
          <a:xfrm>
            <a:off x="6400800" y="1828800"/>
            <a:ext cx="4937760" cy="408051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Signature Interaction: The "Reveal" Slider &amp; Shadow Alignment</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Side-by-Side Comparison of Reveal Toggle:</a:t>
            </a:r>
          </a:p>
          <a:p>
            <a:pPr>
              <a:spcAft>
                <a:spcPts val="300"/>
              </a:spcAft>
              <a:defRPr sz="1300">
                <a:solidFill>
                  <a:srgbClr val="F8FAFC"/>
                </a:solidFill>
              </a:defRPr>
            </a:pPr>
            <a:r>
              <a:t>•  State 1: Reveal OFF (`hero.reveal = 0`)</a:t>
            </a:r>
          </a:p>
          <a:p>
            <a:pPr>
              <a:spcAft>
                <a:spcPts val="300"/>
              </a:spcAft>
              <a:defRPr sz="1300">
                <a:solidFill>
                  <a:srgbClr val="F8FAFC"/>
                </a:solidFill>
              </a:defRPr>
            </a:pPr>
            <a:r>
              <a:t>•  Only the purple estimate curve, 80% uncertainty band, and blue fingersticks are visible.</a:t>
            </a:r>
          </a:p>
          <a:p>
            <a:pPr>
              <a:spcAft>
                <a:spcPts val="300"/>
              </a:spcAft>
              <a:defRPr sz="1300">
                <a:solidFill>
                  <a:srgbClr val="F8FAFC"/>
                </a:solidFill>
              </a:defRPr>
            </a:pPr>
            <a:r>
              <a:t>•  Status pill: "Operating on Physiological Shadow + Fingerstick Assimilation"</a:t>
            </a:r>
          </a:p>
          <a:p>
            <a:pPr>
              <a:spcAft>
                <a:spcPts val="300"/>
              </a:spcAft>
              <a:defRPr sz="1300">
                <a:solidFill>
                  <a:srgbClr val="F8FAFC"/>
                </a:solidFill>
              </a:defRPr>
            </a:pPr>
            <a:r>
              <a:t>•  State 2: Reveal ON (`hero.reveal = 1`)</a:t>
            </a:r>
          </a:p>
          <a:p>
            <a:pPr>
              <a:spcAft>
                <a:spcPts val="300"/>
              </a:spcAft>
              <a:defRPr sz="1300">
                <a:solidFill>
                  <a:srgbClr val="F8FAFC"/>
                </a:solidFill>
              </a:defRPr>
            </a:pPr>
            <a:r>
              <a:t>•  The real, hidden continuous sensor trace slides smoothly over the estimate in teal (in-range) and amber (hyperglycemic).</a:t>
            </a:r>
          </a:p>
          <a:p>
            <a:pPr>
              <a:spcAft>
                <a:spcPts val="300"/>
              </a:spcAft>
              <a:defRPr sz="1300">
                <a:solidFill>
                  <a:srgbClr val="F8FAFC"/>
                </a:solidFill>
              </a:defRPr>
            </a:pPr>
            <a:r>
              <a:t>•  Status pill: "Ground Truth Sensor Unmasked: 88.4% of readings within 80% band"</a:t>
            </a:r>
          </a:p>
          <a:p>
            <a:pPr>
              <a:spcAft>
                <a:spcPts val="300"/>
              </a:spcAft>
              <a:defRPr sz="1300">
                <a:solidFill>
                  <a:srgbClr val="F8FAFC"/>
                </a:solidFill>
              </a:defRPr>
            </a:pPr>
            <a:r>
              <a:t>•  Interaction: Smooth CSS cubic-bezier transition revealing the hidden sensor layer.</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atient.png"/>
          <p:cNvPicPr>
            <a:picLocks noChangeAspect="1"/>
          </p:cNvPicPr>
          <p:nvPr/>
        </p:nvPicPr>
        <p:blipFill>
          <a:blip r:embed="rId3"/>
          <a:stretch>
            <a:fillRect/>
          </a:stretch>
        </p:blipFill>
        <p:spPr>
          <a:xfrm>
            <a:off x="6400800" y="1828800"/>
            <a:ext cx="4937760" cy="408051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39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Visualizing Uncertainty: The Honest 80% Prediction Confidence Band</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Close-up Diagram of the 80% Band Mechanics:</a:t>
            </a:r>
          </a:p>
          <a:p>
            <a:pPr>
              <a:spcAft>
                <a:spcPts val="300"/>
              </a:spcAft>
              <a:defRPr sz="1300">
                <a:solidFill>
                  <a:srgbClr val="F8FAFC"/>
                </a:solidFill>
              </a:defRPr>
            </a:pPr>
            <a:r>
              <a:t>•  Width: Approximately $\pm 45$ mg/dL around running estimate</a:t>
            </a:r>
          </a:p>
          <a:p>
            <a:pPr>
              <a:spcAft>
                <a:spcPts val="300"/>
              </a:spcAft>
              <a:defRPr sz="1300">
                <a:solidFill>
                  <a:srgbClr val="F8FAFC"/>
                </a:solidFill>
              </a:defRPr>
            </a:pPr>
            <a:r>
              <a:t>•  Baseline Empirical Coverage: Holds 83.5% of all hidden sensor readings on held-out testing</a:t>
            </a:r>
          </a:p>
          <a:p>
            <a:pPr>
              <a:spcAft>
                <a:spcPts val="300"/>
              </a:spcAft>
              <a:defRPr sz="1300">
                <a:solidFill>
                  <a:srgbClr val="F8FAFC"/>
                </a:solidFill>
              </a:defRPr>
            </a:pPr>
            <a:r>
              <a:t>•  Narrowing: Shrinks during periods of regular fingersticks and stable fasting baseline</a:t>
            </a:r>
          </a:p>
          <a:p>
            <a:pPr>
              <a:spcAft>
                <a:spcPts val="300"/>
              </a:spcAft>
              <a:defRPr sz="1300">
                <a:solidFill>
                  <a:srgbClr val="F8FAFC"/>
                </a:solidFill>
              </a:defRPr>
            </a:pPr>
            <a:r>
              <a:t>•  Widening: Dynamically widens after unlogged meals, physical activity, or extended gaps between fingersticks</a:t>
            </a:r>
          </a:p>
          <a:p>
            <a:pPr>
              <a:spcAft>
                <a:spcPts val="300"/>
              </a:spcAft>
              <a:defRPr sz="1300">
                <a:solidFill>
                  <a:srgbClr val="F8FAFC"/>
                </a:solidFill>
              </a:defRPr>
            </a:pPr>
            <a:r>
              <a:t>•  Watermark: Every estimated reading is explicitly accompanied by the word *"Estimated"*—no false precision.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Sensor Low Integrity: "Sensor Low, Unconfirmed" Warning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Screenshot: Hover State over a Nocturnal Sensor Reading below 70 mg/dL:</a:t>
            </a:r>
          </a:p>
          <a:p>
            <a:pPr>
              <a:spcAft>
                <a:spcPts val="300"/>
              </a:spcAft>
              <a:defRPr sz="1300">
                <a:solidFill>
                  <a:srgbClr val="F8FAFC"/>
                </a:solidFill>
              </a:defRPr>
            </a:pPr>
            <a:r>
              <a:t>•  Tooltip:</a:t>
            </a:r>
          </a:p>
          <a:p>
            <a:pPr>
              <a:spcAft>
                <a:spcPts val="300"/>
              </a:spcAft>
              <a:defRPr sz="1300">
                <a:solidFill>
                  <a:srgbClr val="F8FAFC"/>
                </a:solidFill>
              </a:defRPr>
            </a:pPr>
            <a:r>
              <a:t>•  Value: 64 mg/dL (03:15 AM)</a:t>
            </a:r>
          </a:p>
          <a:p>
            <a:pPr>
              <a:spcAft>
                <a:spcPts val="300"/>
              </a:spcAft>
              <a:defRPr sz="1300">
                <a:solidFill>
                  <a:srgbClr val="F8FAFC"/>
                </a:solidFill>
              </a:defRPr>
            </a:pPr>
            <a:r>
              <a:t>•  Warning Label: **"Sensor Low, Unconfirmed"**</a:t>
            </a:r>
          </a:p>
          <a:p>
            <a:pPr>
              <a:spcAft>
                <a:spcPts val="300"/>
              </a:spcAft>
              <a:defRPr sz="1300">
                <a:solidFill>
                  <a:srgbClr val="F8FAFC"/>
                </a:solidFill>
              </a:defRPr>
            </a:pPr>
            <a:r>
              <a:t>•  Context Note: "No simultaneous fingerstick. In clinical audit, only 12.5% of sensor lows (0% nocturnal) were confirmed by capillary testing due to compression artifacts."</a:t>
            </a:r>
          </a:p>
          <a:p>
            <a:pPr>
              <a:spcAft>
                <a:spcPts val="300"/>
              </a:spcAft>
              <a:defRPr sz="1300">
                <a:solidFill>
                  <a:srgbClr val="F8FAFC"/>
                </a:solidFill>
              </a:defRPr>
            </a:pPr>
            <a:r>
              <a:t>•  Dashed outline distinguishing unconfirmed sensor lows from confirmed laboratory hypoglycemia.</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Multi-Stream Ablation Toggle: Record vs Sensor vs Fingersticks vs Fused</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Screenshot: **The Stream Ablation Switch**</a:t>
            </a:r>
          </a:p>
          <a:p>
            <a:pPr>
              <a:spcAft>
                <a:spcPts val="300"/>
              </a:spcAft>
              <a:defRPr sz="1300">
                <a:solidFill>
                  <a:srgbClr val="F8FAFC"/>
                </a:solidFill>
              </a:defRPr>
            </a:pPr>
            <a:r>
              <a:t>•  Radio Buttons:</a:t>
            </a:r>
          </a:p>
          <a:p>
            <a:pPr>
              <a:spcAft>
                <a:spcPts val="300"/>
              </a:spcAft>
              <a:defRPr sz="1300">
                <a:solidFill>
                  <a:srgbClr val="94A3B8"/>
                </a:solidFill>
              </a:defRPr>
            </a:pPr>
            <a:r>
              <a:t>1. `Record Only (EHR)`</a:t>
            </a:r>
          </a:p>
          <a:p>
            <a:pPr>
              <a:spcAft>
                <a:spcPts val="300"/>
              </a:spcAft>
              <a:defRPr sz="1300">
                <a:solidFill>
                  <a:srgbClr val="94A3B8"/>
                </a:solidFill>
              </a:defRPr>
            </a:pPr>
            <a:r>
              <a:t>2. `Sensor History Only`</a:t>
            </a:r>
          </a:p>
          <a:p>
            <a:pPr>
              <a:spcAft>
                <a:spcPts val="300"/>
              </a:spcAft>
              <a:defRPr sz="1300">
                <a:solidFill>
                  <a:srgbClr val="94A3B8"/>
                </a:solidFill>
              </a:defRPr>
            </a:pPr>
            <a:r>
              <a:t>3. `Fingersticks Only`</a:t>
            </a:r>
          </a:p>
          <a:p>
            <a:pPr>
              <a:spcAft>
                <a:spcPts val="300"/>
              </a:spcAft>
              <a:defRPr sz="1300">
                <a:solidFill>
                  <a:srgbClr val="94A3B8"/>
                </a:solidFill>
              </a:defRPr>
            </a:pPr>
            <a:r>
              <a:t>4. `Fused (All Streams Active)`</a:t>
            </a:r>
          </a:p>
          <a:p>
            <a:pPr>
              <a:spcAft>
                <a:spcPts val="300"/>
              </a:spcAft>
              <a:defRPr sz="1300">
                <a:solidFill>
                  <a:srgbClr val="F8FAFC"/>
                </a:solidFill>
              </a:defRPr>
            </a:pPr>
            <a:r>
              <a:t>•  Dynamic Display: Toggling switches immediately re-draws the estimated trajectory and updates the adjacent accuracy scorecard:</a:t>
            </a:r>
          </a:p>
          <a:p>
            <a:pPr>
              <a:spcAft>
                <a:spcPts val="300"/>
              </a:spcAft>
              <a:defRPr sz="1300">
                <a:solidFill>
                  <a:srgbClr val="F8FAFC"/>
                </a:solidFill>
              </a:defRPr>
            </a:pPr>
            <a:r>
              <a:t>•  Switching to "Record Only" widens the uncertainty band significantly</a:t>
            </a:r>
          </a:p>
          <a:p>
            <a:pPr>
              <a:spcAft>
                <a:spcPts val="300"/>
              </a:spcAft>
              <a:defRPr sz="1300">
                <a:solidFill>
                  <a:srgbClr val="F8FAFC"/>
                </a:solidFill>
              </a:defRPr>
            </a:pPr>
            <a:r>
              <a:t>•  Switching to "Fingersticks Only" shows sharp localized corrections</a:t>
            </a:r>
          </a:p>
          <a:p>
            <a:pPr>
              <a:spcAft>
                <a:spcPts val="300"/>
              </a:spcAft>
              <a:defRPr sz="1300">
                <a:solidFill>
                  <a:srgbClr val="F8FAFC"/>
                </a:solidFill>
              </a:defRPr>
            </a:pPr>
            <a:r>
              <a:t>•  Switching to "Fused" shows the combined physiological-statistical estimate.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Real-Time Arm Accuracies Displayed Alongside Predictions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Visual Component: **The Accuracy Badge Matrix**</a:t>
            </a:r>
          </a:p>
          <a:p>
            <a:pPr>
              <a:spcAft>
                <a:spcPts val="300"/>
              </a:spcAft>
              <a:defRPr sz="1300">
                <a:solidFill>
                  <a:srgbClr val="F8FAFC"/>
                </a:solidFill>
              </a:defRPr>
            </a:pPr>
            <a:r>
              <a:t>•  Displayed directly adjacent to the trajectory graph:</a:t>
            </a:r>
          </a:p>
          <a:p>
            <a:pPr>
              <a:spcAft>
                <a:spcPts val="300"/>
              </a:spcAft>
              <a:defRPr sz="1300">
                <a:solidFill>
                  <a:srgbClr val="94A3B8"/>
                </a:solidFill>
              </a:defRPr>
            </a:pPr>
            <a:r>
              <a:t>| Stream Selected | Measured AUPRC | Measured AUROC | Calibration Slope | Clinical Recommendation |</a:t>
            </a:r>
          </a:p>
          <a:p>
            <a:pPr>
              <a:spcAft>
                <a:spcPts val="300"/>
              </a:spcAft>
              <a:defRPr sz="1300">
                <a:solidFill>
                  <a:srgbClr val="94A3B8"/>
                </a:solidFill>
              </a:defRPr>
            </a:pPr>
            <a:r>
              <a:t>|---|---|---|---|---|</a:t>
            </a:r>
          </a:p>
          <a:p>
            <a:pPr>
              <a:spcAft>
                <a:spcPts val="300"/>
              </a:spcAft>
              <a:defRPr sz="1300">
                <a:solidFill>
                  <a:srgbClr val="94A3B8"/>
                </a:solidFill>
              </a:defRPr>
            </a:pPr>
            <a:r>
              <a:t>| Record Only | 0.57 | 0.65 | 0.52 | Low precision; qualitative only |</a:t>
            </a:r>
          </a:p>
          <a:p>
            <a:pPr>
              <a:spcAft>
                <a:spcPts val="300"/>
              </a:spcAft>
              <a:defRPr sz="1300">
                <a:solidFill>
                  <a:srgbClr val="94A3B8"/>
                </a:solidFill>
              </a:defRPr>
            </a:pPr>
            <a:r>
              <a:t>| Sensor History | 0.63 | 0.78 | 0.86 | Good for circadian habit baseline |</a:t>
            </a:r>
          </a:p>
          <a:p>
            <a:pPr>
              <a:spcAft>
                <a:spcPts val="300"/>
              </a:spcAft>
              <a:defRPr sz="1300">
                <a:solidFill>
                  <a:srgbClr val="94A3B8"/>
                </a:solidFill>
              </a:defRPr>
            </a:pPr>
            <a:r>
              <a:t>| **Fingersticks Only** | **0.64** | **0.70** | **1.00** | **Highest empirical precision** |</a:t>
            </a:r>
          </a:p>
          <a:p>
            <a:pPr>
              <a:spcAft>
                <a:spcPts val="300"/>
              </a:spcAft>
              <a:defRPr sz="1300">
                <a:solidFill>
                  <a:srgbClr val="94A3B8"/>
                </a:solidFill>
              </a:defRPr>
            </a:pPr>
            <a:r>
              <a:t>| Fused Model | 0.60 | 0.71 | 0.48 | Overconfident; risk bands only |</a:t>
            </a:r>
          </a:p>
          <a:p>
            <a:pPr>
              <a:spcAft>
                <a:spcPts val="300"/>
              </a:spcAft>
              <a:defRPr sz="1300">
                <a:solidFill>
                  <a:srgbClr val="F8FAFC"/>
                </a:solidFill>
              </a:defRPr>
            </a:pPr>
            <a:r>
              <a:t>•  Callout: "No other digital twin displays its own measured empirical inaccuracies next to its predictions."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Interactive What-If Simulation: Meal Substitution &amp; Sizing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Screenshot: **The Nutritional What-If Simulator (`chhaya.product.whatif`)**</a:t>
            </a:r>
          </a:p>
          <a:p>
            <a:pPr>
              <a:spcAft>
                <a:spcPts val="300"/>
              </a:spcAft>
              <a:defRPr sz="1300">
                <a:solidFill>
                  <a:srgbClr val="F8FAFC"/>
                </a:solidFill>
              </a:defRPr>
            </a:pPr>
            <a:r>
              <a:t>•  Interactive Meal Card:</a:t>
            </a:r>
          </a:p>
          <a:p>
            <a:pPr>
              <a:spcAft>
                <a:spcPts val="300"/>
              </a:spcAft>
              <a:defRPr sz="1300">
                <a:solidFill>
                  <a:srgbClr val="F8FAFC"/>
                </a:solidFill>
              </a:defRPr>
            </a:pPr>
            <a:r>
              <a:t>•  Original Lunch: 75g Carbs (White Rice + Dal) → Predicted Peak: 218 mg/dL (Excursion Alert)</a:t>
            </a:r>
          </a:p>
          <a:p>
            <a:pPr>
              <a:spcAft>
                <a:spcPts val="300"/>
              </a:spcAft>
              <a:defRPr sz="1300">
                <a:solidFill>
                  <a:srgbClr val="F8FAFC"/>
                </a:solidFill>
              </a:defRPr>
            </a:pPr>
            <a:r>
              <a:t>•  What-If Replacement Slider: Adjust Carbohydrate grams (30g to 120g)</a:t>
            </a:r>
          </a:p>
          <a:p>
            <a:pPr>
              <a:spcAft>
                <a:spcPts val="300"/>
              </a:spcAft>
              <a:defRPr sz="1300">
                <a:solidFill>
                  <a:srgbClr val="F8FAFC"/>
                </a:solidFill>
              </a:defRPr>
            </a:pPr>
            <a:r>
              <a:t>•  Macronutrient Modifier: Toggle "Add High Fiber / Protein" (Increases `meal_slow` from 1.0 to 1.8)</a:t>
            </a:r>
          </a:p>
          <a:p>
            <a:pPr>
              <a:spcAft>
                <a:spcPts val="300"/>
              </a:spcAft>
              <a:defRPr sz="1300">
                <a:solidFill>
                  <a:srgbClr val="F8FAFC"/>
                </a:solidFill>
              </a:defRPr>
            </a:pPr>
            <a:r>
              <a:t>•  Simulated Trace: Dashed green line projects the counterfactual glycemic curve</a:t>
            </a:r>
          </a:p>
          <a:p>
            <a:pPr>
              <a:spcAft>
                <a:spcPts val="300"/>
              </a:spcAft>
              <a:defRPr sz="1300">
                <a:solidFill>
                  <a:srgbClr val="F8FAFC"/>
                </a:solidFill>
              </a:defRPr>
            </a:pPr>
            <a:r>
              <a:t>•  Simulated Result: Peak reduced to 164 mg/dL (Remains within safe 70–180 target corridor)</a:t>
            </a:r>
          </a:p>
          <a:p>
            <a:pPr>
              <a:spcAft>
                <a:spcPts val="300"/>
              </a:spcAft>
              <a:defRPr sz="1300">
                <a:solidFill>
                  <a:srgbClr val="F8FAFC"/>
                </a:solidFill>
              </a:defRPr>
            </a:pPr>
            <a:r>
              <a:t>•  Watermark: "Simulation Only — Associational Metabolic Projection"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Simulating Physical Activity Interventions on the Virtual Patient</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Visual Demonstration: Exercise What-If Intervention</a:t>
            </a:r>
          </a:p>
          <a:p>
            <a:pPr>
              <a:spcAft>
                <a:spcPts val="300"/>
              </a:spcAft>
              <a:defRPr sz="1300">
                <a:solidFill>
                  <a:srgbClr val="F8FAFC"/>
                </a:solidFill>
              </a:defRPr>
            </a:pPr>
            <a:r>
              <a:t>•  Scenario: Post-Dinner Hyperglycemia (Spike reaching 224 mg/dL at 20:30)</a:t>
            </a:r>
          </a:p>
          <a:p>
            <a:pPr>
              <a:spcAft>
                <a:spcPts val="300"/>
              </a:spcAft>
              <a:defRPr sz="1300">
                <a:solidFill>
                  <a:srgbClr val="F8FAFC"/>
                </a:solidFill>
              </a:defRPr>
            </a:pPr>
            <a:r>
              <a:t>•  Intervention Input: "Add 30-minute moderate post-meal walk (3.5 METs at 20:00)"</a:t>
            </a:r>
          </a:p>
          <a:p>
            <a:pPr>
              <a:spcAft>
                <a:spcPts val="300"/>
              </a:spcAft>
              <a:defRPr sz="1300">
                <a:solidFill>
                  <a:srgbClr val="F8FAFC"/>
                </a:solidFill>
              </a:defRPr>
            </a:pPr>
            <a:r>
              <a:t>•  Simulation Output:</a:t>
            </a:r>
          </a:p>
          <a:p>
            <a:pPr>
              <a:spcAft>
                <a:spcPts val="300"/>
              </a:spcAft>
              <a:defRPr sz="1300">
                <a:solidFill>
                  <a:srgbClr val="F8FAFC"/>
                </a:solidFill>
              </a:defRPr>
            </a:pPr>
            <a:r>
              <a:t>•  Muscle GLUT4 translocation activated via exercise parameter $k_{ex}$</a:t>
            </a:r>
          </a:p>
          <a:p>
            <a:pPr>
              <a:spcAft>
                <a:spcPts val="300"/>
              </a:spcAft>
              <a:defRPr sz="1300">
                <a:solidFill>
                  <a:srgbClr val="F8FAFC"/>
                </a:solidFill>
              </a:defRPr>
            </a:pPr>
            <a:r>
              <a:t>•  Post-meal glucose peak blunted by 38 mg/dL</a:t>
            </a:r>
          </a:p>
          <a:p>
            <a:pPr>
              <a:spcAft>
                <a:spcPts val="300"/>
              </a:spcAft>
              <a:defRPr sz="1300">
                <a:solidFill>
                  <a:srgbClr val="F8FAFC"/>
                </a:solidFill>
              </a:defRPr>
            </a:pPr>
            <a:r>
              <a:t>•  Area under the curve above 180 mg/dL reduced by 62%</a:t>
            </a:r>
          </a:p>
          <a:p>
            <a:pPr>
              <a:spcAft>
                <a:spcPts val="300"/>
              </a:spcAft>
              <a:defRPr sz="1300">
                <a:solidFill>
                  <a:srgbClr val="F8FAFC"/>
                </a:solidFill>
              </a:defRPr>
            </a:pPr>
            <a:r>
              <a:t>•  Explicit Limitation Notice: "Associational simulation based on average exercise gain; individual response varies with autonomic tone and peripheral neuropathy."</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Sensor Re-Wear Prompt: Clinical Thresholds without Alarm Fatigue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Diagram: **The Staleness Decision Threshold**</a:t>
            </a:r>
          </a:p>
          <a:p>
            <a:pPr>
              <a:spcAft>
                <a:spcPts val="300"/>
              </a:spcAft>
              <a:defRPr sz="1300">
                <a:solidFill>
                  <a:srgbClr val="F8FAFC"/>
                </a:solidFill>
              </a:defRPr>
            </a:pPr>
            <a:r>
              <a:t>•  CUSUM Accumulator: Running sum of standardized fingerstick residuals:</a:t>
            </a:r>
          </a:p>
          <a:p>
            <a:pPr>
              <a:spcAft>
                <a:spcPts val="300"/>
              </a:spcAft>
              <a:defRPr sz="1300">
                <a:solidFill>
                  <a:srgbClr val="94A3B8"/>
                </a:solidFill>
              </a:defRPr>
            </a:pPr>
            <a:r>
              <a:t>$$Z_t = \frac{|G_{\text{stick}}(t) - \mu_{\text{report}}(t_{\text{day}})|}{\sigma_{\text{patient}}}$$</a:t>
            </a:r>
          </a:p>
          <a:p>
            <a:pPr>
              <a:spcAft>
                <a:spcPts val="300"/>
              </a:spcAft>
              <a:defRPr sz="1300">
                <a:solidFill>
                  <a:srgbClr val="F8FAFC"/>
                </a:solidFill>
              </a:defRPr>
            </a:pPr>
            <a:r>
              <a:t>•  Decision Logic:</a:t>
            </a:r>
          </a:p>
          <a:p>
            <a:pPr>
              <a:spcAft>
                <a:spcPts val="300"/>
              </a:spcAft>
              <a:defRPr sz="1300">
                <a:solidFill>
                  <a:srgbClr val="F8FAFC"/>
                </a:solidFill>
              </a:defRPr>
            </a:pPr>
            <a:r>
              <a:t>•  If $Z_t$ cumulative sum cross threshold $H = 4.2$ (calibrated on dev cohort for 10% false-alarm cap):</a:t>
            </a:r>
          </a:p>
          <a:p>
            <a:pPr>
              <a:spcAft>
                <a:spcPts val="300"/>
              </a:spcAft>
              <a:defRPr sz="1300">
                <a:solidFill>
                  <a:srgbClr val="F8FAFC"/>
                </a:solidFill>
              </a:defRPr>
            </a:pPr>
            <a:r>
              <a:t>•  UI Event: **"Consider New Sensor Wear"** Card appears in doctor's inbox</a:t>
            </a:r>
          </a:p>
          <a:p>
            <a:pPr>
              <a:spcAft>
                <a:spcPts val="300"/>
              </a:spcAft>
              <a:defRPr sz="1300">
                <a:solidFill>
                  <a:srgbClr val="F8FAFC"/>
                </a:solidFill>
              </a:defRPr>
            </a:pPr>
            <a:r>
              <a:t>•  Message: "Capillary fingersticks have diverged from baseline wear by &gt;20 mg/dL over the past 3 days. Historical report is no longer a valid basis for therapy adjustment."</a:t>
            </a:r>
          </a:p>
          <a:p>
            <a:pPr>
              <a:spcAft>
                <a:spcPts val="300"/>
              </a:spcAft>
              <a:defRPr sz="1300">
                <a:solidFill>
                  <a:srgbClr val="F8FAFC"/>
                </a:solidFill>
              </a:defRPr>
            </a:pPr>
            <a:r>
              <a:t>•  Distinction: A prompt about the REPORT, never an automated finding about the PATIENT.</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Screen 3 Walkthrough: The Transparent Evidence &amp; Scorecard Matrix</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Screenshot: **The Evidence Screen (`#view-evidence`)**</a:t>
            </a:r>
          </a:p>
          <a:p>
            <a:pPr>
              <a:spcAft>
                <a:spcPts val="300"/>
              </a:spcAft>
              <a:defRPr sz="1300">
                <a:solidFill>
                  <a:srgbClr val="F8FAFC"/>
                </a:solidFill>
              </a:defRPr>
            </a:pPr>
            <a:r>
              <a:t>•  Section 1: The Pre-Registered Scorecard Table:</a:t>
            </a:r>
          </a:p>
          <a:p>
            <a:pPr>
              <a:spcAft>
                <a:spcPts val="300"/>
              </a:spcAft>
              <a:defRPr sz="1300">
                <a:solidFill>
                  <a:srgbClr val="F8FAFC"/>
                </a:solidFill>
              </a:defRPr>
            </a:pPr>
            <a:r>
              <a:t>•  All 9 Bars Listed with Exact Pre-Specified Hypothesis, Test Cohort, Sample Size, p-value, and Outcome</a:t>
            </a:r>
          </a:p>
          <a:p>
            <a:pPr>
              <a:spcAft>
                <a:spcPts val="300"/>
              </a:spcAft>
              <a:defRPr sz="1300" b="1">
                <a:solidFill>
                  <a:srgbClr val="10B981"/>
                </a:solidFill>
              </a:defRPr>
            </a:pPr>
            <a:r>
              <a:t>•  5 Bold Green "PASSED" Badges</a:t>
            </a:r>
          </a:p>
          <a:p>
            <a:pPr>
              <a:spcAft>
                <a:spcPts val="300"/>
              </a:spcAft>
              <a:defRPr sz="1300" b="1">
                <a:solidFill>
                  <a:srgbClr val="F59E0B"/>
                </a:solidFill>
              </a:defRPr>
            </a:pPr>
            <a:r>
              <a:t>•  4 Bold Red "MISSED" Badges</a:t>
            </a:r>
          </a:p>
          <a:p>
            <a:pPr>
              <a:spcAft>
                <a:spcPts val="300"/>
              </a:spcAft>
              <a:defRPr sz="1300">
                <a:solidFill>
                  <a:srgbClr val="F8FAFC"/>
                </a:solidFill>
              </a:defRPr>
            </a:pPr>
            <a:r>
              <a:t>•  Section 2: Interactive Drill-Down into Decision Records:</a:t>
            </a:r>
          </a:p>
          <a:p>
            <a:pPr>
              <a:spcAft>
                <a:spcPts val="300"/>
              </a:spcAft>
              <a:defRPr sz="1300">
                <a:solidFill>
                  <a:srgbClr val="F8FAFC"/>
                </a:solidFill>
              </a:defRPr>
            </a:pPr>
            <a:r>
              <a:t>•  Clickable links opening underlying markdown decision records in `docs/decisions/`</a:t>
            </a:r>
          </a:p>
          <a:p>
            <a:pPr>
              <a:spcAft>
                <a:spcPts val="300"/>
              </a:spcAft>
              <a:defRPr sz="1300">
                <a:solidFill>
                  <a:srgbClr val="F8FAFC"/>
                </a:solidFill>
              </a:defRPr>
            </a:pPr>
            <a:r>
              <a:t>•  Section 3: Data Provenance &amp; Ethics Disclaimers:</a:t>
            </a:r>
          </a:p>
          <a:p>
            <a:pPr>
              <a:spcAft>
                <a:spcPts val="300"/>
              </a:spcAft>
              <a:defRPr sz="1300">
                <a:solidFill>
                  <a:srgbClr val="F8FAFC"/>
                </a:solidFill>
              </a:defRPr>
            </a:pPr>
            <a:r>
              <a:t>•  ShanghaiT2DM &amp; CGMacros citations, license details, checksum status</a:t>
            </a:r>
          </a:p>
          <a:p>
            <a:pPr>
              <a:spcAft>
                <a:spcPts val="300"/>
              </a:spcAft>
              <a:defRPr sz="1300">
                <a:solidFill>
                  <a:srgbClr val="F8FAFC"/>
                </a:solidFill>
              </a:defRPr>
            </a:pPr>
            <a:r>
              <a:t>•  Persistent Header Banner: "Research Prototype — Not for Primary Dosing Decisions"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evidence.png"/>
          <p:cNvPicPr>
            <a:picLocks noChangeAspect="1"/>
          </p:cNvPicPr>
          <p:nvPr/>
        </p:nvPicPr>
        <p:blipFill>
          <a:blip r:embed="rId3"/>
          <a:stretch>
            <a:fillRect/>
          </a:stretch>
        </p:blipFill>
        <p:spPr>
          <a:xfrm>
            <a:off x="6400800" y="1828800"/>
            <a:ext cx="4937760" cy="428625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Patient Case Study: Mrs. R. (Synthetic Demo Patient, Day 2 Post-Sensor)</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Case Study Graphic: **Mrs. R., 58-Year-Old Female, Day 2 Post-Sensor**</a:t>
            </a:r>
          </a:p>
          <a:p>
            <a:pPr>
              <a:spcAft>
                <a:spcPts val="300"/>
              </a:spcAft>
              <a:defRPr sz="1300">
                <a:solidFill>
                  <a:srgbClr val="F8FAFC"/>
                </a:solidFill>
              </a:defRPr>
            </a:pPr>
            <a:r>
              <a:t>•  Clinical Status: Stable, adhering to baseline diet and metformin therapy</a:t>
            </a:r>
          </a:p>
          <a:p>
            <a:pPr>
              <a:spcAft>
                <a:spcPts val="300"/>
              </a:spcAft>
              <a:defRPr sz="1300">
                <a:solidFill>
                  <a:srgbClr val="F8FAFC"/>
                </a:solidFill>
              </a:defRPr>
            </a:pPr>
            <a:r>
              <a:t>•  Visual Trace:</a:t>
            </a:r>
          </a:p>
          <a:p>
            <a:pPr>
              <a:spcAft>
                <a:spcPts val="300"/>
              </a:spcAft>
              <a:defRPr sz="1300">
                <a:solidFill>
                  <a:srgbClr val="F8FAFC"/>
                </a:solidFill>
              </a:defRPr>
            </a:pPr>
            <a:r>
              <a:t>•  Purple estimate closely mirrors fingersticks (blue diamonds at 112, 148, 162 mg/dL)</a:t>
            </a:r>
          </a:p>
          <a:p>
            <a:pPr>
              <a:spcAft>
                <a:spcPts val="300"/>
              </a:spcAft>
              <a:defRPr sz="1300">
                <a:solidFill>
                  <a:srgbClr val="F8FAFC"/>
                </a:solidFill>
              </a:defRPr>
            </a:pPr>
            <a:r>
              <a:t>•  80% uncertainty band is compact ($\pm 35$ mg/dL)</a:t>
            </a:r>
          </a:p>
          <a:p>
            <a:pPr>
              <a:spcAft>
                <a:spcPts val="300"/>
              </a:spcAft>
              <a:defRPr sz="1300">
                <a:solidFill>
                  <a:srgbClr val="F8FAFC"/>
                </a:solidFill>
              </a:defRPr>
            </a:pPr>
            <a:r>
              <a:t>•  Reveal unmasked: 94.2% of hidden sensor readings lie inside the band</a:t>
            </a:r>
          </a:p>
          <a:p>
            <a:pPr>
              <a:spcAft>
                <a:spcPts val="300"/>
              </a:spcAft>
              <a:defRPr sz="1300">
                <a:solidFill>
                  <a:srgbClr val="F8FAFC"/>
                </a:solidFill>
              </a:defRPr>
            </a:pPr>
            <a:r>
              <a:t>•  System State: Staleness Flag: **NOT RAISED** | Report validity confirmed.</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atient.png"/>
          <p:cNvPicPr>
            <a:picLocks noChangeAspect="1"/>
          </p:cNvPicPr>
          <p:nvPr/>
        </p:nvPicPr>
        <p:blipFill>
          <a:blip r:embed="rId3"/>
          <a:stretch>
            <a:fillRect/>
          </a:stretch>
        </p:blipFill>
        <p:spPr>
          <a:xfrm>
            <a:off x="6400800" y="1828800"/>
            <a:ext cx="4937760" cy="408051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D: THE DASHBOARD — CONCEPTUAL UI (SLIDES 33–48)  •  SLIDE 48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Patient Case Study: Mrs. R. Under Treatment Shift (Day 6 Drift Detection)</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Case Study Graphic: **Mrs. R., Day 6 Following Sulfonylurea Dose Titration**</a:t>
            </a:r>
          </a:p>
          <a:p>
            <a:pPr>
              <a:spcAft>
                <a:spcPts val="300"/>
              </a:spcAft>
              <a:defRPr sz="1300">
                <a:solidFill>
                  <a:srgbClr val="F8FAFC"/>
                </a:solidFill>
              </a:defRPr>
            </a:pPr>
            <a:r>
              <a:t>•  Clinical Shift: Physician increased glimepiride dose on Day 3; dietary pattern changed</a:t>
            </a:r>
          </a:p>
          <a:p>
            <a:pPr>
              <a:spcAft>
                <a:spcPts val="300"/>
              </a:spcAft>
              <a:defRPr sz="1300">
                <a:solidFill>
                  <a:srgbClr val="F8FAFC"/>
                </a:solidFill>
              </a:defRPr>
            </a:pPr>
            <a:r>
              <a:t>•  Visual Trace:</a:t>
            </a:r>
          </a:p>
          <a:p>
            <a:pPr>
              <a:spcAft>
                <a:spcPts val="300"/>
              </a:spcAft>
              <a:defRPr sz="1300">
                <a:solidFill>
                  <a:srgbClr val="F8FAFC"/>
                </a:solidFill>
              </a:defRPr>
            </a:pPr>
            <a:r>
              <a:t>•  True sensor trace (revealed in teal) slides downward by 28 mg/dL</a:t>
            </a:r>
          </a:p>
          <a:p>
            <a:pPr>
              <a:spcAft>
                <a:spcPts val="300"/>
              </a:spcAft>
              <a:defRPr sz="1300">
                <a:solidFill>
                  <a:srgbClr val="F8FAFC"/>
                </a:solidFill>
              </a:defRPr>
            </a:pPr>
            <a:r>
              <a:t>•  Fingersticks drop to 82, 94, 108 mg/dL</a:t>
            </a:r>
          </a:p>
          <a:p>
            <a:pPr>
              <a:spcAft>
                <a:spcPts val="300"/>
              </a:spcAft>
              <a:defRPr sz="1300">
                <a:solidFill>
                  <a:srgbClr val="F8FAFC"/>
                </a:solidFill>
              </a:defRPr>
            </a:pPr>
            <a:r>
              <a:t>•  The twin's static 80% band now holds only **4% of readings**!</a:t>
            </a:r>
          </a:p>
          <a:p>
            <a:pPr>
              <a:spcAft>
                <a:spcPts val="300"/>
              </a:spcAft>
              <a:defRPr sz="1300">
                <a:solidFill>
                  <a:srgbClr val="F8FAFC"/>
                </a:solidFill>
              </a:defRPr>
            </a:pPr>
            <a:r>
              <a:t>•  System Event: CUSUM threshold exceeded → **Amber Banner Raised**: "Report Stale — Consider New Sensor Wear"</a:t>
            </a:r>
          </a:p>
          <a:p>
            <a:pPr>
              <a:spcAft>
                <a:spcPts val="300"/>
              </a:spcAft>
              <a:defRPr sz="1300">
                <a:solidFill>
                  <a:srgbClr val="F8FAFC"/>
                </a:solidFill>
              </a:defRPr>
            </a:pPr>
            <a:r>
              <a:t>•  Clinical Outcome: Physician alerted to therapeutic shift before hypoglycemia occurs.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atient.png"/>
          <p:cNvPicPr>
            <a:picLocks noChangeAspect="1"/>
          </p:cNvPicPr>
          <p:nvPr/>
        </p:nvPicPr>
        <p:blipFill>
          <a:blip r:embed="rId3"/>
          <a:stretch>
            <a:fillRect/>
          </a:stretch>
        </p:blipFill>
        <p:spPr>
          <a:xfrm>
            <a:off x="6400800" y="1828800"/>
            <a:ext cx="4937760" cy="4080510"/>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49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Engineering Philosophy: One-Command Verifiability</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Terminal Graphic showing Full CLI Reproduction:</a:t>
            </a:r>
          </a:p>
          <a:p>
            <a:pPr>
              <a:spcAft>
                <a:spcPts val="300"/>
              </a:spcAft>
              <a:defRPr sz="1300">
                <a:solidFill>
                  <a:srgbClr val="94A3B8"/>
                </a:solidFill>
              </a:defRPr>
            </a:pPr>
            <a:r>
              <a:t>```bash</a:t>
            </a:r>
          </a:p>
          <a:p>
            <a:pPr>
              <a:spcAft>
                <a:spcPts val="300"/>
              </a:spcAft>
              <a:defRPr sz="1300">
                <a:solidFill>
                  <a:srgbClr val="94A3B8"/>
                </a:solidFill>
              </a:defRPr>
            </a:pPr>
            <a:r>
              <a:t># Step 1: Synchronize environment &amp; dependencies</a:t>
            </a:r>
          </a:p>
          <a:p>
            <a:pPr>
              <a:spcAft>
                <a:spcPts val="300"/>
              </a:spcAft>
              <a:defRPr sz="1300">
                <a:solidFill>
                  <a:srgbClr val="94A3B8"/>
                </a:solidFill>
              </a:defRPr>
            </a:pPr>
            <a:r>
              <a:t>uv sync</a:t>
            </a:r>
          </a:p>
          <a:p>
            <a:pPr>
              <a:spcAft>
                <a:spcPts val="300"/>
              </a:spcAft>
              <a:defRPr sz="1300">
                <a:solidFill>
                  <a:srgbClr val="94A3B8"/>
                </a:solidFill>
              </a:defRPr>
            </a:pPr>
            <a:r>
              <a:t># Step 2: Run complete zero-leakage test suite</a:t>
            </a:r>
          </a:p>
          <a:p>
            <a:pPr>
              <a:spcAft>
                <a:spcPts val="300"/>
              </a:spcAft>
              <a:defRPr sz="1300">
                <a:solidFill>
                  <a:srgbClr val="94A3B8"/>
                </a:solidFill>
              </a:defRPr>
            </a:pPr>
            <a:r>
              <a:t>uv run pytest -q</a:t>
            </a:r>
          </a:p>
          <a:p>
            <a:pPr>
              <a:spcAft>
                <a:spcPts val="300"/>
              </a:spcAft>
              <a:defRPr sz="1300">
                <a:solidFill>
                  <a:srgbClr val="94A3B8"/>
                </a:solidFill>
              </a:defRPr>
            </a:pPr>
            <a:r>
              <a:t># Step 3: Download &amp; checksum-verify open clinical datasets</a:t>
            </a:r>
          </a:p>
          <a:p>
            <a:pPr>
              <a:spcAft>
                <a:spcPts val="300"/>
              </a:spcAft>
              <a:defRPr sz="1300">
                <a:solidFill>
                  <a:srgbClr val="94A3B8"/>
                </a:solidFill>
              </a:defRPr>
            </a:pPr>
            <a:r>
              <a:t>uv run python -m chhaya.data.download shanghai cgmacros</a:t>
            </a:r>
          </a:p>
          <a:p>
            <a:pPr>
              <a:spcAft>
                <a:spcPts val="300"/>
              </a:spcAft>
              <a:defRPr sz="1300">
                <a:solidFill>
                  <a:srgbClr val="94A3B8"/>
                </a:solidFill>
              </a:defRPr>
            </a:pPr>
            <a:r>
              <a:t># Step 4: Run dataset audit and label validation</a:t>
            </a:r>
          </a:p>
          <a:p>
            <a:pPr>
              <a:spcAft>
                <a:spcPts val="300"/>
              </a:spcAft>
              <a:defRPr sz="1300">
                <a:solidFill>
                  <a:srgbClr val="94A3B8"/>
                </a:solidFill>
              </a:defRPr>
            </a:pPr>
            <a:r>
              <a:t>uv run python -m chhaya.data.audit</a:t>
            </a:r>
          </a:p>
          <a:p>
            <a:pPr>
              <a:spcAft>
                <a:spcPts val="300"/>
              </a:spcAft>
              <a:defRPr sz="1300">
                <a:solidFill>
                  <a:srgbClr val="94A3B8"/>
                </a:solidFill>
              </a:defRPr>
            </a:pPr>
            <a:r>
              <a:t># Step 5: Launch local zero-dependency dashboard</a:t>
            </a:r>
          </a:p>
          <a:p>
            <a:pPr>
              <a:spcAft>
                <a:spcPts val="300"/>
              </a:spcAft>
              <a:defRPr sz="1300">
                <a:solidFill>
                  <a:srgbClr val="94A3B8"/>
                </a:solidFill>
              </a:defRPr>
            </a:pPr>
            <a:r>
              <a:t>uv run python -m chhaya.dashboard</a:t>
            </a:r>
          </a:p>
          <a:p>
            <a:pPr>
              <a:spcAft>
                <a:spcPts val="300"/>
              </a:spcAft>
              <a:defRPr sz="1300">
                <a:solidFill>
                  <a:srgbClr val="94A3B8"/>
                </a:solidFill>
              </a:defRPr>
            </a:pPr>
            <a:r>
              <a:t>```</a:t>
            </a:r>
          </a:p>
          <a:p>
            <a:pPr>
              <a:spcAft>
                <a:spcPts val="300"/>
              </a:spcAft>
              <a:defRPr sz="1300">
                <a:solidFill>
                  <a:srgbClr val="F8FAFC"/>
                </a:solidFill>
              </a:defRPr>
            </a:pPr>
            <a:r>
              <a:t>•  Banner: "Every single claim, number, table, and graph in this presentation is generated by a single deterministic command."</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Package Architecture &amp; Codebase Map</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Tree Diagram of Repository Architecture:</a:t>
            </a:r>
          </a:p>
          <a:p>
            <a:pPr>
              <a:spcAft>
                <a:spcPts val="300"/>
              </a:spcAft>
              <a:defRPr sz="1300">
                <a:solidFill>
                  <a:srgbClr val="F8FAFC"/>
                </a:solidFill>
              </a:defRPr>
            </a:pPr>
            <a:r>
              <a:t>•  `src/chhaya/`</a:t>
            </a:r>
          </a:p>
          <a:p>
            <a:pPr>
              <a:spcAft>
                <a:spcPts val="300"/>
              </a:spcAft>
              <a:defRPr sz="1300">
                <a:solidFill>
                  <a:srgbClr val="F8FAFC"/>
                </a:solidFill>
              </a:defRPr>
            </a:pPr>
            <a:r>
              <a:t>•  `twin/` — Algorithmic core: `model.py` (JAX ODE), `fit.py` (MAP), `assimilate.py`, `staleness.py`</a:t>
            </a:r>
          </a:p>
          <a:p>
            <a:pPr>
              <a:spcAft>
                <a:spcPts val="300"/>
              </a:spcAft>
              <a:defRPr sz="1300">
                <a:solidFill>
                  <a:srgbClr val="F8FAFC"/>
                </a:solidFill>
              </a:defRPr>
            </a:pPr>
            <a:r>
              <a:t>•  `data/` — Ingestion &amp; validation: `schema.py`, `download.py`, `pairs.py`, `audit.py`</a:t>
            </a:r>
          </a:p>
          <a:p>
            <a:pPr>
              <a:spcAft>
                <a:spcPts val="300"/>
              </a:spcAft>
              <a:defRPr sz="1300">
                <a:solidFill>
                  <a:srgbClr val="F8FAFC"/>
                </a:solidFill>
              </a:defRPr>
            </a:pPr>
            <a:r>
              <a:t>•  `eval/` — Pre-registered experiments: `gate2.py`, `gate3.py`, `fingersticks.py`, `expiry.py`</a:t>
            </a:r>
          </a:p>
          <a:p>
            <a:pPr>
              <a:spcAft>
                <a:spcPts val="300"/>
              </a:spcAft>
              <a:defRPr sz="1300">
                <a:solidFill>
                  <a:srgbClr val="F8FAFC"/>
                </a:solidFill>
              </a:defRPr>
            </a:pPr>
            <a:r>
              <a:t>•  `product/` — Clinical bundle builders: `patient.py`, `record.py`, `whatif.py`, `evidence.py`</a:t>
            </a:r>
          </a:p>
          <a:p>
            <a:pPr>
              <a:spcAft>
                <a:spcPts val="300"/>
              </a:spcAft>
              <a:defRPr sz="1300">
                <a:solidFill>
                  <a:srgbClr val="F8FAFC"/>
                </a:solidFill>
              </a:defRPr>
            </a:pPr>
            <a:r>
              <a:t>•  `dashboard/` — Zero-dependency web server and static assets (`app.js`, `index.html`)</a:t>
            </a:r>
          </a:p>
          <a:p>
            <a:pPr>
              <a:spcAft>
                <a:spcPts val="300"/>
              </a:spcAft>
              <a:defRPr sz="1300">
                <a:solidFill>
                  <a:srgbClr val="F8FAFC"/>
                </a:solidFill>
              </a:defRPr>
            </a:pPr>
            <a:r>
              <a:t>•  `tests/` — Synthetic patient fixtures, zero-leakage assertions, invariant unit tests</a:t>
            </a:r>
          </a:p>
          <a:p>
            <a:pPr>
              <a:spcAft>
                <a:spcPts val="300"/>
              </a:spcAft>
              <a:defRPr sz="1300">
                <a:solidFill>
                  <a:srgbClr val="F8FAFC"/>
                </a:solidFill>
              </a:defRPr>
            </a:pPr>
            <a:r>
              <a:t>•  `results/` — Committed aggregate metrics and summary JSONs (no raw patient data)</a:t>
            </a:r>
          </a:p>
          <a:p>
            <a:pPr>
              <a:spcAft>
                <a:spcPts val="300"/>
              </a:spcAft>
              <a:defRPr sz="1300">
                <a:solidFill>
                  <a:srgbClr val="F8FAFC"/>
                </a:solidFill>
              </a:defRPr>
            </a:pPr>
            <a:r>
              <a:t>•  `docs/` — Pre-registration records, architecture diagrams, decision records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Automated Test Suite &amp; Invariant Verification</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30352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4754880" cy="4023360"/>
          </a:xfrm>
          <a:prstGeom prst="rect">
            <a:avLst/>
          </a:prstGeom>
          <a:noFill/>
        </p:spPr>
        <p:txBody>
          <a:bodyPr wrap="square">
            <a:spAutoFit/>
          </a:bodyPr>
          <a:lstStyle/>
          <a:p>
            <a:pPr>
              <a:spcAft>
                <a:spcPts val="300"/>
              </a:spcAft>
              <a:defRPr sz="1300">
                <a:solidFill>
                  <a:srgbClr val="F8FAFC"/>
                </a:solidFill>
              </a:defRPr>
            </a:pPr>
            <a:r>
              <a:t>•  Test Execution Summary:</a:t>
            </a:r>
          </a:p>
          <a:p>
            <a:pPr>
              <a:spcAft>
                <a:spcPts val="300"/>
              </a:spcAft>
              <a:defRPr sz="1300">
                <a:solidFill>
                  <a:srgbClr val="F8FAFC"/>
                </a:solidFill>
              </a:defRPr>
            </a:pPr>
            <a:r>
              <a:t>•  Command: `uv run pytest -q`</a:t>
            </a:r>
          </a:p>
          <a:p>
            <a:pPr>
              <a:spcAft>
                <a:spcPts val="300"/>
              </a:spcAft>
              <a:defRPr sz="1300">
                <a:solidFill>
                  <a:srgbClr val="F8FAFC"/>
                </a:solidFill>
              </a:defRPr>
            </a:pPr>
            <a:r>
              <a:t>•  Total Unit &amp; Integration Tests: 42 passed</a:t>
            </a:r>
          </a:p>
          <a:p>
            <a:pPr>
              <a:spcAft>
                <a:spcPts val="300"/>
              </a:spcAft>
              <a:defRPr sz="1300">
                <a:solidFill>
                  <a:srgbClr val="F8FAFC"/>
                </a:solidFill>
              </a:defRPr>
            </a:pPr>
            <a:r>
              <a:t>•  Execution Time: ~4.5 seconds</a:t>
            </a:r>
          </a:p>
          <a:p>
            <a:pPr>
              <a:spcAft>
                <a:spcPts val="300"/>
              </a:spcAft>
              <a:defRPr sz="1300">
                <a:solidFill>
                  <a:srgbClr val="F8FAFC"/>
                </a:solidFill>
              </a:defRPr>
            </a:pPr>
            <a:r>
              <a:t>•  Key Invariant Tests:</a:t>
            </a:r>
          </a:p>
          <a:p>
            <a:pPr>
              <a:spcAft>
                <a:spcPts val="300"/>
              </a:spcAft>
              <a:defRPr sz="1300">
                <a:solidFill>
                  <a:srgbClr val="F8FAFC"/>
                </a:solidFill>
              </a:defRPr>
            </a:pPr>
            <a:r>
              <a:t>•  `test_zero_leakage_future_sensor`: Modifies future CGM readings; verifies zero perturbation in twin state</a:t>
            </a:r>
          </a:p>
          <a:p>
            <a:pPr>
              <a:spcAft>
                <a:spcPts val="300"/>
              </a:spcAft>
              <a:defRPr sz="1300">
                <a:solidFill>
                  <a:srgbClr val="F8FAFC"/>
                </a:solidFill>
              </a:defRPr>
            </a:pPr>
            <a:r>
              <a:t>•  `test_ode_conservation_of_mass`: Verifies mass conservation across gut and plasma compartments</a:t>
            </a:r>
          </a:p>
          <a:p>
            <a:pPr>
              <a:spcAft>
                <a:spcPts val="300"/>
              </a:spcAft>
              <a:defRPr sz="1300">
                <a:solidFill>
                  <a:srgbClr val="F8FAFC"/>
                </a:solidFill>
              </a:defRPr>
            </a:pPr>
            <a:r>
              <a:t>•  `test_parameter_bounds`: Asserts all 7 θ parameters remain within physiological bounds</a:t>
            </a:r>
          </a:p>
          <a:p>
            <a:pPr>
              <a:spcAft>
                <a:spcPts val="300"/>
              </a:spcAft>
              <a:defRPr sz="1300">
                <a:solidFill>
                  <a:srgbClr val="F8FAFC"/>
                </a:solidFill>
              </a:defRPr>
            </a:pPr>
            <a:r>
              <a:t>•  `test_laplace_hessian_positive_definite`: Verifies valid covariance matrix generation</a:t>
            </a:r>
          </a:p>
          <a:p>
            <a:pPr>
              <a:spcAft>
                <a:spcPts val="300"/>
              </a:spcAft>
              <a:defRPr sz="1300">
                <a:solidFill>
                  <a:srgbClr val="F8FAFC"/>
                </a:solidFill>
              </a:defRPr>
            </a:pPr>
            <a:r>
              <a:t>•  `test_synthetic_patient_ground_truth`: Validates parameter recovery on synthetic patients</a:t>
            </a:r>
          </a:p>
        </p:txBody>
      </p:sp>
      <p:sp>
        <p:nvSpPr>
          <p:cNvPr id="8" name="Rounded Rectangle 7"/>
          <p:cNvSpPr/>
          <p:nvPr/>
        </p:nvSpPr>
        <p:spPr>
          <a:xfrm>
            <a:off x="6309360" y="1645920"/>
            <a:ext cx="5120640" cy="457200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ate2-by-group.png"/>
          <p:cNvPicPr>
            <a:picLocks noChangeAspect="1"/>
          </p:cNvPicPr>
          <p:nvPr/>
        </p:nvPicPr>
        <p:blipFill>
          <a:blip r:embed="rId3"/>
          <a:stretch>
            <a:fillRect/>
          </a:stretch>
        </p:blipFill>
        <p:spPr>
          <a:xfrm>
            <a:off x="6400800" y="1828800"/>
            <a:ext cx="4937760" cy="2439834"/>
          </a:xfrm>
          <a:prstGeom prst="rect">
            <a:avLst/>
          </a:prstGeom>
        </p:spPr>
      </p:pic>
      <p:sp>
        <p:nvSpPr>
          <p:cNvPr id="10" name="TextBox 9"/>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Data Pipeline &amp; Cryptographic Checksum Integrity</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Cryptographic Verification Flow:</a:t>
            </a:r>
          </a:p>
          <a:p>
            <a:pPr>
              <a:spcAft>
                <a:spcPts val="300"/>
              </a:spcAft>
              <a:defRPr sz="1300">
                <a:solidFill>
                  <a:srgbClr val="F8FAFC"/>
                </a:solidFill>
              </a:defRPr>
            </a:pPr>
            <a:r>
              <a:t>•  ShanghaiT2DM Source: SHA-256 verified download from Nature Scientific Data repository</a:t>
            </a:r>
          </a:p>
          <a:p>
            <a:pPr>
              <a:spcAft>
                <a:spcPts val="300"/>
              </a:spcAft>
              <a:defRPr sz="1300">
                <a:solidFill>
                  <a:srgbClr val="F8FAFC"/>
                </a:solidFill>
              </a:defRPr>
            </a:pPr>
            <a:r>
              <a:t>•  CGMacros Source: SHA-256 verified download from PhysioNet repository</a:t>
            </a:r>
          </a:p>
          <a:p>
            <a:pPr>
              <a:spcAft>
                <a:spcPts val="300"/>
              </a:spcAft>
              <a:defRPr sz="1300">
                <a:solidFill>
                  <a:srgbClr val="F8FAFC"/>
                </a:solidFill>
              </a:defRPr>
            </a:pPr>
            <a:r>
              <a:t>•  Pipeline Step: `python -m chhaya.data.download`</a:t>
            </a:r>
          </a:p>
          <a:p>
            <a:pPr>
              <a:spcAft>
                <a:spcPts val="300"/>
              </a:spcAft>
              <a:defRPr sz="1300">
                <a:solidFill>
                  <a:srgbClr val="F8FAFC"/>
                </a:solidFill>
              </a:defRPr>
            </a:pPr>
            <a:r>
              <a:t>•  Downloads raw archives</a:t>
            </a:r>
          </a:p>
          <a:p>
            <a:pPr>
              <a:spcAft>
                <a:spcPts val="300"/>
              </a:spcAft>
              <a:defRPr sz="1300">
                <a:solidFill>
                  <a:srgbClr val="F8FAFC"/>
                </a:solidFill>
              </a:defRPr>
            </a:pPr>
            <a:r>
              <a:t>•  Validates SHA-256 hash against committed manifest in `src/chhaya/data/download.py`</a:t>
            </a:r>
          </a:p>
          <a:p>
            <a:pPr>
              <a:spcAft>
                <a:spcPts val="300"/>
              </a:spcAft>
              <a:defRPr sz="1300">
                <a:solidFill>
                  <a:srgbClr val="F8FAFC"/>
                </a:solidFill>
              </a:defRPr>
            </a:pPr>
            <a:r>
              <a:t>•  Extracts into local, git-ignored `data/raw/` directory</a:t>
            </a:r>
          </a:p>
          <a:p>
            <a:pPr>
              <a:spcAft>
                <a:spcPts val="300"/>
              </a:spcAft>
              <a:defRPr sz="1300">
                <a:solidFill>
                  <a:srgbClr val="F8FAFC"/>
                </a:solidFill>
              </a:defRPr>
            </a:pPr>
            <a:r>
              <a:t>•  Aborts immediately if a single byte diverges from published benchmark</a:t>
            </a:r>
          </a:p>
          <a:p>
            <a:pPr>
              <a:spcAft>
                <a:spcPts val="300"/>
              </a:spcAft>
              <a:defRPr sz="1300">
                <a:solidFill>
                  <a:srgbClr val="F8FAFC"/>
                </a:solidFill>
              </a:defRPr>
            </a:pPr>
            <a:r>
              <a:t>•  Security Guarantee: Zero risk of silent upstream dataset drift or corrupted evaluation data.</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Evaluation Pipeline: The `--confirm` Gatekeeper</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Terminal Screenshot: The `--confirm` Protection Protocol</a:t>
            </a:r>
          </a:p>
          <a:p>
            <a:pPr>
              <a:spcAft>
                <a:spcPts val="300"/>
              </a:spcAft>
              <a:defRPr sz="1300">
                <a:solidFill>
                  <a:srgbClr val="94A3B8"/>
                </a:solidFill>
              </a:defRPr>
            </a:pPr>
            <a:r>
              <a:t>```bash</a:t>
            </a:r>
          </a:p>
          <a:p>
            <a:pPr>
              <a:spcAft>
                <a:spcPts val="300"/>
              </a:spcAft>
              <a:defRPr sz="1300">
                <a:solidFill>
                  <a:srgbClr val="94A3B8"/>
                </a:solidFill>
              </a:defRPr>
            </a:pPr>
            <a:r>
              <a:t>$ uv run python -m chhaya.eval.gate2 --confirm</a:t>
            </a:r>
          </a:p>
          <a:p>
            <a:pPr>
              <a:spcAft>
                <a:spcPts val="300"/>
              </a:spcAft>
              <a:defRPr sz="1300">
                <a:solidFill>
                  <a:srgbClr val="94A3B8"/>
                </a:solidFill>
              </a:defRPr>
            </a:pPr>
            <a:r>
              <a:t>[CHHAYA EVAL] Checking git repository status... Clean.</a:t>
            </a:r>
          </a:p>
          <a:p>
            <a:pPr>
              <a:spcAft>
                <a:spcPts val="300"/>
              </a:spcAft>
              <a:defRPr sz="1300">
                <a:solidFill>
                  <a:srgbClr val="94A3B8"/>
                </a:solidFill>
              </a:defRPr>
            </a:pPr>
            <a:r>
              <a:t>[CHHAYA EVAL] Pre-registration hash verified: commit 4a3aa7</a:t>
            </a:r>
          </a:p>
          <a:p>
            <a:pPr>
              <a:spcAft>
                <a:spcPts val="300"/>
              </a:spcAft>
              <a:defRPr sz="1300">
                <a:solidFill>
                  <a:srgbClr val="94A3B8"/>
                </a:solidFill>
              </a:defRPr>
            </a:pPr>
            <a:r>
              <a:t>[CHHAYA EVAL] Unmasking held-out test split (19 participants)...</a:t>
            </a:r>
          </a:p>
          <a:p>
            <a:pPr>
              <a:spcAft>
                <a:spcPts val="300"/>
              </a:spcAft>
              <a:defRPr sz="1300">
                <a:solidFill>
                  <a:srgbClr val="94A3B8"/>
                </a:solidFill>
              </a:defRPr>
            </a:pPr>
            <a:r>
              <a:t>[CHHAYA EVAL] Scoring held-out patients ONCE...</a:t>
            </a:r>
          </a:p>
          <a:p>
            <a:pPr>
              <a:spcAft>
                <a:spcPts val="300"/>
              </a:spcAft>
              <a:defRPr sz="1300">
                <a:solidFill>
                  <a:srgbClr val="94A3B8"/>
                </a:solidFill>
              </a:defRPr>
            </a:pPr>
            <a:r>
              <a:t>[CHHAYA EVAL] Writing immutable results to results/gate2/summary.json</a:t>
            </a:r>
          </a:p>
          <a:p>
            <a:pPr>
              <a:spcAft>
                <a:spcPts val="300"/>
              </a:spcAft>
              <a:defRPr sz="1300">
                <a:solidFill>
                  <a:srgbClr val="94A3B8"/>
                </a:solidFill>
              </a:defRPr>
            </a:pPr>
            <a:r>
              <a:t>```</a:t>
            </a:r>
          </a:p>
          <a:p>
            <a:pPr>
              <a:spcAft>
                <a:spcPts val="300"/>
              </a:spcAft>
              <a:defRPr sz="1300">
                <a:solidFill>
                  <a:srgbClr val="F8FAFC"/>
                </a:solidFill>
              </a:defRPr>
            </a:pPr>
            <a:r>
              <a:t>•  Safety Mechanism: Without `--confirm`, commands run in development mode (cross-validated on dev patients only).</a:t>
            </a:r>
          </a:p>
          <a:p>
            <a:pPr>
              <a:spcAft>
                <a:spcPts val="300"/>
              </a:spcAft>
              <a:defRPr sz="1300">
                <a:solidFill>
                  <a:srgbClr val="F8FAFC"/>
                </a:solidFill>
              </a:defRPr>
            </a:pPr>
            <a:r>
              <a:t>•  Test patients can NEVER be evaluated without a committed git tree and explicit confirmation.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Building the Production Bundle (`chhaya.build`)</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Build Pipeline Flowchart:</a:t>
            </a:r>
          </a:p>
          <a:p>
            <a:pPr>
              <a:spcAft>
                <a:spcPts val="300"/>
              </a:spcAft>
              <a:defRPr sz="1300">
                <a:solidFill>
                  <a:srgbClr val="F8FAFC"/>
                </a:solidFill>
              </a:defRPr>
            </a:pPr>
            <a:r>
              <a:t>•  Command: `uv run python -m chhaya.build` (Creates demo bundle with synthetic patient Mrs. R.)</a:t>
            </a:r>
          </a:p>
          <a:p>
            <a:pPr>
              <a:spcAft>
                <a:spcPts val="300"/>
              </a:spcAft>
              <a:defRPr sz="1300">
                <a:solidFill>
                  <a:srgbClr val="F8FAFC"/>
                </a:solidFill>
              </a:defRPr>
            </a:pPr>
            <a:r>
              <a:t>•  Command: `uv run python -m chhaya.build --real --confirm` (Adds all 49 held-out patients to local private bundle)</a:t>
            </a:r>
          </a:p>
          <a:p>
            <a:pPr>
              <a:spcAft>
                <a:spcPts val="300"/>
              </a:spcAft>
              <a:defRPr sz="1300">
                <a:solidFill>
                  <a:srgbClr val="F8FAFC"/>
                </a:solidFill>
              </a:defRPr>
            </a:pPr>
            <a:r>
              <a:t>•  Processing Steps:</a:t>
            </a:r>
          </a:p>
          <a:p>
            <a:pPr>
              <a:spcAft>
                <a:spcPts val="300"/>
              </a:spcAft>
              <a:defRPr sz="1300">
                <a:solidFill>
                  <a:srgbClr val="94A3B8"/>
                </a:solidFill>
              </a:defRPr>
            </a:pPr>
            <a:r>
              <a:t>1. Ingests raw recordings &amp; EHR files</a:t>
            </a:r>
          </a:p>
          <a:p>
            <a:pPr>
              <a:spcAft>
                <a:spcPts val="300"/>
              </a:spcAft>
              <a:defRPr sz="1300">
                <a:solidFill>
                  <a:srgbClr val="94A3B8"/>
                </a:solidFill>
              </a:defRPr>
            </a:pPr>
            <a:r>
              <a:t>2. Runs JAX ODE forward-simulation across each post-sensor day</a:t>
            </a:r>
          </a:p>
          <a:p>
            <a:pPr>
              <a:spcAft>
                <a:spcPts val="300"/>
              </a:spcAft>
              <a:defRPr sz="1300">
                <a:solidFill>
                  <a:srgbClr val="94A3B8"/>
                </a:solidFill>
              </a:defRPr>
            </a:pPr>
            <a:r>
              <a:t>3. Computes Laplace uncertainty corridors</a:t>
            </a:r>
          </a:p>
          <a:p>
            <a:pPr>
              <a:spcAft>
                <a:spcPts val="300"/>
              </a:spcAft>
              <a:defRPr sz="1300">
                <a:solidFill>
                  <a:srgbClr val="94A3B8"/>
                </a:solidFill>
              </a:defRPr>
            </a:pPr>
            <a:r>
              <a:t>4. Evaluates CUSUM staleness statistics</a:t>
            </a:r>
          </a:p>
          <a:p>
            <a:pPr>
              <a:spcAft>
                <a:spcPts val="300"/>
              </a:spcAft>
              <a:defRPr sz="1300">
                <a:solidFill>
                  <a:srgbClr val="94A3B8"/>
                </a:solidFill>
              </a:defRPr>
            </a:pPr>
            <a:r>
              <a:t>5. Computes counterfactual what-if simulations</a:t>
            </a:r>
          </a:p>
          <a:p>
            <a:pPr>
              <a:spcAft>
                <a:spcPts val="300"/>
              </a:spcAft>
              <a:defRPr sz="1300">
                <a:solidFill>
                  <a:srgbClr val="94A3B8"/>
                </a:solidFill>
              </a:defRPr>
            </a:pPr>
            <a:r>
              <a:t>6. Emits static JSON artifacts to `src/chhaya/dashboard/static/data/`</a:t>
            </a:r>
          </a:p>
          <a:p>
            <a:pPr>
              <a:spcAft>
                <a:spcPts val="300"/>
              </a:spcAft>
              <a:defRPr sz="1300">
                <a:solidFill>
                  <a:srgbClr val="F8FAFC"/>
                </a:solidFill>
              </a:defRPr>
            </a:pPr>
            <a:r>
              <a:t>•  Zero-latency runtime: Clinical browser simply renders pre-compiled JSON.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E: REPRODUCIBILITY &amp; ENGINEERING (SLIDES 49–55)  •  SLIDE 55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Privacy, De-Identification &amp; Clinical Data Governance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Data Governance Matrix:</a:t>
            </a:r>
          </a:p>
          <a:p>
            <a:pPr>
              <a:spcAft>
                <a:spcPts val="300"/>
              </a:spcAft>
              <a:defRPr sz="1300">
                <a:solidFill>
                  <a:srgbClr val="94A3B8"/>
                </a:solidFill>
              </a:defRPr>
            </a:pPr>
            <a:r>
              <a:t>| Data Type | Repository Status | Storage Location | Privacy Protection |</a:t>
            </a:r>
          </a:p>
          <a:p>
            <a:pPr>
              <a:spcAft>
                <a:spcPts val="300"/>
              </a:spcAft>
              <a:defRPr sz="1300">
                <a:solidFill>
                  <a:srgbClr val="94A3B8"/>
                </a:solidFill>
              </a:defRPr>
            </a:pPr>
            <a:r>
              <a:t>|---|---|---|---|</a:t>
            </a:r>
          </a:p>
          <a:p>
            <a:pPr>
              <a:spcAft>
                <a:spcPts val="300"/>
              </a:spcAft>
              <a:defRPr sz="1300">
                <a:solidFill>
                  <a:srgbClr val="94A3B8"/>
                </a:solidFill>
              </a:defRPr>
            </a:pPr>
            <a:r>
              <a:t>| Source Code | Public (MIT) | GitHub | Full open-source access |</a:t>
            </a:r>
          </a:p>
          <a:p>
            <a:pPr>
              <a:spcAft>
                <a:spcPts val="300"/>
              </a:spcAft>
              <a:defRPr sz="1300">
                <a:solidFill>
                  <a:srgbClr val="94A3B8"/>
                </a:solidFill>
              </a:defRPr>
            </a:pPr>
            <a:r>
              <a:t>| Raw Clinical Traces | Git-Ignored | Local `data/raw/` | Downloaded via script; never redistributed |</a:t>
            </a:r>
          </a:p>
          <a:p>
            <a:pPr>
              <a:spcAft>
                <a:spcPts val="300"/>
              </a:spcAft>
              <a:defRPr sz="1300">
                <a:solidFill>
                  <a:srgbClr val="94A3B8"/>
                </a:solidFill>
              </a:defRPr>
            </a:pPr>
            <a:r>
              <a:t>| Per-Reading Traces | Private Local | Local `data/derived/` | Kept local; never committed to repo |</a:t>
            </a:r>
          </a:p>
          <a:p>
            <a:pPr>
              <a:spcAft>
                <a:spcPts val="300"/>
              </a:spcAft>
              <a:defRPr sz="1300">
                <a:solidFill>
                  <a:srgbClr val="94A3B8"/>
                </a:solidFill>
              </a:defRPr>
            </a:pPr>
            <a:r>
              <a:t>| Aggregate Metrics | Public Committed | `results/` | Summary statistics only (no individual rows) |</a:t>
            </a:r>
          </a:p>
          <a:p>
            <a:pPr>
              <a:spcAft>
                <a:spcPts val="300"/>
              </a:spcAft>
              <a:defRPr sz="1300">
                <a:solidFill>
                  <a:srgbClr val="94A3B8"/>
                </a:solidFill>
              </a:defRPr>
            </a:pPr>
            <a:r>
              <a:t>| Patient Identifiers | Pseudonymized | Synthetic Names | Algorithmic pseudonyms assigned on-the-fly |</a:t>
            </a:r>
          </a:p>
          <a:p>
            <a:pPr>
              <a:spcAft>
                <a:spcPts val="300"/>
              </a:spcAft>
              <a:defRPr sz="1300">
                <a:solidFill>
                  <a:srgbClr val="94A3B8"/>
                </a:solidFill>
              </a:defRPr>
            </a:pPr>
            <a:r>
              <a:t>| Public Demo Patient | Synthetic | `demo/` | 100% simulated patient data (Mrs. R.) |</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56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Negative Results Charter: Why Publishing Misses Matters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Statement Slide: **The Negative Results Charter**</a:t>
            </a:r>
          </a:p>
          <a:p>
            <a:pPr>
              <a:spcAft>
                <a:spcPts val="300"/>
              </a:spcAft>
              <a:defRPr sz="1300">
                <a:solidFill>
                  <a:srgbClr val="F8FAFC"/>
                </a:solidFill>
              </a:defRPr>
            </a:pPr>
            <a:r>
              <a:t>•  "In medical AI, publishing only successes is not science—it is advertising."</a:t>
            </a:r>
          </a:p>
          <a:p>
            <a:pPr>
              <a:spcAft>
                <a:spcPts val="300"/>
              </a:spcAft>
              <a:defRPr sz="1300">
                <a:solidFill>
                  <a:srgbClr val="F8FAFC"/>
                </a:solidFill>
              </a:defRPr>
            </a:pPr>
            <a:r>
              <a:t>•  4 Misses Published in Chhaya:</a:t>
            </a:r>
          </a:p>
          <a:p>
            <a:pPr>
              <a:spcAft>
                <a:spcPts val="300"/>
              </a:spcAft>
              <a:defRPr sz="1300">
                <a:solidFill>
                  <a:srgbClr val="94A3B8"/>
                </a:solidFill>
              </a:defRPr>
            </a:pPr>
            <a:r>
              <a:t>1. Gate 3 Post-Meal Excursion Fusion (Missed: AUPRC 0.60 vs 0.64 single-stream)</a:t>
            </a:r>
          </a:p>
          <a:p>
            <a:pPr>
              <a:spcAft>
                <a:spcPts val="300"/>
              </a:spcAft>
              <a:defRPr sz="1300">
                <a:solidFill>
                  <a:srgbClr val="94A3B8"/>
                </a:solidFill>
              </a:defRPr>
            </a:pPr>
            <a:r>
              <a:t>2. EHR Fasting Prior Benefit (Missed: 0.02 mg/dL delta, $p = 0.16$)</a:t>
            </a:r>
          </a:p>
          <a:p>
            <a:pPr>
              <a:spcAft>
                <a:spcPts val="300"/>
              </a:spcAft>
              <a:defRPr sz="1300">
                <a:solidFill>
                  <a:srgbClr val="94A3B8"/>
                </a:solidFill>
              </a:defRPr>
            </a:pPr>
            <a:r>
              <a:t>3. CUSUM vs Plain Average Superiority (Missed: Tied at AUROC 0.82)</a:t>
            </a:r>
          </a:p>
          <a:p>
            <a:pPr>
              <a:spcAft>
                <a:spcPts val="300"/>
              </a:spcAft>
              <a:defRPr sz="1300">
                <a:solidFill>
                  <a:srgbClr val="94A3B8"/>
                </a:solidFill>
              </a:defRPr>
            </a:pPr>
            <a:r>
              <a:t>4. Twin Band Recalibration Transfer (Missed: Factor 0.78 degraded test calibration)</a:t>
            </a:r>
          </a:p>
          <a:p>
            <a:pPr>
              <a:spcAft>
                <a:spcPts val="300"/>
              </a:spcAft>
              <a:defRPr sz="1300">
                <a:solidFill>
                  <a:srgbClr val="F8FAFC"/>
                </a:solidFill>
              </a:defRPr>
            </a:pPr>
            <a:r>
              <a:t>•  Banner: "Negative results establish the clinical boundary conditions where technology must yield to human judgment."</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57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Limits of Physiology: The 2% Incremental Gain Reality</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Empirical Breakdown: Where does the predictive power actually come from?</a:t>
            </a:r>
          </a:p>
          <a:p>
            <a:pPr>
              <a:spcAft>
                <a:spcPts val="300"/>
              </a:spcAft>
              <a:defRPr sz="1300">
                <a:solidFill>
                  <a:srgbClr val="F8FAFC"/>
                </a:solidFill>
              </a:defRPr>
            </a:pPr>
            <a:r>
              <a:t>•  Baseline: Patient's Own Average Day (Historical Habitual Pattern) → Accounts for ~94% of accuracy</a:t>
            </a:r>
          </a:p>
          <a:p>
            <a:pPr>
              <a:spcAft>
                <a:spcPts val="300"/>
              </a:spcAft>
              <a:defRPr sz="1300">
                <a:solidFill>
                  <a:srgbClr val="F8FAFC"/>
                </a:solidFill>
              </a:defRPr>
            </a:pPr>
            <a:r>
              <a:t>•  Meal Log Ingestion (Nutritional Carbohydrate Inputs) → Adds ~4% incremental accuracy</a:t>
            </a:r>
          </a:p>
          <a:p>
            <a:pPr>
              <a:spcAft>
                <a:spcPts val="300"/>
              </a:spcAft>
              <a:defRPr sz="1300">
                <a:solidFill>
                  <a:srgbClr val="F8FAFC"/>
                </a:solidFill>
              </a:defRPr>
            </a:pPr>
            <a:r>
              <a:t>•  E-DES Differential Equation Physiology (Complex JAX ODE Model) → Adds **~2% incremental accuracy**</a:t>
            </a:r>
          </a:p>
          <a:p>
            <a:pPr>
              <a:spcAft>
                <a:spcPts val="300"/>
              </a:spcAft>
              <a:defRPr sz="1300">
                <a:solidFill>
                  <a:srgbClr val="F8FAFC"/>
                </a:solidFill>
              </a:defRPr>
            </a:pPr>
            <a:r>
              <a:t>•  Graphic: Pie chart demonstrating that human lifestyle habit dominates mathematical ODE kinetics.</a:t>
            </a:r>
          </a:p>
          <a:p>
            <a:pPr>
              <a:spcAft>
                <a:spcPts val="300"/>
              </a:spcAft>
              <a:defRPr sz="1300">
                <a:solidFill>
                  <a:srgbClr val="F8FAFC"/>
                </a:solidFill>
              </a:defRPr>
            </a:pPr>
            <a:r>
              <a:t>•  Takeaway: "Complex differential equations are biologically elegant, but habit and regular fingersticks do the heavy lifting."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58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Cohort Boundary Conditions: Supervised vs Outpatient Care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Contrast Table: Clinical Cohort Differences:</a:t>
            </a:r>
          </a:p>
          <a:p>
            <a:pPr>
              <a:spcAft>
                <a:spcPts val="300"/>
              </a:spcAft>
              <a:defRPr sz="1300">
                <a:solidFill>
                  <a:srgbClr val="94A3B8"/>
                </a:solidFill>
              </a:defRPr>
            </a:pPr>
            <a:r>
              <a:t>| Dimension | ShanghaiT2DM Cohort | CGMacros Cohort | Target Indian Clinic |</a:t>
            </a:r>
          </a:p>
          <a:p>
            <a:pPr>
              <a:spcAft>
                <a:spcPts val="300"/>
              </a:spcAft>
              <a:defRPr sz="1300">
                <a:solidFill>
                  <a:srgbClr val="94A3B8"/>
                </a:solidFill>
              </a:defRPr>
            </a:pPr>
            <a:r>
              <a:t>|---|---|---|---|</a:t>
            </a:r>
          </a:p>
          <a:p>
            <a:pPr>
              <a:spcAft>
                <a:spcPts val="300"/>
              </a:spcAft>
              <a:defRPr sz="1300">
                <a:solidFill>
                  <a:srgbClr val="94A3B8"/>
                </a:solidFill>
              </a:defRPr>
            </a:pPr>
            <a:r>
              <a:t>| Clinical Setting | Inpatient Hospitalization | Free-Living Ambulatory | Outpatient Ambulatory |</a:t>
            </a:r>
          </a:p>
          <a:p>
            <a:pPr>
              <a:spcAft>
                <a:spcPts val="300"/>
              </a:spcAft>
              <a:defRPr sz="1300">
                <a:solidFill>
                  <a:srgbClr val="94A3B8"/>
                </a:solidFill>
              </a:defRPr>
            </a:pPr>
            <a:r>
              <a:t>| Treatment Stability | Daily Active Titration | Unrecorded / Stable | Periodic Titration |</a:t>
            </a:r>
          </a:p>
          <a:p>
            <a:pPr>
              <a:spcAft>
                <a:spcPts val="300"/>
              </a:spcAft>
              <a:defRPr sz="1300">
                <a:solidFill>
                  <a:srgbClr val="94A3B8"/>
                </a:solidFill>
              </a:defRPr>
            </a:pPr>
            <a:r>
              <a:t>| Testing Frequency | ~6 Fingersticks / Day | No Fingersticks (CGM only) | 1–3 Fingersticks / Day |</a:t>
            </a:r>
          </a:p>
          <a:p>
            <a:pPr>
              <a:spcAft>
                <a:spcPts val="300"/>
              </a:spcAft>
              <a:defRPr sz="1300">
                <a:solidFill>
                  <a:srgbClr val="94A3B8"/>
                </a:solidFill>
              </a:defRPr>
            </a:pPr>
            <a:r>
              <a:t>| Glycemic Drift | 1.0 mg/dL per day downward | None detected over 7 days | Highly variable |</a:t>
            </a:r>
          </a:p>
          <a:p>
            <a:pPr>
              <a:spcAft>
                <a:spcPts val="300"/>
              </a:spcAft>
              <a:defRPr sz="1300">
                <a:solidFill>
                  <a:srgbClr val="94A3B8"/>
                </a:solidFill>
              </a:defRPr>
            </a:pPr>
            <a:r>
              <a:t>| Nutrition | Controlled Inpatient Diet | Free-Living Self-Report | High-Carb Indian Diet |</a:t>
            </a:r>
          </a:p>
          <a:p>
            <a:pPr>
              <a:spcAft>
                <a:spcPts val="300"/>
              </a:spcAft>
              <a:defRPr sz="1300">
                <a:solidFill>
                  <a:srgbClr val="F8FAFC"/>
                </a:solidFill>
              </a:defRPr>
            </a:pPr>
            <a:r>
              <a:t>•  Known Boundary: "Chhaya's drift detector was validated in supervised inpatient care. Outpatient validation is required before general clinical deployment."</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59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Uncertainty Calibration Limits: Group vs Individual Coverage</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Distribution Plot: Individual Patient 80% Band Coverage</a:t>
            </a:r>
          </a:p>
          <a:p>
            <a:pPr>
              <a:spcAft>
                <a:spcPts val="300"/>
              </a:spcAft>
              <a:defRPr sz="1300">
                <a:solidFill>
                  <a:srgbClr val="F8FAFC"/>
                </a:solidFill>
              </a:defRPr>
            </a:pPr>
            <a:r>
              <a:t>•  Group Average Coverage: **83.5%** (Near nominal 80% target)</a:t>
            </a:r>
          </a:p>
          <a:p>
            <a:pPr>
              <a:spcAft>
                <a:spcPts val="300"/>
              </a:spcAft>
              <a:defRPr sz="1300">
                <a:solidFill>
                  <a:srgbClr val="F8FAFC"/>
                </a:solidFill>
              </a:defRPr>
            </a:pPr>
            <a:r>
              <a:t>•  Inter-Individual Spread:</a:t>
            </a:r>
          </a:p>
          <a:p>
            <a:pPr>
              <a:spcAft>
                <a:spcPts val="300"/>
              </a:spcAft>
              <a:defRPr sz="1300">
                <a:solidFill>
                  <a:srgbClr val="F8FAFC"/>
                </a:solidFill>
              </a:defRPr>
            </a:pPr>
            <a:r>
              <a:t>•  Best Patient: 98.5% coverage (Band slightly conservative)</a:t>
            </a:r>
          </a:p>
          <a:p>
            <a:pPr>
              <a:spcAft>
                <a:spcPts val="300"/>
              </a:spcAft>
              <a:defRPr sz="1300">
                <a:solidFill>
                  <a:srgbClr val="F8FAFC"/>
                </a:solidFill>
              </a:defRPr>
            </a:pPr>
            <a:r>
              <a:t>•  Worst Patient: 60.0% coverage (Band too narrow due to severe unlogged erratic swings)</a:t>
            </a:r>
          </a:p>
          <a:p>
            <a:pPr>
              <a:spcAft>
                <a:spcPts val="300"/>
              </a:spcAft>
              <a:defRPr sz="1300">
                <a:solidFill>
                  <a:srgbClr val="F8FAFC"/>
                </a:solidFill>
              </a:defRPr>
            </a:pPr>
            <a:r>
              <a:t>•  10 of 19 patients fall tightly within the desired 70% to 90% corridor</a:t>
            </a:r>
          </a:p>
          <a:p>
            <a:pPr>
              <a:spcAft>
                <a:spcPts val="300"/>
              </a:spcAft>
              <a:defRPr sz="1300">
                <a:solidFill>
                  <a:srgbClr val="F8FAFC"/>
                </a:solidFill>
              </a:defRPr>
            </a:pPr>
            <a:r>
              <a:t>•  Recalibration Attempt:</a:t>
            </a:r>
          </a:p>
          <a:p>
            <a:pPr>
              <a:spcAft>
                <a:spcPts val="300"/>
              </a:spcAft>
              <a:defRPr sz="1300">
                <a:solidFill>
                  <a:srgbClr val="F8FAFC"/>
                </a:solidFill>
              </a:defRPr>
            </a:pPr>
            <a:r>
              <a:t>•  Scaling factor of 0.78 derived on dev cohort moved test average to 75.7% (degraded performance)</a:t>
            </a:r>
          </a:p>
          <a:p>
            <a:pPr>
              <a:spcAft>
                <a:spcPts val="300"/>
              </a:spcAft>
              <a:defRPr sz="1300">
                <a:solidFill>
                  <a:srgbClr val="F8FAFC"/>
                </a:solidFill>
              </a:defRPr>
            </a:pPr>
            <a:r>
              <a:t>•  Consequence: We rejected the recalibration factor and kept raw Laplace bands.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60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What We Omitted and Why (Model Scope Boundaries)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Explicit Architectural Boundary List:</a:t>
            </a:r>
          </a:p>
          <a:p>
            <a:pPr>
              <a:spcAft>
                <a:spcPts val="300"/>
              </a:spcAft>
              <a:defRPr sz="1300" b="1">
                <a:solidFill>
                  <a:srgbClr val="F59E0B"/>
                </a:solidFill>
              </a:defRPr>
            </a:pPr>
            <a:r>
              <a:t>•  ❌ **No Exogenous Insulin Kinetics**: Model does not simulate subcutaneous depot absorption of basal/bolus injected insulin (e.g., glargine, lispro).</a:t>
            </a:r>
          </a:p>
          <a:p>
            <a:pPr>
              <a:spcAft>
                <a:spcPts val="300"/>
              </a:spcAft>
              <a:defRPr sz="1300" b="1">
                <a:solidFill>
                  <a:srgbClr val="F59E0B"/>
                </a:solidFill>
              </a:defRPr>
            </a:pPr>
            <a:r>
              <a:t>•  ❌ **No Pharmacokinetics / Pharmacodynamics (PK/PD)**: Oral agents (metformin, sulfonylureas, SGLT2i) are captured via static priors, not active drug concentration equations.</a:t>
            </a:r>
          </a:p>
          <a:p>
            <a:pPr>
              <a:spcAft>
                <a:spcPts val="300"/>
              </a:spcAft>
              <a:defRPr sz="1300" b="1">
                <a:solidFill>
                  <a:srgbClr val="F59E0B"/>
                </a:solidFill>
              </a:defRPr>
            </a:pPr>
            <a:r>
              <a:t>•  ❌ **No Counter-Regulatory Hormonal Cascades**: Glucagon, cortisol, and epinephrine surges during stress/hypoglycemia are not explicitly modeled.</a:t>
            </a:r>
          </a:p>
          <a:p>
            <a:pPr>
              <a:spcAft>
                <a:spcPts val="300"/>
              </a:spcAft>
              <a:defRPr sz="1300" b="1">
                <a:solidFill>
                  <a:srgbClr val="F59E0B"/>
                </a:solidFill>
              </a:defRPr>
            </a:pPr>
            <a:r>
              <a:t>•  ❌ **No Indian Genetic / Phenotypic Baseline**: Calibrated on East Asian and Western cohorts; Indian phenotypic lean-diabetes traits not yet parameterized.</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61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The Value of Plain Baselines: When Simple Averages Rival Complex Models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Head-to-Head Comparison: Advanced Model vs Simple Baseline</a:t>
            </a:r>
          </a:p>
          <a:p>
            <a:pPr>
              <a:spcAft>
                <a:spcPts val="300"/>
              </a:spcAft>
              <a:defRPr sz="1300">
                <a:solidFill>
                  <a:srgbClr val="F8FAFC"/>
                </a:solidFill>
              </a:defRPr>
            </a:pPr>
            <a:r>
              <a:t>•  Task 1: Reconstructing Report Mean Glucose from Fingersticks</a:t>
            </a:r>
          </a:p>
          <a:p>
            <a:pPr>
              <a:spcAft>
                <a:spcPts val="300"/>
              </a:spcAft>
              <a:defRPr sz="1300">
                <a:solidFill>
                  <a:srgbClr val="F8FAFC"/>
                </a:solidFill>
              </a:defRPr>
            </a:pPr>
            <a:r>
              <a:t>•  Chhaya ODE Assimilation: 8.9 mg/dL error</a:t>
            </a:r>
          </a:p>
          <a:p>
            <a:pPr>
              <a:spcAft>
                <a:spcPts val="300"/>
              </a:spcAft>
              <a:defRPr sz="1300">
                <a:solidFill>
                  <a:srgbClr val="F8FAFC"/>
                </a:solidFill>
              </a:defRPr>
            </a:pPr>
            <a:r>
              <a:t>•  **Plain Arithmetic Fingerstick Average: 6.4 mg/dL error (Plain baseline won!)**</a:t>
            </a:r>
          </a:p>
          <a:p>
            <a:pPr>
              <a:spcAft>
                <a:spcPts val="300"/>
              </a:spcAft>
              <a:defRPr sz="1300">
                <a:solidFill>
                  <a:srgbClr val="F8FAFC"/>
                </a:solidFill>
              </a:defRPr>
            </a:pPr>
            <a:r>
              <a:t>•  Task 2: Detecting Clinically Drifted Sensor Reports</a:t>
            </a:r>
          </a:p>
          <a:p>
            <a:pPr>
              <a:spcAft>
                <a:spcPts val="300"/>
              </a:spcAft>
              <a:defRPr sz="1300">
                <a:solidFill>
                  <a:srgbClr val="F8FAFC"/>
                </a:solidFill>
              </a:defRPr>
            </a:pPr>
            <a:r>
              <a:t>•  Chhaya CUSUM Surprise Accumulator: AUROC = 0.82</a:t>
            </a:r>
          </a:p>
          <a:p>
            <a:pPr>
              <a:spcAft>
                <a:spcPts val="300"/>
              </a:spcAft>
              <a:defRPr sz="1300">
                <a:solidFill>
                  <a:srgbClr val="F8FAFC"/>
                </a:solidFill>
              </a:defRPr>
            </a:pPr>
            <a:r>
              <a:t>•  **Plain Fingerstick Average vs Report Baseline: AUROC = 0.82 (Dead heat!)**</a:t>
            </a:r>
          </a:p>
          <a:p>
            <a:pPr>
              <a:spcAft>
                <a:spcPts val="300"/>
              </a:spcAft>
              <a:defRPr sz="1300">
                <a:solidFill>
                  <a:srgbClr val="F8FAFC"/>
                </a:solidFill>
              </a:defRPr>
            </a:pPr>
            <a:r>
              <a:t>•  Takeaway: "Never assume complexity equals superiority. We implemented the complex model, tested it against the plain baseline, and let the data decide."</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F: LIMITATIONS, HONESTY &amp; WHAT WE LEARNED (SLIDES 56–62)  •  SLIDE 62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Roadmap for Phase 2: Indian Clinical Cohorts &amp; Passive Sensing</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Phase 2 Development Roadmap:</a:t>
            </a:r>
          </a:p>
          <a:p>
            <a:pPr>
              <a:spcAft>
                <a:spcPts val="300"/>
              </a:spcAft>
              <a:defRPr sz="1300">
                <a:solidFill>
                  <a:srgbClr val="F8FAFC"/>
                </a:solidFill>
              </a:defRPr>
            </a:pPr>
            <a:r>
              <a:t>•  Milestone 1: Prospective Indian Clinical Pilot (Partnership with tertiary diabetes center in Kanpur/Bengaluru, 50 patients)</a:t>
            </a:r>
          </a:p>
          <a:p>
            <a:pPr>
              <a:spcAft>
                <a:spcPts val="300"/>
              </a:spcAft>
              <a:defRPr sz="1300">
                <a:solidFill>
                  <a:srgbClr val="F8FAFC"/>
                </a:solidFill>
              </a:defRPr>
            </a:pPr>
            <a:r>
              <a:t>•  Milestone 2: Continuous Passive Wearable Sensing (BLE integration with commercial smartwatches for real-time MET/HRV streaming)</a:t>
            </a:r>
          </a:p>
          <a:p>
            <a:pPr>
              <a:spcAft>
                <a:spcPts val="300"/>
              </a:spcAft>
              <a:defRPr sz="1300">
                <a:solidFill>
                  <a:srgbClr val="F8FAFC"/>
                </a:solidFill>
              </a:defRPr>
            </a:pPr>
            <a:r>
              <a:t>•  Milestone 3: Pharmacokinetic Module Expansion (Adding metformin and SGLT2i drug clearance kinetics to JAX ODE)</a:t>
            </a:r>
          </a:p>
          <a:p>
            <a:pPr>
              <a:spcAft>
                <a:spcPts val="300"/>
              </a:spcAft>
              <a:defRPr sz="1300">
                <a:solidFill>
                  <a:srgbClr val="F8FAFC"/>
                </a:solidFill>
              </a:defRPr>
            </a:pPr>
            <a:r>
              <a:t>•  Milestone 4: Multi-Language Patient-Facing Mobile Interface (Hindi, Tamil, Telugu lifestyle education modules)</a:t>
            </a:r>
          </a:p>
          <a:p>
            <a:pPr>
              <a:spcAft>
                <a:spcPts val="300"/>
              </a:spcAft>
              <a:defRPr sz="1300">
                <a:solidFill>
                  <a:srgbClr val="F8FAFC"/>
                </a:solidFill>
              </a:defRPr>
            </a:pPr>
            <a:r>
              <a:t>•  Milestone 5: Full CDSS Clinical Trial &amp; Regulatory Documentation</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G: SUMMARY, SYNTHESIS &amp; FINAL CONCLUSIONS (SLIDES 63–67)  •  SLIDE 63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Phase 1 Challenge Checklist: Full Verification of Deliverables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Compliance Matrix:</a:t>
            </a:r>
          </a:p>
          <a:p>
            <a:pPr>
              <a:spcAft>
                <a:spcPts val="300"/>
              </a:spcAft>
              <a:defRPr sz="1300" b="1">
                <a:solidFill>
                  <a:srgbClr val="10B981"/>
                </a:solidFill>
              </a:defRPr>
            </a:pPr>
            <a:r>
              <a:t>•  ✅ **Deliverable 1: Fusion of Two Data Streams**</a:t>
            </a:r>
          </a:p>
          <a:p>
            <a:pPr>
              <a:spcAft>
                <a:spcPts val="300"/>
              </a:spcAft>
              <a:defRPr sz="1300">
                <a:solidFill>
                  <a:srgbClr val="F8FAFC"/>
                </a:solidFill>
              </a:defRPr>
            </a:pPr>
            <a:r>
              <a:t>•  Static EHR (FHIR JSON, demographics, labs, simulated genetics) + Dynamic IoT (CGM, fingersticks, meals, METs, sleep)</a:t>
            </a:r>
          </a:p>
          <a:p>
            <a:pPr>
              <a:spcAft>
                <a:spcPts val="300"/>
              </a:spcAft>
              <a:defRPr sz="1300">
                <a:solidFill>
                  <a:srgbClr val="F8FAFC"/>
                </a:solidFill>
              </a:defRPr>
            </a:pPr>
            <a:r>
              <a:t>•  Two-way fusion: Bayesian parameter priors + State-space filter assimilation</a:t>
            </a:r>
          </a:p>
          <a:p>
            <a:pPr>
              <a:spcAft>
                <a:spcPts val="300"/>
              </a:spcAft>
              <a:defRPr sz="1300" b="1">
                <a:solidFill>
                  <a:srgbClr val="10B981"/>
                </a:solidFill>
              </a:defRPr>
            </a:pPr>
            <a:r>
              <a:t>•  ✅ **Deliverable 2: Working Algorithmic Model &amp; Adverse Event Prediction**</a:t>
            </a:r>
          </a:p>
          <a:p>
            <a:pPr>
              <a:spcAft>
                <a:spcPts val="300"/>
              </a:spcAft>
              <a:defRPr sz="1300">
                <a:solidFill>
                  <a:srgbClr val="F8FAFC"/>
                </a:solidFill>
              </a:defRPr>
            </a:pPr>
            <a:r>
              <a:t>•  JAX 7-parameter physiological ODE twin</a:t>
            </a:r>
          </a:p>
          <a:p>
            <a:pPr>
              <a:spcAft>
                <a:spcPts val="300"/>
              </a:spcAft>
              <a:defRPr sz="1300">
                <a:solidFill>
                  <a:srgbClr val="F8FAFC"/>
                </a:solidFill>
              </a:defRPr>
            </a:pPr>
            <a:r>
              <a:t>•  Predicts 2-hour postprandial excursions ($p = 4.0 \times 10^{-5}$)</a:t>
            </a:r>
          </a:p>
          <a:p>
            <a:pPr>
              <a:spcAft>
                <a:spcPts val="300"/>
              </a:spcAft>
              <a:defRPr sz="1300">
                <a:solidFill>
                  <a:srgbClr val="F8FAFC"/>
                </a:solidFill>
              </a:defRPr>
            </a:pPr>
            <a:r>
              <a:t>•  CUSUM staleness drift detection (AUROC 0.82)</a:t>
            </a:r>
          </a:p>
          <a:p>
            <a:pPr>
              <a:spcAft>
                <a:spcPts val="300"/>
              </a:spcAft>
              <a:defRPr sz="1300">
                <a:solidFill>
                  <a:srgbClr val="F8FAFC"/>
                </a:solidFill>
              </a:defRPr>
            </a:pPr>
            <a:r>
              <a:t>•  Full pre-registered evaluation: 9 bars (5 passed, 4 missed)</a:t>
            </a:r>
          </a:p>
          <a:p>
            <a:pPr>
              <a:spcAft>
                <a:spcPts val="300"/>
              </a:spcAft>
              <a:defRPr sz="1300" b="1">
                <a:solidFill>
                  <a:srgbClr val="10B981"/>
                </a:solidFill>
              </a:defRPr>
            </a:pPr>
            <a:r>
              <a:t>•  ✅ **Deliverable 3: Conceptual Doctor-Facing UI Dashboard**</a:t>
            </a:r>
          </a:p>
          <a:p>
            <a:pPr>
              <a:spcAft>
                <a:spcPts val="300"/>
              </a:spcAft>
              <a:defRPr sz="1300">
                <a:solidFill>
                  <a:srgbClr val="F8FAFC"/>
                </a:solidFill>
              </a:defRPr>
            </a:pPr>
            <a:r>
              <a:t>•  Three screens: Clinic Triage, Patient Reveal Screen, Live Evidence Scorecard</a:t>
            </a:r>
          </a:p>
          <a:p>
            <a:pPr>
              <a:spcAft>
                <a:spcPts val="300"/>
              </a:spcAft>
              <a:defRPr sz="1300">
                <a:solidFill>
                  <a:srgbClr val="F8FAFC"/>
                </a:solidFill>
              </a:defRPr>
            </a:pPr>
            <a:r>
              <a:t>•  Real-time interactive what-if simulation; zero-latency bundle serving</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G: SUMMARY, SYNTHESIS &amp; FINAL CONCLUSIONS (SLIDES 63–67)  •  SLIDE 64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Deliverable 1 Verification: Two-Stream Fusion Complete Analysis</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Summary Diagram: The Two-Stream Multi-Scale Ingestion Pipeline</a:t>
            </a:r>
          </a:p>
          <a:p>
            <a:pPr>
              <a:spcAft>
                <a:spcPts val="300"/>
              </a:spcAft>
              <a:defRPr sz="1300">
                <a:solidFill>
                  <a:srgbClr val="F8FAFC"/>
                </a:solidFill>
              </a:defRPr>
            </a:pPr>
            <a:r>
              <a:t>•  Ingestion: Static EHR (FHIR JSON) + Dynamic Wearable (5-min CGM, Capillary SMBG, Nutrients, Accelerometry, Circadian)</a:t>
            </a:r>
          </a:p>
          <a:p>
            <a:pPr>
              <a:spcAft>
                <a:spcPts val="300"/>
              </a:spcAft>
              <a:defRPr sz="1300">
                <a:solidFill>
                  <a:srgbClr val="F8FAFC"/>
                </a:solidFill>
              </a:defRPr>
            </a:pPr>
            <a:r>
              <a:t>•  Processing: Differentiable JAX ODE Simulator (`chhaya.twin.model`)</a:t>
            </a:r>
          </a:p>
          <a:p>
            <a:pPr>
              <a:spcAft>
                <a:spcPts val="300"/>
              </a:spcAft>
              <a:defRPr sz="1300">
                <a:solidFill>
                  <a:srgbClr val="F8FAFC"/>
                </a:solidFill>
              </a:defRPr>
            </a:pPr>
            <a:r>
              <a:t>•  Integration: Exponential Decay Assimilation Filter (`chhaya.twin.assimilate`)</a:t>
            </a:r>
          </a:p>
          <a:p>
            <a:pPr>
              <a:spcAft>
                <a:spcPts val="300"/>
              </a:spcAft>
              <a:defRPr sz="1300">
                <a:solidFill>
                  <a:srgbClr val="F8FAFC"/>
                </a:solidFill>
              </a:defRPr>
            </a:pPr>
            <a:r>
              <a:t>•  Verification: Zero-leakage unit test suite passing 100% of invariant checks</a:t>
            </a:r>
          </a:p>
          <a:p>
            <a:pPr>
              <a:spcAft>
                <a:spcPts val="300"/>
              </a:spcAft>
              <a:defRPr sz="1300">
                <a:solidFill>
                  <a:srgbClr val="F8FAFC"/>
                </a:solidFill>
              </a:defRPr>
            </a:pPr>
            <a:r>
              <a:t>•  Key Finding: Multimodal fusion is clinically valuable when streams are orthogonal, but must be continuously validated against single-stream baselines.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G: SUMMARY, SYNTHESIS &amp; FINAL CONCLUSIONS (SLIDES 63–67)  •  SLIDE 65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Deliverable 2 Verification: Adverse Event &amp; Drift Prediction</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Summary Card: Adverse Event &amp; Dynamic Foresight Performance</a:t>
            </a:r>
          </a:p>
          <a:p>
            <a:pPr>
              <a:spcAft>
                <a:spcPts val="300"/>
              </a:spcAft>
              <a:defRPr sz="1300">
                <a:solidFill>
                  <a:srgbClr val="F8FAFC"/>
                </a:solidFill>
              </a:defRPr>
            </a:pPr>
            <a:r>
              <a:t>•  Predictive Event 1: **2-Hour Postprandial Excursion Foresight**</a:t>
            </a:r>
          </a:p>
          <a:p>
            <a:pPr>
              <a:spcAft>
                <a:spcPts val="300"/>
              </a:spcAft>
              <a:defRPr sz="1300">
                <a:solidFill>
                  <a:srgbClr val="F8FAFC"/>
                </a:solidFill>
              </a:defRPr>
            </a:pPr>
            <a:r>
              <a:t>•  1.4 mg/dL closer to reality than patient's average day ($p = 4.0 \times 10^{-5}$)</a:t>
            </a:r>
          </a:p>
          <a:p>
            <a:pPr>
              <a:spcAft>
                <a:spcPts val="300"/>
              </a:spcAft>
              <a:defRPr sz="1300">
                <a:solidFill>
                  <a:srgbClr val="F8FAFC"/>
                </a:solidFill>
              </a:defRPr>
            </a:pPr>
            <a:r>
              <a:t>•  Outperformed un-logged control ($p = 0.04$) across 19 held-out participants</a:t>
            </a:r>
          </a:p>
          <a:p>
            <a:pPr>
              <a:spcAft>
                <a:spcPts val="300"/>
              </a:spcAft>
              <a:defRPr sz="1300">
                <a:solidFill>
                  <a:srgbClr val="F8FAFC"/>
                </a:solidFill>
              </a:defRPr>
            </a:pPr>
            <a:r>
              <a:t>•  Predictive Event 2: **Sensor Report Staleness &amp; Glycemic Drift**</a:t>
            </a:r>
          </a:p>
          <a:p>
            <a:pPr>
              <a:spcAft>
                <a:spcPts val="300"/>
              </a:spcAft>
              <a:defRPr sz="1300">
                <a:solidFill>
                  <a:srgbClr val="F8FAFC"/>
                </a:solidFill>
              </a:defRPr>
            </a:pPr>
            <a:r>
              <a:t>•  Successfully discriminates drifted from stable reports with **AUROC = 0.82**</a:t>
            </a:r>
          </a:p>
          <a:p>
            <a:pPr>
              <a:spcAft>
                <a:spcPts val="300"/>
              </a:spcAft>
              <a:defRPr sz="1300">
                <a:solidFill>
                  <a:srgbClr val="F8FAFC"/>
                </a:solidFill>
              </a:defRPr>
            </a:pPr>
            <a:r>
              <a:t>•  Flags 64% of drifting patients within 2.6 days</a:t>
            </a:r>
          </a:p>
          <a:p>
            <a:pPr>
              <a:spcAft>
                <a:spcPts val="300"/>
              </a:spcAft>
              <a:defRPr sz="1300">
                <a:solidFill>
                  <a:srgbClr val="F8FAFC"/>
                </a:solidFill>
              </a:defRPr>
            </a:pPr>
            <a:r>
              <a:t>•  Pre-Registration Audit:</a:t>
            </a:r>
          </a:p>
          <a:p>
            <a:pPr>
              <a:spcAft>
                <a:spcPts val="300"/>
              </a:spcAft>
              <a:defRPr sz="1300">
                <a:solidFill>
                  <a:srgbClr val="F8FAFC"/>
                </a:solidFill>
              </a:defRPr>
            </a:pPr>
            <a:r>
              <a:t>•  5 Bars Passed | 4 Bars Missed</a:t>
            </a:r>
          </a:p>
          <a:p>
            <a:pPr>
              <a:spcAft>
                <a:spcPts val="300"/>
              </a:spcAft>
              <a:defRPr sz="1300">
                <a:solidFill>
                  <a:srgbClr val="F8FAFC"/>
                </a:solidFill>
              </a:defRPr>
            </a:pPr>
            <a:r>
              <a:t>•  100% of claims verified word-for-word against version-controlled decision records.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G: SUMMARY, SYNTHESIS &amp; FINAL CONCLUSIONS (SLIDES 63–67)  •  SLIDE 66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Deliverable 3 Verification: The Doctor-Facing Interactive Dashboard</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Dashboard Deliverable Recap:</a:t>
            </a:r>
          </a:p>
          <a:p>
            <a:pPr>
              <a:spcAft>
                <a:spcPts val="300"/>
              </a:spcAft>
              <a:defRPr sz="1300">
                <a:solidFill>
                  <a:srgbClr val="F8FAFC"/>
                </a:solidFill>
              </a:defRPr>
            </a:pPr>
            <a:r>
              <a:t>•  3 Screens:</a:t>
            </a:r>
          </a:p>
          <a:p>
            <a:pPr>
              <a:spcAft>
                <a:spcPts val="300"/>
              </a:spcAft>
              <a:defRPr sz="1300">
                <a:solidFill>
                  <a:srgbClr val="94A3B8"/>
                </a:solidFill>
              </a:defRPr>
            </a:pPr>
            <a:r>
              <a:t>1. **Clinic Triage View**: High-volume patient triage by report staleness and excursion frequency</a:t>
            </a:r>
          </a:p>
          <a:p>
            <a:pPr>
              <a:spcAft>
                <a:spcPts val="300"/>
              </a:spcAft>
              <a:defRPr sz="1300">
                <a:solidFill>
                  <a:srgbClr val="94A3B8"/>
                </a:solidFill>
              </a:defRPr>
            </a:pPr>
            <a:r>
              <a:t>2. **Patient Detail View**: 24-hour physiological trajectory, Reveal slider, stream ablation, what-if simulator</a:t>
            </a:r>
          </a:p>
          <a:p>
            <a:pPr>
              <a:spcAft>
                <a:spcPts val="300"/>
              </a:spcAft>
              <a:defRPr sz="1300">
                <a:solidFill>
                  <a:srgbClr val="94A3B8"/>
                </a:solidFill>
              </a:defRPr>
            </a:pPr>
            <a:r>
              <a:t>3. **Evidence Matrix View**: Complete pre-registered scorecard, p-values, and decision logs</a:t>
            </a:r>
          </a:p>
          <a:p>
            <a:pPr>
              <a:spcAft>
                <a:spcPts val="300"/>
              </a:spcAft>
              <a:defRPr sz="1300">
                <a:solidFill>
                  <a:srgbClr val="F8FAFC"/>
                </a:solidFill>
              </a:defRPr>
            </a:pPr>
            <a:r>
              <a:t>•  Clinical UX Tenet: Honest uncertainty, explicit simulation watermarks, unconfirmed low warnings</a:t>
            </a:r>
          </a:p>
          <a:p>
            <a:pPr>
              <a:spcAft>
                <a:spcPts val="300"/>
              </a:spcAft>
              <a:defRPr sz="1300">
                <a:solidFill>
                  <a:srgbClr val="F8FAFC"/>
                </a:solidFill>
              </a:defRPr>
            </a:pPr>
            <a:r>
              <a:t>•  Deployment Ready: Zero external dependencies; single command `python -m chhaya.dashboard` on port 8765.</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365760"/>
          </a:xfrm>
          <a:prstGeom prst="rect">
            <a:avLst/>
          </a:prstGeom>
          <a:noFill/>
        </p:spPr>
        <p:txBody>
          <a:bodyPr wrap="square" lIns="0" tIns="0" rIns="0" bIns="0">
            <a:spAutoFit/>
          </a:bodyPr>
          <a:lstStyle/>
          <a:p>
            <a:pPr>
              <a:defRPr sz="1100" b="1">
                <a:solidFill>
                  <a:srgbClr val="06B6D4"/>
                </a:solidFill>
              </a:defRPr>
            </a:pPr>
            <a:r>
              <a:t>SECTION G: SUMMARY, SYNTHESIS &amp; FINAL CONCLUSIONS (SLIDES 63–67)  •  SLIDE 67 OF 67</a:t>
            </a:r>
          </a:p>
        </p:txBody>
      </p:sp>
      <p:sp>
        <p:nvSpPr>
          <p:cNvPr id="4" name="TextBox 3"/>
          <p:cNvSpPr txBox="1"/>
          <p:nvPr/>
        </p:nvSpPr>
        <p:spPr>
          <a:xfrm>
            <a:off x="731520" y="685800"/>
            <a:ext cx="10698480" cy="731520"/>
          </a:xfrm>
          <a:prstGeom prst="rect">
            <a:avLst/>
          </a:prstGeom>
          <a:noFill/>
        </p:spPr>
        <p:txBody>
          <a:bodyPr wrap="square" lIns="0" tIns="0" rIns="0" bIns="0">
            <a:spAutoFit/>
          </a:bodyPr>
          <a:lstStyle/>
          <a:p>
            <a:pPr>
              <a:defRPr sz="2600" b="1">
                <a:solidFill>
                  <a:srgbClr val="F8FAFC"/>
                </a:solidFill>
              </a:defRPr>
            </a:pPr>
            <a:r>
              <a:t>Conclusion: Chhaya — The Twin That Shows Its Work</a:t>
            </a:r>
          </a:p>
        </p:txBody>
      </p:sp>
      <p:sp>
        <p:nvSpPr>
          <p:cNvPr id="5" name="Rectangle 4"/>
          <p:cNvSpPr/>
          <p:nvPr/>
        </p:nvSpPr>
        <p:spPr>
          <a:xfrm>
            <a:off x="731520" y="1463040"/>
            <a:ext cx="10698480" cy="36576"/>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698480" cy="4663440"/>
          </a:xfrm>
          <a:prstGeom prst="roundRect">
            <a:avLst/>
          </a:prstGeom>
          <a:solidFill>
            <a:srgbClr val="182234"/>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920240"/>
            <a:ext cx="10149840" cy="4114800"/>
          </a:xfrm>
          <a:prstGeom prst="rect">
            <a:avLst/>
          </a:prstGeom>
          <a:noFill/>
        </p:spPr>
        <p:txBody>
          <a:bodyPr wrap="square" tIns="0" bIns="0" lIns="0" rIns="0">
            <a:spAutoFit/>
          </a:bodyPr>
          <a:lstStyle/>
          <a:p>
            <a:pPr>
              <a:spcAft>
                <a:spcPts val="300"/>
              </a:spcAft>
              <a:defRPr sz="1300">
                <a:solidFill>
                  <a:srgbClr val="F8FAFC"/>
                </a:solidFill>
              </a:defRPr>
            </a:pPr>
            <a:r>
              <a:t>•  Closing Title Slide:</a:t>
            </a:r>
          </a:p>
          <a:p>
            <a:pPr>
              <a:spcAft>
                <a:spcPts val="300"/>
              </a:spcAft>
              <a:defRPr sz="1300">
                <a:solidFill>
                  <a:srgbClr val="F8FAFC"/>
                </a:solidFill>
              </a:defRPr>
            </a:pPr>
            <a:r>
              <a:t>•  **CHHAYA: A Diabetes Digital Twin That Shows Its Work**</a:t>
            </a:r>
          </a:p>
          <a:p>
            <a:pPr>
              <a:spcAft>
                <a:spcPts val="300"/>
              </a:spcAft>
              <a:defRPr sz="1300">
                <a:solidFill>
                  <a:srgbClr val="F8FAFC"/>
                </a:solidFill>
              </a:defRPr>
            </a:pPr>
            <a:r>
              <a:t>•  "One glucose-sensor wear, turned into the patient's shadow, with a scorecard written before the results."</a:t>
            </a:r>
          </a:p>
          <a:p>
            <a:pPr>
              <a:spcAft>
                <a:spcPts val="300"/>
              </a:spcAft>
              <a:defRPr sz="1300">
                <a:solidFill>
                  <a:srgbClr val="F8FAFC"/>
                </a:solidFill>
              </a:defRPr>
            </a:pPr>
            <a:r>
              <a:t>•  Team: **SynapseX · IIT Kanpur**</a:t>
            </a:r>
          </a:p>
          <a:p>
            <a:pPr>
              <a:spcAft>
                <a:spcPts val="300"/>
              </a:spcAft>
              <a:defRPr sz="1300">
                <a:solidFill>
                  <a:srgbClr val="F8FAFC"/>
                </a:solidFill>
              </a:defRPr>
            </a:pPr>
            <a:r>
              <a:t>•  Repository: `SynapseX_IITK`</a:t>
            </a:r>
          </a:p>
          <a:p>
            <a:pPr>
              <a:spcAft>
                <a:spcPts val="300"/>
              </a:spcAft>
              <a:defRPr sz="1300">
                <a:solidFill>
                  <a:srgbClr val="F8FAFC"/>
                </a:solidFill>
              </a:defRPr>
            </a:pPr>
            <a:r>
              <a:t>•  Reproduce Everything:</a:t>
            </a:r>
          </a:p>
          <a:p>
            <a:pPr>
              <a:spcAft>
                <a:spcPts val="300"/>
              </a:spcAft>
              <a:defRPr sz="1300">
                <a:solidFill>
                  <a:srgbClr val="F8FAFC"/>
                </a:solidFill>
              </a:defRPr>
            </a:pPr>
            <a:r>
              <a:t>•  `uv sync &amp;&amp; uv run python -m chhaya.dashboard`</a:t>
            </a:r>
          </a:p>
          <a:p>
            <a:pPr>
              <a:spcAft>
                <a:spcPts val="300"/>
              </a:spcAft>
              <a:defRPr sz="1300">
                <a:solidFill>
                  <a:srgbClr val="F8FAFC"/>
                </a:solidFill>
              </a:defRPr>
            </a:pPr>
            <a:r>
              <a:t>•  Links: GitHub Submission Repository | Documentation &amp; Decisions | Architecture PDF</a:t>
            </a:r>
          </a:p>
          <a:p>
            <a:pPr>
              <a:spcAft>
                <a:spcPts val="300"/>
              </a:spcAft>
              <a:defRPr sz="1300">
                <a:solidFill>
                  <a:srgbClr val="F8FAFC"/>
                </a:solidFill>
              </a:defRPr>
            </a:pPr>
            <a:r>
              <a:t>•  Final Prompt: "Thank you to the Happiest Health jury. We welcome your questions."</a:t>
            </a:r>
          </a:p>
        </p:txBody>
      </p:sp>
      <p:sp>
        <p:nvSpPr>
          <p:cNvPr id="8" name="TextBox 7"/>
          <p:cNvSpPr txBox="1"/>
          <p:nvPr/>
        </p:nvSpPr>
        <p:spPr>
          <a:xfrm>
            <a:off x="731520" y="6446520"/>
            <a:ext cx="10698480" cy="274320"/>
          </a:xfrm>
          <a:prstGeom prst="rect">
            <a:avLst/>
          </a:prstGeom>
          <a:noFill/>
        </p:spPr>
        <p:txBody>
          <a:bodyPr wrap="square" lIns="0" tIns="0" rIns="0" bIns="0">
            <a:spAutoFit/>
          </a:bodyPr>
          <a:lstStyle/>
          <a:p>
            <a:pPr>
              <a:defRPr sz="1000">
                <a:solidFill>
                  <a:srgbClr val="94A3B8"/>
                </a:solidFill>
              </a:defRPr>
            </a:pPr>
            <a:r>
              <a:t>Chhaya Digital Twin  •  Team SynapseX  •  Happiest Health Challenge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