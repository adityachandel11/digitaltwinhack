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2305b52-3ee6-23ef-f972-7b4300b9f771}">
          <p14:sldIdLst>
            <p14:sldId id="256"/>
          </p14:sldIdLst>
        </p14:section>
        <p14:section name="Problem and idea" id="{4f45d89c-505e-7bd1-ba7c-dc18bdaed776}">
          <p14:sldIdLst>
            <p14:sldId id="257"/>
            <p14:sldId id="258"/>
          </p14:sldIdLst>
        </p14:section>
        <p14:section name="How it works" id="{ce572e24-191b-aab7-721c-982138b08900}">
          <p14:sldIdLst>
            <p14:sldId id="259"/>
            <p14:sldId id="260"/>
          </p14:sldIdLst>
        </p14:section>
        <p14:section name="Evidence" id="{64950480-ed38-9104-8700-290ab6cbccd5}">
          <p14:sldIdLst>
            <p14:sldId id="261"/>
            <p14:sldId id="262"/>
            <p14:sldId id="263"/>
          </p14:sldIdLst>
        </p14:section>
        <p14:section name="Honesty and next steps" id="{064191a2-de9f-9a91-35cc-64a88958956d}">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4B4A5E"/>
                </a:solidFill>
                <a:latin typeface="+mn-lt"/>
              </a:defRPr>
            </a:pPr>
            <a:r>
              <a:rPr sz="1300" b="0" i="0" u="none" strike="noStrike">
                <a:solidFill>
                  <a:srgbClr val="4B4A5E"/>
                </a:solidFill>
                <a:latin typeface="+mn-lt"/>
              </a:rPr>
              <a:t>Post-meal excursion, AUROC by what the model is given (axis starts at chance, 0.5)</a:t>
            </a:r>
          </a:p>
        </c:rich>
      </c:tx>
      <c:layout/>
      <c:overlay val="0"/>
    </c:title>
    <c:autoTitleDeleted val="0"/>
    <c:plotArea>
      <c:layout/>
      <c:barChart>
        <c:barDir val="bar"/>
        <c:grouping val="clustered"/>
        <c:varyColors val="0"/>
        <c:ser>
          <c:idx val="0"/>
          <c:order val="0"/>
          <c:tx>
            <c:strRef>
              <c:f>Sheet1!$B$1</c:f>
              <c:strCache>
                <c:ptCount val="1"/>
                <c:pt idx="0">
                  <c:v>AUROC</c:v>
                </c:pt>
              </c:strCache>
            </c:strRef>
          </c:tx>
          <c:spPr>
            <a:solidFill>
              <a:srgbClr val="4B4A5E"/>
            </a:solidFill>
            <a:effectLst/>
          </c:spPr>
          <c:invertIfNegative val="0"/>
          <c:dLbls>
            <c:numFmt formatCode="0.00" sourceLinked="0"/>
            <c:txPr>
              <a:bodyPr/>
              <a:lstStyle/>
              <a:p>
                <a:pPr>
                  <a:defRPr b="1" i="0" strike="noStrike" sz="1400" u="none">
                    <a:solidFill>
                      <a:srgbClr val="15142B"/>
                    </a:solidFill>
                    <a:latin typeface="+mn-lt"/>
                  </a:defRPr>
                </a:pPr>
              </a:p>
            </c:txPr>
            <c:showLegendKey val="0"/>
            <c:showVal val="1"/>
            <c:showCatName val="0"/>
            <c:showSerName val="0"/>
            <c:showPercent val="0"/>
            <c:showBubbleSize val="0"/>
            <c:showLeaderLines val="0"/>
          </c:dLbls>
          <c:dPt>
            <c:idx val="0"/>
            <c:invertIfNegative val="0"/>
            <c:bubble3D val="0"/>
            <c:spPr>
              <a:solidFill>
                <a:srgbClr val="4B4A5E"/>
              </a:solidFill>
              <a:effectLst/>
            </c:spPr>
          </c:dPt>
          <c:dPt>
            <c:idx val="1"/>
            <c:invertIfNegative val="0"/>
            <c:bubble3D val="0"/>
            <c:spPr>
              <a:solidFill>
                <a:srgbClr val="B81F58"/>
              </a:solidFill>
              <a:effectLst/>
            </c:spPr>
          </c:dPt>
          <c:dPt>
            <c:idx val="2"/>
            <c:invertIfNegative val="0"/>
            <c:bubble3D val="0"/>
            <c:spPr>
              <a:solidFill>
                <a:srgbClr val="0E9AA7"/>
              </a:solidFill>
              <a:effectLst/>
            </c:spPr>
          </c:dPt>
          <c:dPt>
            <c:idx val="3"/>
            <c:invertIfNegative val="0"/>
            <c:bubble3D val="0"/>
            <c:spPr>
              <a:solidFill>
                <a:srgbClr val="4A3AA7"/>
              </a:solidFill>
              <a:effectLst/>
            </c:spPr>
          </c:dPt>
          <c:dPt>
            <c:idx val="4"/>
            <c:invertIfNegative val="0"/>
            <c:bubble3D val="0"/>
            <c:spPr>
              <a:solidFill>
                <a:srgbClr val="15142B"/>
              </a:solidFill>
              <a:effectLst/>
            </c:spPr>
          </c:dPt>
          <c:cat>
            <c:multiLvlStrRef>
              <c:f>Sheet1!$A$2:$A$6</c:f>
              <c:multiLvlStrCache>
                <c:ptCount val="5"/>
                <c:lvl>
                  <c:pt idx="0">
                    <c:v>Record only</c:v>
                  </c:pt>
                  <c:pt idx="1">
                    <c:v>Fingersticks only</c:v>
                  </c:pt>
                  <c:pt idx="2">
                    <c:v>Sensor week only</c:v>
                  </c:pt>
                  <c:pt idx="3">
                    <c:v>Fused, sensor off</c:v>
                  </c:pt>
                  <c:pt idx="4">
                    <c:v>Sensor on (reference)</c:v>
                  </c:pt>
                </c:lvl>
              </c:multiLvlStrCache>
            </c:multiLvlStrRef>
          </c:cat>
          <c:val>
            <c:numRef>
              <c:f>Sheet1!$B$2:$B$6</c:f>
              <c:numCache>
                <c:formatCode>General</c:formatCode>
                <c:ptCount val="5"/>
                <c:pt idx="0">
                  <c:v>0.646</c:v>
                </c:pt>
                <c:pt idx="1">
                  <c:v>0.703</c:v>
                </c:pt>
                <c:pt idx="2">
                  <c:v>0.777</c:v>
                </c:pt>
                <c:pt idx="3">
                  <c:v>0.713</c:v>
                </c:pt>
                <c:pt idx="4">
                  <c:v>0.816</c:v>
                </c:pt>
              </c:numCache>
            </c:numRef>
          </c:val>
        </c:ser>
        <c:dLbls>
          <c:numFmt formatCode="0.00" sourceLinked="0"/>
          <c:txPr>
            <a:bodyPr/>
            <a:lstStyle/>
            <a:p>
              <a:pPr>
                <a:defRPr b="1" i="0" strike="noStrike" sz="1400" u="none">
                  <a:solidFill>
                    <a:srgbClr val="1514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5142B"/>
                </a:solidFill>
                <a:latin typeface="+mn-lt"/>
              </a:defRPr>
            </a:pPr>
            <a:endParaRPr lang="en-US"/>
          </a:p>
        </c:txPr>
        <c:crossAx val="2094734552"/>
        <c:crosses val="autoZero"/>
        <c:auto val="1"/>
        <c:lblAlgn val="ctr"/>
        <c:noMultiLvlLbl val="1"/>
      </c:catAx>
      <c:valAx>
        <c:axId val="2094734552"/>
        <c:scaling>
          <c:orientation val="minMax"/>
          <c:max val="0.9"/>
          <c:min val="0.5"/>
        </c:scaling>
        <c:delete val="0"/>
        <c:axPos val="b"/>
        <c:majorGridlines>
          <c:spPr>
            <a:ln w="9525" cap="flat">
              <a:solidFill>
                <a:srgbClr val="E2E1EC"/>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6A80"/>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Chhaya means shadow. When a patient takes the sensor off, our twin keeps estimating glucose, always drawn with an honest band, and it says when its report may be out of date. The chart is the twin’s own output for a synthetic demo patient: the purple shadow, the teal sensor revealed over it, the pink fingersticks, and the prompt that fires on day six. Everything on the next nine slides was scored once on patients the model never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has about 101 million people with diabetes. A 14-day glucose sensor costs roughly 4,400 to 5,100 rupees at retail, so wearing one continuously would take 26 sensors a year, more than 1.1 lakh rupees. A realistic pattern is one wear, then months of treatment on that report, and nobody tells the doctor how old the report has become. That gap is what Chhaya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system in one line, and the five numbers are the challenge brief. One: a static health record. Two: dynamic streams from the sensor, meals, wrist band and fingersticks. Three: they are fused, the record sets the prior and the sensor wear is the evidence. Four: the adverse events we predict are the post-meal excursion and a stale-report prompt. Five: a doctor dashboard. Between the twin and the doctor sits a gate that every claim had to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is a physiology model, E-DES, with a circadian term and an exercise term, integrated with a fourth-order Runge-Kutta scheme in JAX at float64. The health record sets a prior on basal glucose; the sensor wear is the evidence; a MAP fit from six starts gives the personal parameters and a Laplace posterior gives a 200-member ensemble, which produces the 80 percent band. The estimate is half physiology and half the patient’s own average day. Fingersticks nudge it and fade over two hours, and a CUSUM on fingerstick surprises raises the drift prompt. There is no neural network, no pretrained model and no language model anywhere in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patient screen, drawn from the demo bundle for our synthetic patient. The health record panel shows what sets the twin’s prior. The shadow is the estimate with its band. Fingersticks are shown as read from the meter. The meal excursion history describes, from the sensor wear only, how often each meal type was followed by a reading above 180 within two hours; it is a description and not a forecast. And the reveal lets the doctor see where the shadow was right and where it was not. The live demo is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brief’s own example: predicting a glucose spike in advance. At the moment a meal starts, with the live sensor on, the model reaches an AUROC of 0.82. Take the sensor off and the fused model drops to 0.71, and adding streams does not buy it back: the fused model sits below the sensor week alone. We also tried four other fusion strategies on the development patients and none beat a single stream. At 8.9 false alerts per patient-week the model is not usable as an alert, so the dashboard shows no alert and no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bars were written before any run: five passed and four missed, and all nine are published. Half of every cohort tunes the model and the other half is scored exactly once; the command refuses a second run. Three claims crossed the gate and two were stopped: the record did not improve the estimate, and a fused-model alert was not usable. The misses changed the product: there is no meal alert and no probability, and the dashboard shows the patient’s own recorded excursion history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results a doctor can use. First, with about six fingersticks a day in supervised care, the error of the report against the next days’ mean sensor glucose falls from 13.0 to 6.4 milligrams per deciliter; at one fingerstick a day the gain was only 0.3. Second, of 64 sensor lows that had a fingerstick within ten minutes, only 8 were confirmed, and none of the 9 at night; unconfirmed is not the same as false. Third, a simple running sum of fingerstick surprises flags a drifted report with an AUROC of 0.82, but a plain comparison does as well, so it is shown as a prompt, never as a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would rather show the limits than have you find them. There is no Indian patient data in the evidence; it is a supervised-care cohort and a free-living cohort of mixed glycaemic status. The effects are small. The fingerstick gain holds at about six a day in supervised care. And this is a research prototype with no dose advice, no low-glucose estimates and no alarms. Indian validation would mean a clinic cohort, outpatient fingerstick frequencies of one or two a day, and bars written before the run, then a prospective check that the prompt changes a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you have seen is reproducible. The live demo is online, the code is public under the MIT licence, and three commands reinstall the environment, start the dashboard and run the test suite. The datasets keep their own licences and are never redistributed. Chhaya means shadow: when the sensor goes, the twin stays, and it tells you when to stop trusting 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514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68680"/>
            <a:ext cx="10972800" cy="15544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487168"/>
            <a:ext cx="8138160" cy="1005840"/>
          </a:xfrm>
          <a:prstGeom prst="rect">
            <a:avLst/>
          </a:prstGeom>
          <a:noFill/>
          <a:ln/>
        </p:spPr>
        <p:txBody>
          <a:bodyPr wrap="square" rtlCol="0"/>
          <a:lstStyle>
            <a:lvl1pPr indent="0" marL="0">
              <a:buNone/>
              <a:defRPr lang="en-US" sz="1700" dirty="0">
                <a:solidFill>
                  <a:schemeClr val="bg1">
                    <a:alpha val="85000"/>
                  </a:schemeClr>
                </a:solidFill>
              </a:defRPr>
            </a:lvl1pPr>
          </a:lstStyle>
          <a:p>
            <a:pPr indent="0" marL="0">
              <a:buNone/>
            </a:pPr>
            <a:endParaRPr lang="en-US" sz="17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3" name="Text 0"/>
          <p:cNvSpPr/>
          <p:nvPr/>
        </p:nvSpPr>
        <p:spPr>
          <a:xfrm>
            <a:off x="548640" y="6437376"/>
            <a:ext cx="8686800" cy="256032"/>
          </a:xfrm>
          <a:prstGeom prst="rect">
            <a:avLst/>
          </a:prstGeom>
          <a:noFill/>
          <a:ln/>
        </p:spPr>
        <p:txBody>
          <a:bodyPr wrap="square" lIns="0" tIns="0" rIns="0" bIns="0" rtlCol="0" anchor="ctr"/>
          <a:lstStyle/>
          <a:p>
            <a:pPr indent="0" marL="0">
              <a:buNone/>
            </a:pPr>
            <a:r>
              <a:rPr lang="en-US" sz="1000" dirty="0">
                <a:solidFill>
                  <a:srgbClr val="6B6A80"/>
                </a:solidFill>
              </a:rPr>
              <a:t>Chhaya  ·  Team SynapseX  ·  D.B.S Kanpur  ·  Research prototype, not a medical device</a:t>
            </a:r>
            <a:endParaRPr lang="en-US" sz="1000" dirty="0"/>
          </a:p>
        </p:txBody>
      </p:sp>
      <p:sp>
        <p:nvSpPr>
          <p:cNvPr id="25" name="Slide Number Placeholder 0"/>
          <p:cNvSpPr>
            <a:spLocks noGrp="1"/>
          </p:cNvSpPr>
          <p:nvPr>
            <p:ph type="sldNum" sz="quarter" idx="4294967295"/>
          </p:nvPr>
        </p:nvSpPr>
        <p:spPr>
          <a:xfrm>
            <a:off x="10972800" y="6437376"/>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6A8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1514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7315200" cy="10972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37376"/>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6A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hhaya-digital-twin.vercel.app/" TargetMode="Externa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hhaya-digital-twin.vercel.app/" TargetMode="External"/><Relationship Id="rId2" Type="http://schemas.openxmlformats.org/officeDocument/2006/relationships/image" Target="../media/image-10-1.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57200"/>
            <a:ext cx="10972800" cy="274320"/>
          </a:xfrm>
          <a:prstGeom prst="rect">
            <a:avLst/>
          </a:prstGeom>
          <a:noFill/>
          <a:ln/>
        </p:spPr>
        <p:txBody>
          <a:bodyPr wrap="square" lIns="0" tIns="0" rIns="0" bIns="0" rtlCol="0" anchor="t"/>
          <a:lstStyle/>
          <a:p>
            <a:pPr indent="0" marL="0">
              <a:buNone/>
            </a:pPr>
            <a:r>
              <a:rPr lang="en-US" sz="1200" b="1" spc="200" kern="0" dirty="0">
                <a:solidFill>
                  <a:srgbClr val="A9A4D6"/>
                </a:solidFill>
              </a:rPr>
              <a:t>HAPPIEST HEALTH DIGITAL TWIN CHALLENGE 2026   ·   TEAM SYNAPSEX   ·   D.B.S KANPUR</a:t>
            </a:r>
            <a:endParaRPr lang="en-US" sz="1200" dirty="0"/>
          </a:p>
        </p:txBody>
      </p:sp>
      <p:sp>
        <p:nvSpPr>
          <p:cNvPr id="3" name="Text 0"/>
          <p:cNvSpPr/>
          <p:nvPr>
            <p:ph idx="100" type="title" hasCustomPrompt="1"/>
          </p:nvPr>
        </p:nvSpPr>
        <p:spPr>
          <a:xfrm>
            <a:off x="548640" y="868680"/>
            <a:ext cx="10972800" cy="1554480"/>
          </a:xfrm>
          <a:prstGeom prst="rect">
            <a:avLst/>
          </a:prstGeom>
          <a:noFill/>
          <a:ln/>
        </p:spPr>
        <p:txBody>
          <a:bodyPr wrap="square" lIns="0" tIns="0" rIns="0" bIns="0" rtlCol="0" anchor="t"/>
          <a:lstStyle/>
          <a:p>
            <a:pPr algn="l" indent="0" marL="0">
              <a:buNone/>
            </a:pPr>
            <a:r>
              <a:rPr lang="en-US" sz="4000" b="1" dirty="0">
                <a:solidFill>
                  <a:schemeClr val="bg1"/>
                </a:solidFill>
              </a:rPr>
              <a:t>Chhaya: the diabetes digital twin</a:t>
            </a:r>
            <a:endParaRPr lang="en-US" sz="4000" dirty="0"/>
          </a:p>
          <a:p>
            <a:pPr algn="l" indent="0" marL="0">
              <a:buNone/>
            </a:pPr>
            <a:r>
              <a:rPr lang="en-US" sz="4000" b="1" dirty="0">
                <a:solidFill>
                  <a:schemeClr val="bg1"/>
                </a:solidFill>
              </a:rPr>
              <a:t>that </a:t>
            </a:r>
            <a:pPr algn="l" indent="0" marL="0">
              <a:buNone/>
            </a:pPr>
            <a:r>
              <a:rPr lang="en-US" sz="4000" b="1" dirty="0">
                <a:solidFill>
                  <a:schemeClr val="accent6"/>
                </a:solidFill>
              </a:rPr>
              <a:t>keeps going</a:t>
            </a:r>
            <a:pPr algn="l" indent="0" marL="0">
              <a:buNone/>
            </a:pPr>
            <a:r>
              <a:rPr lang="en-US" sz="4000" b="1" dirty="0">
                <a:solidFill>
                  <a:schemeClr val="bg1"/>
                </a:solidFill>
              </a:rPr>
              <a:t> when the sensor is off</a:t>
            </a:r>
            <a:endParaRPr lang="en-US" sz="4000" dirty="0"/>
          </a:p>
        </p:txBody>
      </p:sp>
      <p:sp>
        <p:nvSpPr>
          <p:cNvPr id="4" name="Text 0"/>
          <p:cNvSpPr/>
          <p:nvPr>
            <p:ph idx="101" type="body" hasCustomPrompt="1"/>
          </p:nvPr>
        </p:nvSpPr>
        <p:spPr>
          <a:xfrm>
            <a:off x="548640" y="2487168"/>
            <a:ext cx="8138160" cy="1005840"/>
          </a:xfrm>
          <a:prstGeom prst="rect">
            <a:avLst/>
          </a:prstGeom>
          <a:noFill/>
          <a:ln/>
        </p:spPr>
        <p:txBody>
          <a:bodyPr wrap="square" lIns="0" tIns="0" rIns="0" bIns="0" rtlCol="0" anchor="t"/>
          <a:lstStyle/>
          <a:p>
            <a:pPr indent="0" marL="0">
              <a:buNone/>
            </a:pPr>
            <a:r>
              <a:rPr lang="en-US" sz="1700" dirty="0">
                <a:solidFill>
                  <a:schemeClr val="bg1">
                    <a:alpha val="85000"/>
                  </a:schemeClr>
                </a:solidFill>
              </a:rPr>
              <a:t>It fuses a patient’s health record with a wearable glucose sensor, draws an honest band around every estimate, says when its report may be out of date, and proves every claim on patients it never saw.</a:t>
            </a:r>
            <a:endParaRPr lang="en-US" sz="1700" dirty="0"/>
          </a:p>
        </p:txBody>
      </p:sp>
      <p:sp>
        <p:nvSpPr>
          <p:cNvPr id="5" name="Range 70-180 wash"/>
          <p:cNvSpPr/>
          <p:nvPr/>
        </p:nvSpPr>
        <p:spPr>
          <a:xfrm>
            <a:off x="548640" y="4581778"/>
            <a:ext cx="11091672" cy="1020778"/>
          </a:xfrm>
          <a:prstGeom prst="rect">
            <a:avLst/>
          </a:prstGeom>
          <a:solidFill>
            <a:schemeClr val="accent2">
              <a:alpha val="10000"/>
            </a:schemeClr>
          </a:solidFill>
          <a:ln w="12700">
            <a:solidFill>
              <a:schemeClr val="accent2"/>
            </a:solidFill>
            <a:prstDash val="solid"/>
          </a:ln>
        </p:spPr>
      </p:sp>
      <p:sp>
        <p:nvSpPr>
          <p:cNvPr id="6" name="180 mg/dL line"/>
          <p:cNvSpPr/>
          <p:nvPr/>
        </p:nvSpPr>
        <p:spPr>
          <a:xfrm>
            <a:off x="548640" y="4581778"/>
            <a:ext cx="11091672" cy="0"/>
          </a:xfrm>
          <a:prstGeom prst="line">
            <a:avLst/>
          </a:prstGeom>
          <a:noFill/>
          <a:ln w="9525">
            <a:solidFill>
              <a:srgbClr val="6F6C9E"/>
            </a:solidFill>
            <a:prstDash val="dash"/>
          </a:ln>
        </p:spPr>
      </p:sp>
      <p:sp>
        <p:nvSpPr>
          <p:cNvPr id="7" name="Wear ribbon p05-p95"/>
          <p:cNvSpPr/>
          <p:nvPr/>
        </p:nvSpPr>
        <p:spPr>
          <a:xfrm>
            <a:off x="548640" y="3913632"/>
            <a:ext cx="11091672" cy="1874520"/>
          </a:xfrm>
          <a:custGeom>
            <a:avLst/>
            <a:gdLst/>
            <a:ahLst/>
            <a:cxnLst/>
            <a:rect l="l" t="t" r="r" b="b"/>
            <a:pathLst>
              <a:path w="11091672" h="1874520">
                <a:moveTo>
                  <a:pt x="91440" y="427799"/>
                </a:moveTo>
                <a:lnTo>
                  <a:pt x="118677" y="499253"/>
                </a:lnTo>
                <a:lnTo>
                  <a:pt x="145915" y="537301"/>
                </a:lnTo>
                <a:lnTo>
                  <a:pt x="173152" y="590195"/>
                </a:lnTo>
                <a:lnTo>
                  <a:pt x="200390" y="609683"/>
                </a:lnTo>
                <a:lnTo>
                  <a:pt x="227627" y="687633"/>
                </a:lnTo>
                <a:lnTo>
                  <a:pt x="254865" y="709905"/>
                </a:lnTo>
                <a:lnTo>
                  <a:pt x="282102" y="767440"/>
                </a:lnTo>
                <a:lnTo>
                  <a:pt x="309340" y="784143"/>
                </a:lnTo>
                <a:lnTo>
                  <a:pt x="336577" y="820334"/>
                </a:lnTo>
                <a:lnTo>
                  <a:pt x="363814" y="828686"/>
                </a:lnTo>
                <a:lnTo>
                  <a:pt x="391052" y="821262"/>
                </a:lnTo>
                <a:lnTo>
                  <a:pt x="418289" y="821262"/>
                </a:lnTo>
                <a:lnTo>
                  <a:pt x="445527" y="833326"/>
                </a:lnTo>
                <a:lnTo>
                  <a:pt x="472764" y="837966"/>
                </a:lnTo>
                <a:lnTo>
                  <a:pt x="500002" y="662578"/>
                </a:lnTo>
                <a:lnTo>
                  <a:pt x="527239" y="524309"/>
                </a:lnTo>
                <a:lnTo>
                  <a:pt x="554477" y="418519"/>
                </a:lnTo>
                <a:lnTo>
                  <a:pt x="581714" y="358200"/>
                </a:lnTo>
                <a:lnTo>
                  <a:pt x="608951" y="341497"/>
                </a:lnTo>
                <a:lnTo>
                  <a:pt x="636189" y="341497"/>
                </a:lnTo>
                <a:lnTo>
                  <a:pt x="663426" y="363768"/>
                </a:lnTo>
                <a:lnTo>
                  <a:pt x="690664" y="490902"/>
                </a:lnTo>
                <a:lnTo>
                  <a:pt x="717901" y="559572"/>
                </a:lnTo>
                <a:lnTo>
                  <a:pt x="745139" y="621747"/>
                </a:lnTo>
                <a:lnTo>
                  <a:pt x="772376" y="701553"/>
                </a:lnTo>
                <a:lnTo>
                  <a:pt x="799614" y="506677"/>
                </a:lnTo>
                <a:lnTo>
                  <a:pt x="826851" y="248699"/>
                </a:lnTo>
                <a:lnTo>
                  <a:pt x="854089" y="111358"/>
                </a:lnTo>
                <a:lnTo>
                  <a:pt x="881326" y="82590"/>
                </a:lnTo>
                <a:lnTo>
                  <a:pt x="908563" y="82590"/>
                </a:lnTo>
                <a:lnTo>
                  <a:pt x="935801" y="92798"/>
                </a:lnTo>
                <a:lnTo>
                  <a:pt x="963038" y="148477"/>
                </a:lnTo>
                <a:lnTo>
                  <a:pt x="990276" y="320153"/>
                </a:lnTo>
                <a:lnTo>
                  <a:pt x="1017513" y="418519"/>
                </a:lnTo>
                <a:lnTo>
                  <a:pt x="1044751" y="453782"/>
                </a:lnTo>
                <a:lnTo>
                  <a:pt x="1071988" y="515029"/>
                </a:lnTo>
                <a:lnTo>
                  <a:pt x="1099226" y="525237"/>
                </a:lnTo>
                <a:lnTo>
                  <a:pt x="1126463" y="591123"/>
                </a:lnTo>
                <a:lnTo>
                  <a:pt x="1153700" y="623603"/>
                </a:lnTo>
                <a:lnTo>
                  <a:pt x="1180938" y="470486"/>
                </a:lnTo>
                <a:lnTo>
                  <a:pt x="1208175" y="320153"/>
                </a:lnTo>
                <a:lnTo>
                  <a:pt x="1235413" y="213435"/>
                </a:lnTo>
                <a:lnTo>
                  <a:pt x="1262650" y="213435"/>
                </a:lnTo>
                <a:lnTo>
                  <a:pt x="1289888" y="264474"/>
                </a:lnTo>
                <a:lnTo>
                  <a:pt x="1317125" y="268186"/>
                </a:lnTo>
                <a:lnTo>
                  <a:pt x="1344363" y="279322"/>
                </a:lnTo>
                <a:lnTo>
                  <a:pt x="1371600" y="296026"/>
                </a:lnTo>
                <a:lnTo>
                  <a:pt x="1371600" y="855598"/>
                </a:lnTo>
                <a:lnTo>
                  <a:pt x="1344363" y="632882"/>
                </a:lnTo>
                <a:lnTo>
                  <a:pt x="1317125" y="603187"/>
                </a:lnTo>
                <a:lnTo>
                  <a:pt x="1289888" y="523381"/>
                </a:lnTo>
                <a:lnTo>
                  <a:pt x="1262650" y="523381"/>
                </a:lnTo>
                <a:lnTo>
                  <a:pt x="1235413" y="716401"/>
                </a:lnTo>
                <a:lnTo>
                  <a:pt x="1208175" y="849102"/>
                </a:lnTo>
                <a:lnTo>
                  <a:pt x="1180938" y="849102"/>
                </a:lnTo>
                <a:lnTo>
                  <a:pt x="1153700" y="849102"/>
                </a:lnTo>
                <a:lnTo>
                  <a:pt x="1126463" y="811055"/>
                </a:lnTo>
                <a:lnTo>
                  <a:pt x="1099226" y="745168"/>
                </a:lnTo>
                <a:lnTo>
                  <a:pt x="1071988" y="736816"/>
                </a:lnTo>
                <a:lnTo>
                  <a:pt x="1044751" y="742384"/>
                </a:lnTo>
                <a:lnTo>
                  <a:pt x="1017513" y="725681"/>
                </a:lnTo>
                <a:lnTo>
                  <a:pt x="990276" y="685777"/>
                </a:lnTo>
                <a:lnTo>
                  <a:pt x="963038" y="619891"/>
                </a:lnTo>
                <a:lnTo>
                  <a:pt x="935801" y="593907"/>
                </a:lnTo>
                <a:lnTo>
                  <a:pt x="908563" y="483478"/>
                </a:lnTo>
                <a:lnTo>
                  <a:pt x="881326" y="520597"/>
                </a:lnTo>
                <a:lnTo>
                  <a:pt x="854089" y="784143"/>
                </a:lnTo>
                <a:lnTo>
                  <a:pt x="826851" y="880653"/>
                </a:lnTo>
                <a:lnTo>
                  <a:pt x="799614" y="885293"/>
                </a:lnTo>
                <a:lnTo>
                  <a:pt x="772376" y="885293"/>
                </a:lnTo>
                <a:lnTo>
                  <a:pt x="745139" y="876013"/>
                </a:lnTo>
                <a:lnTo>
                  <a:pt x="717901" y="837038"/>
                </a:lnTo>
                <a:lnTo>
                  <a:pt x="690664" y="755376"/>
                </a:lnTo>
                <a:lnTo>
                  <a:pt x="663426" y="693201"/>
                </a:lnTo>
                <a:lnTo>
                  <a:pt x="636189" y="653298"/>
                </a:lnTo>
                <a:lnTo>
                  <a:pt x="608951" y="633810"/>
                </a:lnTo>
                <a:lnTo>
                  <a:pt x="581714" y="688561"/>
                </a:lnTo>
                <a:lnTo>
                  <a:pt x="554477" y="878797"/>
                </a:lnTo>
                <a:lnTo>
                  <a:pt x="527239" y="997579"/>
                </a:lnTo>
                <a:lnTo>
                  <a:pt x="500002" y="1004075"/>
                </a:lnTo>
                <a:lnTo>
                  <a:pt x="472764" y="1052330"/>
                </a:lnTo>
                <a:lnTo>
                  <a:pt x="445527" y="1030058"/>
                </a:lnTo>
                <a:lnTo>
                  <a:pt x="418289" y="1036554"/>
                </a:lnTo>
                <a:lnTo>
                  <a:pt x="391052" y="1036554"/>
                </a:lnTo>
                <a:lnTo>
                  <a:pt x="363814" y="1036554"/>
                </a:lnTo>
                <a:lnTo>
                  <a:pt x="336577" y="1023562"/>
                </a:lnTo>
                <a:lnTo>
                  <a:pt x="309340" y="1004075"/>
                </a:lnTo>
                <a:lnTo>
                  <a:pt x="282102" y="1048618"/>
                </a:lnTo>
                <a:lnTo>
                  <a:pt x="254865" y="1078313"/>
                </a:lnTo>
                <a:lnTo>
                  <a:pt x="227627" y="1086665"/>
                </a:lnTo>
                <a:lnTo>
                  <a:pt x="200390" y="1096873"/>
                </a:lnTo>
                <a:lnTo>
                  <a:pt x="173152" y="1088521"/>
                </a:lnTo>
                <a:lnTo>
                  <a:pt x="145915" y="1083881"/>
                </a:lnTo>
                <a:lnTo>
                  <a:pt x="118677" y="1083881"/>
                </a:lnTo>
                <a:lnTo>
                  <a:pt x="91440" y="1051402"/>
                </a:lnTo>
                <a:close/>
              </a:path>
            </a:pathLst>
          </a:custGeom>
          <a:solidFill>
            <a:schemeClr val="accent2">
              <a:alpha val="18000"/>
            </a:schemeClr>
          </a:solidFill>
          <a:ln w="12700">
            <a:solidFill>
              <a:schemeClr val="accent2"/>
            </a:solidFill>
            <a:prstDash val="solid"/>
          </a:ln>
        </p:spPr>
      </p:sp>
      <p:sp>
        <p:nvSpPr>
          <p:cNvPr id="8" name="Wear ribbon p25-p75"/>
          <p:cNvSpPr/>
          <p:nvPr/>
        </p:nvSpPr>
        <p:spPr>
          <a:xfrm>
            <a:off x="548640" y="3913632"/>
            <a:ext cx="11091672" cy="1874520"/>
          </a:xfrm>
          <a:custGeom>
            <a:avLst/>
            <a:gdLst/>
            <a:ahLst/>
            <a:cxnLst/>
            <a:rect l="l" t="t" r="r" b="b"/>
            <a:pathLst>
              <a:path w="11091672" h="1874520">
                <a:moveTo>
                  <a:pt x="91440" y="520597"/>
                </a:moveTo>
                <a:lnTo>
                  <a:pt x="118677" y="577204"/>
                </a:lnTo>
                <a:lnTo>
                  <a:pt x="145915" y="616179"/>
                </a:lnTo>
                <a:lnTo>
                  <a:pt x="173152" y="678354"/>
                </a:lnTo>
                <a:lnTo>
                  <a:pt x="200390" y="718257"/>
                </a:lnTo>
                <a:lnTo>
                  <a:pt x="227627" y="776719"/>
                </a:lnTo>
                <a:lnTo>
                  <a:pt x="254865" y="818479"/>
                </a:lnTo>
                <a:lnTo>
                  <a:pt x="282102" y="839822"/>
                </a:lnTo>
                <a:lnTo>
                  <a:pt x="309340" y="863950"/>
                </a:lnTo>
                <a:lnTo>
                  <a:pt x="336577" y="881581"/>
                </a:lnTo>
                <a:lnTo>
                  <a:pt x="363814" y="881581"/>
                </a:lnTo>
                <a:lnTo>
                  <a:pt x="391052" y="882509"/>
                </a:lnTo>
                <a:lnTo>
                  <a:pt x="418289" y="881581"/>
                </a:lnTo>
                <a:lnTo>
                  <a:pt x="445527" y="908493"/>
                </a:lnTo>
                <a:lnTo>
                  <a:pt x="472764" y="908493"/>
                </a:lnTo>
                <a:lnTo>
                  <a:pt x="500002" y="832398"/>
                </a:lnTo>
                <a:lnTo>
                  <a:pt x="527239" y="632882"/>
                </a:lnTo>
                <a:lnTo>
                  <a:pt x="554477" y="517813"/>
                </a:lnTo>
                <a:lnTo>
                  <a:pt x="581714" y="466774"/>
                </a:lnTo>
                <a:lnTo>
                  <a:pt x="608951" y="460278"/>
                </a:lnTo>
                <a:lnTo>
                  <a:pt x="636189" y="486262"/>
                </a:lnTo>
                <a:lnTo>
                  <a:pt x="663426" y="522453"/>
                </a:lnTo>
                <a:lnTo>
                  <a:pt x="690664" y="561428"/>
                </a:lnTo>
                <a:lnTo>
                  <a:pt x="717901" y="638450"/>
                </a:lnTo>
                <a:lnTo>
                  <a:pt x="745139" y="721041"/>
                </a:lnTo>
                <a:lnTo>
                  <a:pt x="772376" y="748880"/>
                </a:lnTo>
                <a:lnTo>
                  <a:pt x="799614" y="749808"/>
                </a:lnTo>
                <a:lnTo>
                  <a:pt x="826851" y="465846"/>
                </a:lnTo>
                <a:lnTo>
                  <a:pt x="854089" y="294170"/>
                </a:lnTo>
                <a:lnTo>
                  <a:pt x="881326" y="218075"/>
                </a:lnTo>
                <a:lnTo>
                  <a:pt x="908563" y="159613"/>
                </a:lnTo>
                <a:lnTo>
                  <a:pt x="935801" y="251483"/>
                </a:lnTo>
                <a:lnTo>
                  <a:pt x="963038" y="318297"/>
                </a:lnTo>
                <a:lnTo>
                  <a:pt x="990276" y="424087"/>
                </a:lnTo>
                <a:lnTo>
                  <a:pt x="1017513" y="458422"/>
                </a:lnTo>
                <a:lnTo>
                  <a:pt x="1044751" y="522453"/>
                </a:lnTo>
                <a:lnTo>
                  <a:pt x="1071988" y="563284"/>
                </a:lnTo>
                <a:lnTo>
                  <a:pt x="1099226" y="611539"/>
                </a:lnTo>
                <a:lnTo>
                  <a:pt x="1126463" y="639378"/>
                </a:lnTo>
                <a:lnTo>
                  <a:pt x="1153700" y="691345"/>
                </a:lnTo>
                <a:lnTo>
                  <a:pt x="1180938" y="677426"/>
                </a:lnTo>
                <a:lnTo>
                  <a:pt x="1208175" y="467702"/>
                </a:lnTo>
                <a:lnTo>
                  <a:pt x="1235413" y="363768"/>
                </a:lnTo>
                <a:lnTo>
                  <a:pt x="1262650" y="282106"/>
                </a:lnTo>
                <a:lnTo>
                  <a:pt x="1289888" y="276538"/>
                </a:lnTo>
                <a:lnTo>
                  <a:pt x="1317125" y="295098"/>
                </a:lnTo>
                <a:lnTo>
                  <a:pt x="1344363" y="315513"/>
                </a:lnTo>
                <a:lnTo>
                  <a:pt x="1371600" y="425943"/>
                </a:lnTo>
                <a:lnTo>
                  <a:pt x="1371600" y="610611"/>
                </a:lnTo>
                <a:lnTo>
                  <a:pt x="1344363" y="528021"/>
                </a:lnTo>
                <a:lnTo>
                  <a:pt x="1317125" y="463990"/>
                </a:lnTo>
                <a:lnTo>
                  <a:pt x="1289888" y="427799"/>
                </a:lnTo>
                <a:lnTo>
                  <a:pt x="1262650" y="475126"/>
                </a:lnTo>
                <a:lnTo>
                  <a:pt x="1235413" y="526165"/>
                </a:lnTo>
                <a:lnTo>
                  <a:pt x="1208175" y="743312"/>
                </a:lnTo>
                <a:lnTo>
                  <a:pt x="1180938" y="787855"/>
                </a:lnTo>
                <a:lnTo>
                  <a:pt x="1153700" y="780431"/>
                </a:lnTo>
                <a:lnTo>
                  <a:pt x="1126463" y="761872"/>
                </a:lnTo>
                <a:lnTo>
                  <a:pt x="1099226" y="708977"/>
                </a:lnTo>
                <a:lnTo>
                  <a:pt x="1071988" y="674642"/>
                </a:lnTo>
                <a:lnTo>
                  <a:pt x="1044751" y="674642"/>
                </a:lnTo>
                <a:lnTo>
                  <a:pt x="1017513" y="643090"/>
                </a:lnTo>
                <a:lnTo>
                  <a:pt x="990276" y="618035"/>
                </a:lnTo>
                <a:lnTo>
                  <a:pt x="963038" y="549364"/>
                </a:lnTo>
                <a:lnTo>
                  <a:pt x="935801" y="427799"/>
                </a:lnTo>
                <a:lnTo>
                  <a:pt x="908563" y="378616"/>
                </a:lnTo>
                <a:lnTo>
                  <a:pt x="881326" y="410167"/>
                </a:lnTo>
                <a:lnTo>
                  <a:pt x="854089" y="609683"/>
                </a:lnTo>
                <a:lnTo>
                  <a:pt x="826851" y="803631"/>
                </a:lnTo>
                <a:lnTo>
                  <a:pt x="799614" y="852814"/>
                </a:lnTo>
                <a:lnTo>
                  <a:pt x="772376" y="854670"/>
                </a:lnTo>
                <a:lnTo>
                  <a:pt x="745139" y="838894"/>
                </a:lnTo>
                <a:lnTo>
                  <a:pt x="717901" y="747024"/>
                </a:lnTo>
                <a:lnTo>
                  <a:pt x="690664" y="685777"/>
                </a:lnTo>
                <a:lnTo>
                  <a:pt x="663426" y="628243"/>
                </a:lnTo>
                <a:lnTo>
                  <a:pt x="636189" y="571636"/>
                </a:lnTo>
                <a:lnTo>
                  <a:pt x="608951" y="571636"/>
                </a:lnTo>
                <a:lnTo>
                  <a:pt x="581714" y="624531"/>
                </a:lnTo>
                <a:lnTo>
                  <a:pt x="554477" y="749808"/>
                </a:lnTo>
                <a:lnTo>
                  <a:pt x="527239" y="917772"/>
                </a:lnTo>
                <a:lnTo>
                  <a:pt x="500002" y="962315"/>
                </a:lnTo>
                <a:lnTo>
                  <a:pt x="472764" y="979019"/>
                </a:lnTo>
                <a:lnTo>
                  <a:pt x="445527" y="979019"/>
                </a:lnTo>
                <a:lnTo>
                  <a:pt x="418289" y="983659"/>
                </a:lnTo>
                <a:lnTo>
                  <a:pt x="391052" y="990155"/>
                </a:lnTo>
                <a:lnTo>
                  <a:pt x="363814" y="971595"/>
                </a:lnTo>
                <a:lnTo>
                  <a:pt x="336577" y="968811"/>
                </a:lnTo>
                <a:lnTo>
                  <a:pt x="309340" y="956748"/>
                </a:lnTo>
                <a:lnTo>
                  <a:pt x="282102" y="945612"/>
                </a:lnTo>
                <a:lnTo>
                  <a:pt x="254865" y="956748"/>
                </a:lnTo>
                <a:lnTo>
                  <a:pt x="227627" y="960460"/>
                </a:lnTo>
                <a:lnTo>
                  <a:pt x="200390" y="924268"/>
                </a:lnTo>
                <a:lnTo>
                  <a:pt x="173152" y="911277"/>
                </a:lnTo>
                <a:lnTo>
                  <a:pt x="145915" y="796207"/>
                </a:lnTo>
                <a:lnTo>
                  <a:pt x="118677" y="747952"/>
                </a:lnTo>
                <a:lnTo>
                  <a:pt x="91440" y="688561"/>
                </a:lnTo>
                <a:close/>
              </a:path>
            </a:pathLst>
          </a:custGeom>
          <a:solidFill>
            <a:schemeClr val="accent2">
              <a:alpha val="38000"/>
            </a:schemeClr>
          </a:solidFill>
          <a:ln w="12700">
            <a:solidFill>
              <a:schemeClr val="accent2"/>
            </a:solidFill>
            <a:prstDash val="solid"/>
          </a:ln>
        </p:spPr>
      </p:sp>
      <p:sp>
        <p:nvSpPr>
          <p:cNvPr id="9" name="Wear median"/>
          <p:cNvSpPr/>
          <p:nvPr/>
        </p:nvSpPr>
        <p:spPr>
          <a:xfrm>
            <a:off x="548640" y="3913632"/>
            <a:ext cx="11091672" cy="1874520"/>
          </a:xfrm>
          <a:custGeom>
            <a:avLst/>
            <a:gdLst/>
            <a:ahLst/>
            <a:cxnLst/>
            <a:rect l="l" t="t" r="r" b="b"/>
            <a:pathLst>
              <a:path w="11091672" h="1874520">
                <a:moveTo>
                  <a:pt x="91440" y="590195"/>
                </a:moveTo>
                <a:lnTo>
                  <a:pt x="118677" y="666290"/>
                </a:lnTo>
                <a:lnTo>
                  <a:pt x="145915" y="704337"/>
                </a:lnTo>
                <a:lnTo>
                  <a:pt x="173152" y="781359"/>
                </a:lnTo>
                <a:lnTo>
                  <a:pt x="200390" y="818479"/>
                </a:lnTo>
                <a:lnTo>
                  <a:pt x="227627" y="847246"/>
                </a:lnTo>
                <a:lnTo>
                  <a:pt x="254865" y="869517"/>
                </a:lnTo>
                <a:lnTo>
                  <a:pt x="282102" y="896429"/>
                </a:lnTo>
                <a:lnTo>
                  <a:pt x="309340" y="902925"/>
                </a:lnTo>
                <a:lnTo>
                  <a:pt x="336577" y="921484"/>
                </a:lnTo>
                <a:lnTo>
                  <a:pt x="363814" y="940972"/>
                </a:lnTo>
                <a:lnTo>
                  <a:pt x="391052" y="940972"/>
                </a:lnTo>
                <a:lnTo>
                  <a:pt x="418289" y="927052"/>
                </a:lnTo>
                <a:lnTo>
                  <a:pt x="445527" y="928908"/>
                </a:lnTo>
                <a:lnTo>
                  <a:pt x="472764" y="930764"/>
                </a:lnTo>
                <a:lnTo>
                  <a:pt x="500002" y="920556"/>
                </a:lnTo>
                <a:lnTo>
                  <a:pt x="527239" y="811055"/>
                </a:lnTo>
                <a:lnTo>
                  <a:pt x="554477" y="624531"/>
                </a:lnTo>
                <a:lnTo>
                  <a:pt x="581714" y="546580"/>
                </a:lnTo>
                <a:lnTo>
                  <a:pt x="608951" y="525237"/>
                </a:lnTo>
                <a:lnTo>
                  <a:pt x="636189" y="554004"/>
                </a:lnTo>
                <a:lnTo>
                  <a:pt x="663426" y="565140"/>
                </a:lnTo>
                <a:lnTo>
                  <a:pt x="690664" y="622675"/>
                </a:lnTo>
                <a:lnTo>
                  <a:pt x="717901" y="687633"/>
                </a:lnTo>
                <a:lnTo>
                  <a:pt x="745139" y="755376"/>
                </a:lnTo>
                <a:lnTo>
                  <a:pt x="772376" y="818479"/>
                </a:lnTo>
                <a:lnTo>
                  <a:pt x="799614" y="800847"/>
                </a:lnTo>
                <a:lnTo>
                  <a:pt x="826851" y="734960"/>
                </a:lnTo>
                <a:lnTo>
                  <a:pt x="854089" y="412951"/>
                </a:lnTo>
                <a:lnTo>
                  <a:pt x="881326" y="295098"/>
                </a:lnTo>
                <a:lnTo>
                  <a:pt x="908563" y="287674"/>
                </a:lnTo>
                <a:lnTo>
                  <a:pt x="935801" y="321081"/>
                </a:lnTo>
                <a:lnTo>
                  <a:pt x="963038" y="425943"/>
                </a:lnTo>
                <a:lnTo>
                  <a:pt x="990276" y="465846"/>
                </a:lnTo>
                <a:lnTo>
                  <a:pt x="1017513" y="571636"/>
                </a:lnTo>
                <a:lnTo>
                  <a:pt x="1044751" y="617107"/>
                </a:lnTo>
                <a:lnTo>
                  <a:pt x="1071988" y="632882"/>
                </a:lnTo>
                <a:lnTo>
                  <a:pt x="1099226" y="659794"/>
                </a:lnTo>
                <a:lnTo>
                  <a:pt x="1126463" y="693201"/>
                </a:lnTo>
                <a:lnTo>
                  <a:pt x="1153700" y="749808"/>
                </a:lnTo>
                <a:lnTo>
                  <a:pt x="1180938" y="749808"/>
                </a:lnTo>
                <a:lnTo>
                  <a:pt x="1208175" y="612467"/>
                </a:lnTo>
                <a:lnTo>
                  <a:pt x="1235413" y="448214"/>
                </a:lnTo>
                <a:lnTo>
                  <a:pt x="1262650" y="383256"/>
                </a:lnTo>
                <a:lnTo>
                  <a:pt x="1289888" y="336857"/>
                </a:lnTo>
                <a:lnTo>
                  <a:pt x="1317125" y="370264"/>
                </a:lnTo>
                <a:lnTo>
                  <a:pt x="1344363" y="427799"/>
                </a:lnTo>
                <a:lnTo>
                  <a:pt x="1371600" y="518741"/>
                </a:lnTo>
              </a:path>
            </a:pathLst>
          </a:custGeom>
          <a:ln w="25400">
            <a:solidFill>
              <a:schemeClr val="accent2"/>
            </a:solidFill>
            <a:prstDash val="solid"/>
          </a:ln>
        </p:spPr>
      </p:sp>
      <p:sp>
        <p:nvSpPr>
          <p:cNvPr id="10" name="Day divider 0"/>
          <p:cNvSpPr/>
          <p:nvPr/>
        </p:nvSpPr>
        <p:spPr>
          <a:xfrm>
            <a:off x="2212848" y="3913632"/>
            <a:ext cx="0" cy="1874520"/>
          </a:xfrm>
          <a:prstGeom prst="line">
            <a:avLst/>
          </a:prstGeom>
          <a:noFill/>
          <a:ln w="9525">
            <a:solidFill>
              <a:srgbClr val="3A3866"/>
            </a:solidFill>
            <a:prstDash val="solid"/>
          </a:ln>
        </p:spPr>
      </p:sp>
      <p:sp>
        <p:nvSpPr>
          <p:cNvPr id="11" name="Day divider 1"/>
          <p:cNvSpPr/>
          <p:nvPr/>
        </p:nvSpPr>
        <p:spPr>
          <a:xfrm>
            <a:off x="3784092" y="3913632"/>
            <a:ext cx="0" cy="1874520"/>
          </a:xfrm>
          <a:prstGeom prst="line">
            <a:avLst/>
          </a:prstGeom>
          <a:noFill/>
          <a:ln w="9525">
            <a:solidFill>
              <a:srgbClr val="3A3866"/>
            </a:solidFill>
            <a:prstDash val="solid"/>
          </a:ln>
        </p:spPr>
      </p:sp>
      <p:sp>
        <p:nvSpPr>
          <p:cNvPr id="12" name="Day divider 2"/>
          <p:cNvSpPr/>
          <p:nvPr/>
        </p:nvSpPr>
        <p:spPr>
          <a:xfrm>
            <a:off x="5355336" y="3913632"/>
            <a:ext cx="0" cy="1874520"/>
          </a:xfrm>
          <a:prstGeom prst="line">
            <a:avLst/>
          </a:prstGeom>
          <a:noFill/>
          <a:ln w="9525">
            <a:solidFill>
              <a:srgbClr val="3A3866"/>
            </a:solidFill>
            <a:prstDash val="solid"/>
          </a:ln>
        </p:spPr>
      </p:sp>
      <p:sp>
        <p:nvSpPr>
          <p:cNvPr id="13" name="Day divider 3"/>
          <p:cNvSpPr/>
          <p:nvPr/>
        </p:nvSpPr>
        <p:spPr>
          <a:xfrm>
            <a:off x="6926580" y="3913632"/>
            <a:ext cx="0" cy="1874520"/>
          </a:xfrm>
          <a:prstGeom prst="line">
            <a:avLst/>
          </a:prstGeom>
          <a:noFill/>
          <a:ln w="9525">
            <a:solidFill>
              <a:srgbClr val="3A3866"/>
            </a:solidFill>
            <a:prstDash val="solid"/>
          </a:ln>
        </p:spPr>
      </p:sp>
      <p:sp>
        <p:nvSpPr>
          <p:cNvPr id="14" name="Day divider 4"/>
          <p:cNvSpPr/>
          <p:nvPr/>
        </p:nvSpPr>
        <p:spPr>
          <a:xfrm>
            <a:off x="8497824" y="3913632"/>
            <a:ext cx="0" cy="1874520"/>
          </a:xfrm>
          <a:prstGeom prst="line">
            <a:avLst/>
          </a:prstGeom>
          <a:noFill/>
          <a:ln w="9525">
            <a:solidFill>
              <a:srgbClr val="3A3866"/>
            </a:solidFill>
            <a:prstDash val="solid"/>
          </a:ln>
        </p:spPr>
      </p:sp>
      <p:sp>
        <p:nvSpPr>
          <p:cNvPr id="15" name="Day divider 5"/>
          <p:cNvSpPr/>
          <p:nvPr/>
        </p:nvSpPr>
        <p:spPr>
          <a:xfrm>
            <a:off x="10069068" y="3913632"/>
            <a:ext cx="0" cy="1874520"/>
          </a:xfrm>
          <a:prstGeom prst="line">
            <a:avLst/>
          </a:prstGeom>
          <a:noFill/>
          <a:ln w="9525">
            <a:solidFill>
              <a:srgbClr val="3A3866"/>
            </a:solidFill>
            <a:prstDash val="solid"/>
          </a:ln>
        </p:spPr>
      </p:sp>
      <p:sp>
        <p:nvSpPr>
          <p:cNvPr id="16" name="Day divider 6"/>
          <p:cNvSpPr/>
          <p:nvPr/>
        </p:nvSpPr>
        <p:spPr>
          <a:xfrm>
            <a:off x="11640312" y="3913632"/>
            <a:ext cx="0" cy="1874520"/>
          </a:xfrm>
          <a:prstGeom prst="line">
            <a:avLst/>
          </a:prstGeom>
          <a:noFill/>
          <a:ln w="9525">
            <a:solidFill>
              <a:srgbClr val="3A3866"/>
            </a:solidFill>
            <a:prstDash val="solid"/>
          </a:ln>
        </p:spPr>
      </p:sp>
      <p:sp>
        <p:nvSpPr>
          <p:cNvPr id="17" name="Sensor off divider"/>
          <p:cNvSpPr/>
          <p:nvPr/>
        </p:nvSpPr>
        <p:spPr>
          <a:xfrm>
            <a:off x="2066544" y="3840480"/>
            <a:ext cx="0" cy="2020824"/>
          </a:xfrm>
          <a:prstGeom prst="line">
            <a:avLst/>
          </a:prstGeom>
          <a:noFill/>
          <a:ln w="19050">
            <a:solidFill>
              <a:schemeClr val="bg1"/>
            </a:solidFill>
            <a:prstDash val="solid"/>
          </a:ln>
        </p:spPr>
      </p:sp>
      <p:sp>
        <p:nvSpPr>
          <p:cNvPr id="18" name="80 % band"/>
          <p:cNvSpPr/>
          <p:nvPr/>
        </p:nvSpPr>
        <p:spPr>
          <a:xfrm>
            <a:off x="548640" y="3913632"/>
            <a:ext cx="11091672" cy="1874520"/>
          </a:xfrm>
          <a:custGeom>
            <a:avLst/>
            <a:gdLst/>
            <a:ahLst/>
            <a:cxnLst/>
            <a:rect l="l" t="t" r="r" b="b"/>
            <a:pathLst>
              <a:path w="11091672" h="1874520">
                <a:moveTo>
                  <a:pt x="1664208" y="515029"/>
                </a:moveTo>
                <a:lnTo>
                  <a:pt x="1680575" y="505749"/>
                </a:lnTo>
                <a:lnTo>
                  <a:pt x="1696942" y="538229"/>
                </a:lnTo>
                <a:lnTo>
                  <a:pt x="1713309" y="541012"/>
                </a:lnTo>
                <a:lnTo>
                  <a:pt x="1729676" y="569780"/>
                </a:lnTo>
                <a:lnTo>
                  <a:pt x="1746044" y="583700"/>
                </a:lnTo>
                <a:lnTo>
                  <a:pt x="1762411" y="640306"/>
                </a:lnTo>
                <a:lnTo>
                  <a:pt x="1778778" y="618963"/>
                </a:lnTo>
                <a:lnTo>
                  <a:pt x="1795145" y="679282"/>
                </a:lnTo>
                <a:lnTo>
                  <a:pt x="1811512" y="676498"/>
                </a:lnTo>
                <a:lnTo>
                  <a:pt x="1827879" y="669074"/>
                </a:lnTo>
                <a:lnTo>
                  <a:pt x="1844246" y="692273"/>
                </a:lnTo>
                <a:lnTo>
                  <a:pt x="1860614" y="741456"/>
                </a:lnTo>
                <a:lnTo>
                  <a:pt x="1876981" y="749808"/>
                </a:lnTo>
                <a:lnTo>
                  <a:pt x="1893348" y="723825"/>
                </a:lnTo>
                <a:lnTo>
                  <a:pt x="1909715" y="735888"/>
                </a:lnTo>
                <a:lnTo>
                  <a:pt x="1926082" y="738672"/>
                </a:lnTo>
                <a:lnTo>
                  <a:pt x="1942449" y="749808"/>
                </a:lnTo>
                <a:lnTo>
                  <a:pt x="1958816" y="757232"/>
                </a:lnTo>
                <a:lnTo>
                  <a:pt x="1975183" y="753520"/>
                </a:lnTo>
                <a:lnTo>
                  <a:pt x="1991551" y="779503"/>
                </a:lnTo>
                <a:lnTo>
                  <a:pt x="2007918" y="772080"/>
                </a:lnTo>
                <a:lnTo>
                  <a:pt x="2024285" y="771152"/>
                </a:lnTo>
                <a:lnTo>
                  <a:pt x="2040652" y="760016"/>
                </a:lnTo>
                <a:lnTo>
                  <a:pt x="2057019" y="766512"/>
                </a:lnTo>
                <a:lnTo>
                  <a:pt x="2073386" y="773935"/>
                </a:lnTo>
                <a:lnTo>
                  <a:pt x="2089753" y="799919"/>
                </a:lnTo>
                <a:lnTo>
                  <a:pt x="2106120" y="767440"/>
                </a:lnTo>
                <a:lnTo>
                  <a:pt x="2122488" y="761872"/>
                </a:lnTo>
                <a:lnTo>
                  <a:pt x="2138855" y="764656"/>
                </a:lnTo>
                <a:lnTo>
                  <a:pt x="2155222" y="777647"/>
                </a:lnTo>
                <a:lnTo>
                  <a:pt x="2171589" y="787855"/>
                </a:lnTo>
                <a:lnTo>
                  <a:pt x="2187956" y="644018"/>
                </a:lnTo>
                <a:lnTo>
                  <a:pt x="2204323" y="594835"/>
                </a:lnTo>
                <a:lnTo>
                  <a:pt x="2220690" y="451926"/>
                </a:lnTo>
                <a:lnTo>
                  <a:pt x="2237057" y="412023"/>
                </a:lnTo>
                <a:lnTo>
                  <a:pt x="2253425" y="322009"/>
                </a:lnTo>
                <a:lnTo>
                  <a:pt x="2269792" y="316441"/>
                </a:lnTo>
                <a:lnTo>
                  <a:pt x="2286159" y="352632"/>
                </a:lnTo>
                <a:lnTo>
                  <a:pt x="2302526" y="363768"/>
                </a:lnTo>
                <a:lnTo>
                  <a:pt x="2318893" y="369336"/>
                </a:lnTo>
                <a:lnTo>
                  <a:pt x="2335260" y="389752"/>
                </a:lnTo>
                <a:lnTo>
                  <a:pt x="2351627" y="418519"/>
                </a:lnTo>
                <a:lnTo>
                  <a:pt x="2367994" y="427799"/>
                </a:lnTo>
                <a:lnTo>
                  <a:pt x="2384361" y="497397"/>
                </a:lnTo>
                <a:lnTo>
                  <a:pt x="2400729" y="494613"/>
                </a:lnTo>
                <a:lnTo>
                  <a:pt x="2417096" y="547508"/>
                </a:lnTo>
                <a:lnTo>
                  <a:pt x="2433463" y="554004"/>
                </a:lnTo>
                <a:lnTo>
                  <a:pt x="2449830" y="619891"/>
                </a:lnTo>
                <a:lnTo>
                  <a:pt x="2466197" y="598547"/>
                </a:lnTo>
                <a:lnTo>
                  <a:pt x="2482564" y="681137"/>
                </a:lnTo>
                <a:lnTo>
                  <a:pt x="2498931" y="682993"/>
                </a:lnTo>
                <a:lnTo>
                  <a:pt x="2515299" y="694129"/>
                </a:lnTo>
                <a:lnTo>
                  <a:pt x="2531666" y="713617"/>
                </a:lnTo>
                <a:lnTo>
                  <a:pt x="2548033" y="646802"/>
                </a:lnTo>
                <a:lnTo>
                  <a:pt x="2564400" y="592979"/>
                </a:lnTo>
                <a:lnTo>
                  <a:pt x="2580767" y="360984"/>
                </a:lnTo>
                <a:lnTo>
                  <a:pt x="2597134" y="261690"/>
                </a:lnTo>
                <a:lnTo>
                  <a:pt x="2613501" y="174460"/>
                </a:lnTo>
                <a:lnTo>
                  <a:pt x="2629868" y="161469"/>
                </a:lnTo>
                <a:lnTo>
                  <a:pt x="2646236" y="150333"/>
                </a:lnTo>
                <a:lnTo>
                  <a:pt x="2662603" y="128989"/>
                </a:lnTo>
                <a:lnTo>
                  <a:pt x="2678970" y="176316"/>
                </a:lnTo>
                <a:lnTo>
                  <a:pt x="2695337" y="186524"/>
                </a:lnTo>
                <a:lnTo>
                  <a:pt x="2711704" y="263546"/>
                </a:lnTo>
                <a:lnTo>
                  <a:pt x="2728071" y="294170"/>
                </a:lnTo>
                <a:lnTo>
                  <a:pt x="2744438" y="346137"/>
                </a:lnTo>
                <a:lnTo>
                  <a:pt x="2760805" y="378616"/>
                </a:lnTo>
                <a:lnTo>
                  <a:pt x="2777173" y="432439"/>
                </a:lnTo>
                <a:lnTo>
                  <a:pt x="2793540" y="452854"/>
                </a:lnTo>
                <a:lnTo>
                  <a:pt x="2809907" y="433367"/>
                </a:lnTo>
                <a:lnTo>
                  <a:pt x="2826274" y="425015"/>
                </a:lnTo>
                <a:lnTo>
                  <a:pt x="2842641" y="445430"/>
                </a:lnTo>
                <a:lnTo>
                  <a:pt x="2859008" y="441719"/>
                </a:lnTo>
                <a:lnTo>
                  <a:pt x="2875375" y="484406"/>
                </a:lnTo>
                <a:lnTo>
                  <a:pt x="2891742" y="489974"/>
                </a:lnTo>
                <a:lnTo>
                  <a:pt x="2908110" y="561428"/>
                </a:lnTo>
                <a:lnTo>
                  <a:pt x="2924477" y="554004"/>
                </a:lnTo>
                <a:lnTo>
                  <a:pt x="2940844" y="605971"/>
                </a:lnTo>
                <a:lnTo>
                  <a:pt x="2957211" y="602259"/>
                </a:lnTo>
                <a:lnTo>
                  <a:pt x="2973578" y="657010"/>
                </a:lnTo>
                <a:lnTo>
                  <a:pt x="2989945" y="653298"/>
                </a:lnTo>
                <a:lnTo>
                  <a:pt x="3006312" y="510389"/>
                </a:lnTo>
                <a:lnTo>
                  <a:pt x="3022679" y="410167"/>
                </a:lnTo>
                <a:lnTo>
                  <a:pt x="3039047" y="266330"/>
                </a:lnTo>
                <a:lnTo>
                  <a:pt x="3055414" y="259834"/>
                </a:lnTo>
                <a:lnTo>
                  <a:pt x="3071781" y="207868"/>
                </a:lnTo>
                <a:lnTo>
                  <a:pt x="3088148" y="188380"/>
                </a:lnTo>
                <a:lnTo>
                  <a:pt x="3104515" y="228283"/>
                </a:lnTo>
                <a:lnTo>
                  <a:pt x="3120882" y="204156"/>
                </a:lnTo>
                <a:lnTo>
                  <a:pt x="3137249" y="190236"/>
                </a:lnTo>
                <a:lnTo>
                  <a:pt x="3153616" y="268186"/>
                </a:lnTo>
                <a:lnTo>
                  <a:pt x="3169984" y="286746"/>
                </a:lnTo>
                <a:lnTo>
                  <a:pt x="3186351" y="325721"/>
                </a:lnTo>
                <a:lnTo>
                  <a:pt x="3202718" y="403671"/>
                </a:lnTo>
                <a:lnTo>
                  <a:pt x="3219085" y="423159"/>
                </a:lnTo>
                <a:lnTo>
                  <a:pt x="3235452" y="535445"/>
                </a:lnTo>
                <a:lnTo>
                  <a:pt x="3251819" y="544724"/>
                </a:lnTo>
                <a:lnTo>
                  <a:pt x="3268186" y="537301"/>
                </a:lnTo>
                <a:lnTo>
                  <a:pt x="3284553" y="579060"/>
                </a:lnTo>
                <a:lnTo>
                  <a:pt x="3300921" y="592051"/>
                </a:lnTo>
                <a:lnTo>
                  <a:pt x="3317288" y="599475"/>
                </a:lnTo>
                <a:lnTo>
                  <a:pt x="3333655" y="654226"/>
                </a:lnTo>
                <a:lnTo>
                  <a:pt x="3350022" y="657938"/>
                </a:lnTo>
                <a:lnTo>
                  <a:pt x="3366389" y="689489"/>
                </a:lnTo>
                <a:lnTo>
                  <a:pt x="3382756" y="681137"/>
                </a:lnTo>
                <a:lnTo>
                  <a:pt x="3399123" y="701553"/>
                </a:lnTo>
                <a:lnTo>
                  <a:pt x="3415490" y="708049"/>
                </a:lnTo>
                <a:lnTo>
                  <a:pt x="3431858" y="739600"/>
                </a:lnTo>
                <a:lnTo>
                  <a:pt x="3448225" y="733104"/>
                </a:lnTo>
                <a:lnTo>
                  <a:pt x="3464592" y="740528"/>
                </a:lnTo>
                <a:lnTo>
                  <a:pt x="3480959" y="738672"/>
                </a:lnTo>
                <a:lnTo>
                  <a:pt x="3497326" y="747952"/>
                </a:lnTo>
                <a:lnTo>
                  <a:pt x="3513693" y="718257"/>
                </a:lnTo>
                <a:lnTo>
                  <a:pt x="3530060" y="767440"/>
                </a:lnTo>
                <a:lnTo>
                  <a:pt x="3546427" y="766512"/>
                </a:lnTo>
                <a:lnTo>
                  <a:pt x="3562795" y="798063"/>
                </a:lnTo>
                <a:lnTo>
                  <a:pt x="3579162" y="774863"/>
                </a:lnTo>
                <a:lnTo>
                  <a:pt x="3595529" y="792495"/>
                </a:lnTo>
                <a:lnTo>
                  <a:pt x="3611896" y="796207"/>
                </a:lnTo>
                <a:lnTo>
                  <a:pt x="3628263" y="751664"/>
                </a:lnTo>
                <a:lnTo>
                  <a:pt x="3644630" y="763728"/>
                </a:lnTo>
                <a:lnTo>
                  <a:pt x="3660997" y="789711"/>
                </a:lnTo>
                <a:lnTo>
                  <a:pt x="3677364" y="807343"/>
                </a:lnTo>
                <a:lnTo>
                  <a:pt x="3693732" y="787855"/>
                </a:lnTo>
                <a:lnTo>
                  <a:pt x="3710099" y="781359"/>
                </a:lnTo>
                <a:lnTo>
                  <a:pt x="3726466" y="783215"/>
                </a:lnTo>
                <a:lnTo>
                  <a:pt x="3742833" y="784143"/>
                </a:lnTo>
                <a:lnTo>
                  <a:pt x="3759200" y="712689"/>
                </a:lnTo>
                <a:lnTo>
                  <a:pt x="3775567" y="686705"/>
                </a:lnTo>
                <a:lnTo>
                  <a:pt x="3791934" y="528949"/>
                </a:lnTo>
                <a:lnTo>
                  <a:pt x="3808301" y="483478"/>
                </a:lnTo>
                <a:lnTo>
                  <a:pt x="3824669" y="392536"/>
                </a:lnTo>
                <a:lnTo>
                  <a:pt x="3841036" y="366552"/>
                </a:lnTo>
                <a:lnTo>
                  <a:pt x="3857403" y="359128"/>
                </a:lnTo>
                <a:lnTo>
                  <a:pt x="3873770" y="346137"/>
                </a:lnTo>
                <a:lnTo>
                  <a:pt x="3890137" y="369336"/>
                </a:lnTo>
                <a:lnTo>
                  <a:pt x="3906504" y="357272"/>
                </a:lnTo>
                <a:lnTo>
                  <a:pt x="3922871" y="390680"/>
                </a:lnTo>
                <a:lnTo>
                  <a:pt x="3939238" y="408311"/>
                </a:lnTo>
                <a:lnTo>
                  <a:pt x="3955606" y="478838"/>
                </a:lnTo>
                <a:lnTo>
                  <a:pt x="3971973" y="489046"/>
                </a:lnTo>
                <a:lnTo>
                  <a:pt x="3988340" y="558644"/>
                </a:lnTo>
                <a:lnTo>
                  <a:pt x="4004707" y="537301"/>
                </a:lnTo>
                <a:lnTo>
                  <a:pt x="4021074" y="613395"/>
                </a:lnTo>
                <a:lnTo>
                  <a:pt x="4037441" y="617107"/>
                </a:lnTo>
                <a:lnTo>
                  <a:pt x="4053808" y="654226"/>
                </a:lnTo>
                <a:lnTo>
                  <a:pt x="4070175" y="663506"/>
                </a:lnTo>
                <a:lnTo>
                  <a:pt x="4086543" y="683921"/>
                </a:lnTo>
                <a:lnTo>
                  <a:pt x="4102910" y="706193"/>
                </a:lnTo>
                <a:lnTo>
                  <a:pt x="4119277" y="601331"/>
                </a:lnTo>
                <a:lnTo>
                  <a:pt x="4135644" y="510389"/>
                </a:lnTo>
                <a:lnTo>
                  <a:pt x="4152011" y="267258"/>
                </a:lnTo>
                <a:lnTo>
                  <a:pt x="4168378" y="239419"/>
                </a:lnTo>
                <a:lnTo>
                  <a:pt x="4184745" y="106718"/>
                </a:lnTo>
                <a:lnTo>
                  <a:pt x="4201112" y="107646"/>
                </a:lnTo>
                <a:lnTo>
                  <a:pt x="4217480" y="103934"/>
                </a:lnTo>
                <a:lnTo>
                  <a:pt x="4233847" y="115070"/>
                </a:lnTo>
                <a:lnTo>
                  <a:pt x="4250214" y="160541"/>
                </a:lnTo>
                <a:lnTo>
                  <a:pt x="4266581" y="162397"/>
                </a:lnTo>
                <a:lnTo>
                  <a:pt x="4282948" y="262618"/>
                </a:lnTo>
                <a:lnTo>
                  <a:pt x="4299315" y="282106"/>
                </a:lnTo>
                <a:lnTo>
                  <a:pt x="4315682" y="365624"/>
                </a:lnTo>
                <a:lnTo>
                  <a:pt x="4332049" y="382328"/>
                </a:lnTo>
                <a:lnTo>
                  <a:pt x="4348417" y="404599"/>
                </a:lnTo>
                <a:lnTo>
                  <a:pt x="4364784" y="405527"/>
                </a:lnTo>
                <a:lnTo>
                  <a:pt x="4381151" y="398104"/>
                </a:lnTo>
                <a:lnTo>
                  <a:pt x="4397518" y="380472"/>
                </a:lnTo>
                <a:lnTo>
                  <a:pt x="4413885" y="416663"/>
                </a:lnTo>
                <a:lnTo>
                  <a:pt x="4430252" y="447286"/>
                </a:lnTo>
                <a:lnTo>
                  <a:pt x="4446619" y="451926"/>
                </a:lnTo>
                <a:lnTo>
                  <a:pt x="4462986" y="486262"/>
                </a:lnTo>
                <a:lnTo>
                  <a:pt x="4479354" y="525237"/>
                </a:lnTo>
                <a:lnTo>
                  <a:pt x="4495721" y="543796"/>
                </a:lnTo>
                <a:lnTo>
                  <a:pt x="4512088" y="587411"/>
                </a:lnTo>
                <a:lnTo>
                  <a:pt x="4528455" y="614323"/>
                </a:lnTo>
                <a:lnTo>
                  <a:pt x="4544822" y="639378"/>
                </a:lnTo>
                <a:lnTo>
                  <a:pt x="4561189" y="644018"/>
                </a:lnTo>
                <a:lnTo>
                  <a:pt x="4577556" y="562356"/>
                </a:lnTo>
                <a:lnTo>
                  <a:pt x="4593923" y="496469"/>
                </a:lnTo>
                <a:lnTo>
                  <a:pt x="4610291" y="309017"/>
                </a:lnTo>
                <a:lnTo>
                  <a:pt x="4626658" y="264474"/>
                </a:lnTo>
                <a:lnTo>
                  <a:pt x="4643025" y="188380"/>
                </a:lnTo>
                <a:lnTo>
                  <a:pt x="4659392" y="197660"/>
                </a:lnTo>
                <a:lnTo>
                  <a:pt x="4675759" y="205084"/>
                </a:lnTo>
                <a:lnTo>
                  <a:pt x="4692126" y="209724"/>
                </a:lnTo>
                <a:lnTo>
                  <a:pt x="4708493" y="243131"/>
                </a:lnTo>
                <a:lnTo>
                  <a:pt x="4724860" y="248699"/>
                </a:lnTo>
                <a:lnTo>
                  <a:pt x="4741228" y="293242"/>
                </a:lnTo>
                <a:lnTo>
                  <a:pt x="4757595" y="333145"/>
                </a:lnTo>
                <a:lnTo>
                  <a:pt x="4773962" y="384184"/>
                </a:lnTo>
                <a:lnTo>
                  <a:pt x="4790329" y="421303"/>
                </a:lnTo>
                <a:lnTo>
                  <a:pt x="4806696" y="477910"/>
                </a:lnTo>
                <a:lnTo>
                  <a:pt x="4823063" y="528021"/>
                </a:lnTo>
                <a:lnTo>
                  <a:pt x="4839430" y="537301"/>
                </a:lnTo>
                <a:lnTo>
                  <a:pt x="4855797" y="574420"/>
                </a:lnTo>
                <a:lnTo>
                  <a:pt x="4872165" y="605971"/>
                </a:lnTo>
                <a:lnTo>
                  <a:pt x="4888532" y="604115"/>
                </a:lnTo>
                <a:lnTo>
                  <a:pt x="4904899" y="650514"/>
                </a:lnTo>
                <a:lnTo>
                  <a:pt x="4921266" y="646802"/>
                </a:lnTo>
                <a:lnTo>
                  <a:pt x="4937633" y="684849"/>
                </a:lnTo>
                <a:lnTo>
                  <a:pt x="4954000" y="707121"/>
                </a:lnTo>
                <a:lnTo>
                  <a:pt x="4970367" y="684849"/>
                </a:lnTo>
                <a:lnTo>
                  <a:pt x="4986734" y="687633"/>
                </a:lnTo>
                <a:lnTo>
                  <a:pt x="5003102" y="738672"/>
                </a:lnTo>
                <a:lnTo>
                  <a:pt x="5019469" y="726608"/>
                </a:lnTo>
                <a:lnTo>
                  <a:pt x="5035836" y="734960"/>
                </a:lnTo>
                <a:lnTo>
                  <a:pt x="5052203" y="746096"/>
                </a:lnTo>
                <a:lnTo>
                  <a:pt x="5068570" y="742384"/>
                </a:lnTo>
                <a:lnTo>
                  <a:pt x="5084937" y="766512"/>
                </a:lnTo>
                <a:lnTo>
                  <a:pt x="5101304" y="764656"/>
                </a:lnTo>
                <a:lnTo>
                  <a:pt x="5117671" y="772080"/>
                </a:lnTo>
                <a:lnTo>
                  <a:pt x="5134039" y="756304"/>
                </a:lnTo>
                <a:lnTo>
                  <a:pt x="5150406" y="792495"/>
                </a:lnTo>
                <a:lnTo>
                  <a:pt x="5166773" y="764656"/>
                </a:lnTo>
                <a:lnTo>
                  <a:pt x="5183140" y="766512"/>
                </a:lnTo>
                <a:lnTo>
                  <a:pt x="5199507" y="782287"/>
                </a:lnTo>
                <a:lnTo>
                  <a:pt x="5215874" y="802703"/>
                </a:lnTo>
                <a:lnTo>
                  <a:pt x="5232241" y="769296"/>
                </a:lnTo>
                <a:lnTo>
                  <a:pt x="5248608" y="781359"/>
                </a:lnTo>
                <a:lnTo>
                  <a:pt x="5264976" y="777647"/>
                </a:lnTo>
                <a:lnTo>
                  <a:pt x="5281343" y="787855"/>
                </a:lnTo>
                <a:lnTo>
                  <a:pt x="5297710" y="782287"/>
                </a:lnTo>
                <a:lnTo>
                  <a:pt x="5314077" y="784143"/>
                </a:lnTo>
                <a:lnTo>
                  <a:pt x="5330444" y="694129"/>
                </a:lnTo>
                <a:lnTo>
                  <a:pt x="5346811" y="640306"/>
                </a:lnTo>
                <a:lnTo>
                  <a:pt x="5363178" y="486262"/>
                </a:lnTo>
                <a:lnTo>
                  <a:pt x="5379545" y="443575"/>
                </a:lnTo>
                <a:lnTo>
                  <a:pt x="5395913" y="379544"/>
                </a:lnTo>
                <a:lnTo>
                  <a:pt x="5412280" y="343353"/>
                </a:lnTo>
                <a:lnTo>
                  <a:pt x="5428647" y="350777"/>
                </a:lnTo>
                <a:lnTo>
                  <a:pt x="5445014" y="339641"/>
                </a:lnTo>
                <a:lnTo>
                  <a:pt x="5461381" y="365624"/>
                </a:lnTo>
                <a:lnTo>
                  <a:pt x="5477748" y="392536"/>
                </a:lnTo>
                <a:lnTo>
                  <a:pt x="5494115" y="393464"/>
                </a:lnTo>
                <a:lnTo>
                  <a:pt x="5510482" y="413879"/>
                </a:lnTo>
                <a:lnTo>
                  <a:pt x="5526850" y="481622"/>
                </a:lnTo>
                <a:lnTo>
                  <a:pt x="5543217" y="485334"/>
                </a:lnTo>
                <a:lnTo>
                  <a:pt x="5559584" y="556788"/>
                </a:lnTo>
                <a:lnTo>
                  <a:pt x="5575951" y="566068"/>
                </a:lnTo>
                <a:lnTo>
                  <a:pt x="5592318" y="586483"/>
                </a:lnTo>
                <a:lnTo>
                  <a:pt x="5608685" y="594835"/>
                </a:lnTo>
                <a:lnTo>
                  <a:pt x="5625052" y="665362"/>
                </a:lnTo>
                <a:lnTo>
                  <a:pt x="5641419" y="668146"/>
                </a:lnTo>
                <a:lnTo>
                  <a:pt x="5657787" y="703409"/>
                </a:lnTo>
                <a:lnTo>
                  <a:pt x="5674154" y="700625"/>
                </a:lnTo>
                <a:lnTo>
                  <a:pt x="5690521" y="632882"/>
                </a:lnTo>
                <a:lnTo>
                  <a:pt x="5706888" y="582772"/>
                </a:lnTo>
                <a:lnTo>
                  <a:pt x="5723255" y="347993"/>
                </a:lnTo>
                <a:lnTo>
                  <a:pt x="5739622" y="217147"/>
                </a:lnTo>
                <a:lnTo>
                  <a:pt x="5755989" y="130845"/>
                </a:lnTo>
                <a:lnTo>
                  <a:pt x="5772356" y="104862"/>
                </a:lnTo>
                <a:lnTo>
                  <a:pt x="5788724" y="76094"/>
                </a:lnTo>
                <a:lnTo>
                  <a:pt x="5805091" y="90942"/>
                </a:lnTo>
                <a:lnTo>
                  <a:pt x="5821458" y="121565"/>
                </a:lnTo>
                <a:lnTo>
                  <a:pt x="5837825" y="114142"/>
                </a:lnTo>
                <a:lnTo>
                  <a:pt x="5854192" y="229211"/>
                </a:lnTo>
                <a:lnTo>
                  <a:pt x="5870559" y="251483"/>
                </a:lnTo>
                <a:lnTo>
                  <a:pt x="5886926" y="281178"/>
                </a:lnTo>
                <a:lnTo>
                  <a:pt x="5903293" y="332217"/>
                </a:lnTo>
                <a:lnTo>
                  <a:pt x="5919661" y="387896"/>
                </a:lnTo>
                <a:lnTo>
                  <a:pt x="5936028" y="427799"/>
                </a:lnTo>
                <a:lnTo>
                  <a:pt x="5952395" y="430583"/>
                </a:lnTo>
                <a:lnTo>
                  <a:pt x="5968762" y="440791"/>
                </a:lnTo>
                <a:lnTo>
                  <a:pt x="5985129" y="438007"/>
                </a:lnTo>
                <a:lnTo>
                  <a:pt x="6001496" y="457494"/>
                </a:lnTo>
                <a:lnTo>
                  <a:pt x="6017863" y="453782"/>
                </a:lnTo>
                <a:lnTo>
                  <a:pt x="6034230" y="476982"/>
                </a:lnTo>
                <a:lnTo>
                  <a:pt x="6050598" y="533589"/>
                </a:lnTo>
                <a:lnTo>
                  <a:pt x="6066965" y="563284"/>
                </a:lnTo>
                <a:lnTo>
                  <a:pt x="6083332" y="608755"/>
                </a:lnTo>
                <a:lnTo>
                  <a:pt x="6099699" y="612467"/>
                </a:lnTo>
                <a:lnTo>
                  <a:pt x="6116066" y="649586"/>
                </a:lnTo>
                <a:lnTo>
                  <a:pt x="6132433" y="636594"/>
                </a:lnTo>
                <a:lnTo>
                  <a:pt x="6148800" y="528021"/>
                </a:lnTo>
                <a:lnTo>
                  <a:pt x="6165167" y="468630"/>
                </a:lnTo>
                <a:lnTo>
                  <a:pt x="6181535" y="328505"/>
                </a:lnTo>
                <a:lnTo>
                  <a:pt x="6197902" y="272826"/>
                </a:lnTo>
                <a:lnTo>
                  <a:pt x="6214269" y="210652"/>
                </a:lnTo>
                <a:lnTo>
                  <a:pt x="6230636" y="214363"/>
                </a:lnTo>
                <a:lnTo>
                  <a:pt x="6247003" y="217147"/>
                </a:lnTo>
                <a:lnTo>
                  <a:pt x="6263370" y="202300"/>
                </a:lnTo>
                <a:lnTo>
                  <a:pt x="6279737" y="229211"/>
                </a:lnTo>
                <a:lnTo>
                  <a:pt x="6296104" y="245915"/>
                </a:lnTo>
                <a:lnTo>
                  <a:pt x="6312472" y="297882"/>
                </a:lnTo>
                <a:lnTo>
                  <a:pt x="6328839" y="315513"/>
                </a:lnTo>
                <a:lnTo>
                  <a:pt x="6345206" y="385112"/>
                </a:lnTo>
                <a:lnTo>
                  <a:pt x="6361573" y="418519"/>
                </a:lnTo>
                <a:lnTo>
                  <a:pt x="6377940" y="501109"/>
                </a:lnTo>
                <a:lnTo>
                  <a:pt x="6394307" y="493685"/>
                </a:lnTo>
                <a:lnTo>
                  <a:pt x="6410674" y="547508"/>
                </a:lnTo>
                <a:lnTo>
                  <a:pt x="6427041" y="585556"/>
                </a:lnTo>
                <a:lnTo>
                  <a:pt x="6443409" y="599475"/>
                </a:lnTo>
                <a:lnTo>
                  <a:pt x="6459776" y="579060"/>
                </a:lnTo>
                <a:lnTo>
                  <a:pt x="6476143" y="631955"/>
                </a:lnTo>
                <a:lnTo>
                  <a:pt x="6492510" y="637522"/>
                </a:lnTo>
                <a:lnTo>
                  <a:pt x="6508877" y="671858"/>
                </a:lnTo>
                <a:lnTo>
                  <a:pt x="6525244" y="705265"/>
                </a:lnTo>
                <a:lnTo>
                  <a:pt x="6541611" y="670002"/>
                </a:lnTo>
                <a:lnTo>
                  <a:pt x="6557978" y="682993"/>
                </a:lnTo>
                <a:lnTo>
                  <a:pt x="6574346" y="747952"/>
                </a:lnTo>
                <a:lnTo>
                  <a:pt x="6590713" y="731248"/>
                </a:lnTo>
                <a:lnTo>
                  <a:pt x="6607080" y="738672"/>
                </a:lnTo>
                <a:lnTo>
                  <a:pt x="6623447" y="740528"/>
                </a:lnTo>
                <a:lnTo>
                  <a:pt x="6639814" y="747024"/>
                </a:lnTo>
                <a:lnTo>
                  <a:pt x="6656181" y="726608"/>
                </a:lnTo>
                <a:lnTo>
                  <a:pt x="6672548" y="754448"/>
                </a:lnTo>
                <a:lnTo>
                  <a:pt x="6688915" y="766512"/>
                </a:lnTo>
                <a:lnTo>
                  <a:pt x="6705283" y="785999"/>
                </a:lnTo>
                <a:lnTo>
                  <a:pt x="6721650" y="779503"/>
                </a:lnTo>
                <a:lnTo>
                  <a:pt x="6738017" y="761872"/>
                </a:lnTo>
                <a:lnTo>
                  <a:pt x="6754384" y="775791"/>
                </a:lnTo>
                <a:lnTo>
                  <a:pt x="6770751" y="783215"/>
                </a:lnTo>
                <a:lnTo>
                  <a:pt x="6787118" y="783215"/>
                </a:lnTo>
                <a:lnTo>
                  <a:pt x="6803485" y="785999"/>
                </a:lnTo>
                <a:lnTo>
                  <a:pt x="6819852" y="774863"/>
                </a:lnTo>
                <a:lnTo>
                  <a:pt x="6836220" y="791567"/>
                </a:lnTo>
                <a:lnTo>
                  <a:pt x="6852587" y="774863"/>
                </a:lnTo>
                <a:lnTo>
                  <a:pt x="6868954" y="782287"/>
                </a:lnTo>
                <a:lnTo>
                  <a:pt x="6885321" y="787855"/>
                </a:lnTo>
                <a:lnTo>
                  <a:pt x="6901688" y="653298"/>
                </a:lnTo>
                <a:lnTo>
                  <a:pt x="6918055" y="564212"/>
                </a:lnTo>
                <a:lnTo>
                  <a:pt x="6934422" y="425015"/>
                </a:lnTo>
                <a:lnTo>
                  <a:pt x="6950789" y="396248"/>
                </a:lnTo>
                <a:lnTo>
                  <a:pt x="6967157" y="310873"/>
                </a:lnTo>
                <a:lnTo>
                  <a:pt x="6983524" y="320153"/>
                </a:lnTo>
                <a:lnTo>
                  <a:pt x="6999891" y="301594"/>
                </a:lnTo>
                <a:lnTo>
                  <a:pt x="7016258" y="318297"/>
                </a:lnTo>
                <a:lnTo>
                  <a:pt x="7032625" y="360056"/>
                </a:lnTo>
                <a:lnTo>
                  <a:pt x="7048992" y="379544"/>
                </a:lnTo>
                <a:lnTo>
                  <a:pt x="7065359" y="402743"/>
                </a:lnTo>
                <a:lnTo>
                  <a:pt x="7081726" y="401815"/>
                </a:lnTo>
                <a:lnTo>
                  <a:pt x="7098094" y="469558"/>
                </a:lnTo>
                <a:lnTo>
                  <a:pt x="7114461" y="492757"/>
                </a:lnTo>
                <a:lnTo>
                  <a:pt x="7130828" y="541012"/>
                </a:lnTo>
                <a:lnTo>
                  <a:pt x="7147195" y="566068"/>
                </a:lnTo>
                <a:lnTo>
                  <a:pt x="7163562" y="594835"/>
                </a:lnTo>
                <a:lnTo>
                  <a:pt x="7179929" y="620819"/>
                </a:lnTo>
                <a:lnTo>
                  <a:pt x="7196296" y="662578"/>
                </a:lnTo>
                <a:lnTo>
                  <a:pt x="7212663" y="660722"/>
                </a:lnTo>
                <a:lnTo>
                  <a:pt x="7229031" y="674642"/>
                </a:lnTo>
                <a:lnTo>
                  <a:pt x="7245398" y="674642"/>
                </a:lnTo>
                <a:lnTo>
                  <a:pt x="7261765" y="572564"/>
                </a:lnTo>
                <a:lnTo>
                  <a:pt x="7278132" y="489974"/>
                </a:lnTo>
                <a:lnTo>
                  <a:pt x="7294499" y="253339"/>
                </a:lnTo>
                <a:lnTo>
                  <a:pt x="7310866" y="167036"/>
                </a:lnTo>
                <a:lnTo>
                  <a:pt x="7327233" y="96510"/>
                </a:lnTo>
                <a:lnTo>
                  <a:pt x="7343600" y="86302"/>
                </a:lnTo>
                <a:lnTo>
                  <a:pt x="7359968" y="88158"/>
                </a:lnTo>
                <a:lnTo>
                  <a:pt x="7376335" y="117853"/>
                </a:lnTo>
                <a:lnTo>
                  <a:pt x="7392702" y="144765"/>
                </a:lnTo>
                <a:lnTo>
                  <a:pt x="7409069" y="178172"/>
                </a:lnTo>
                <a:lnTo>
                  <a:pt x="7425436" y="294170"/>
                </a:lnTo>
                <a:lnTo>
                  <a:pt x="7441803" y="293242"/>
                </a:lnTo>
                <a:lnTo>
                  <a:pt x="7458170" y="348921"/>
                </a:lnTo>
                <a:lnTo>
                  <a:pt x="7474537" y="373976"/>
                </a:lnTo>
                <a:lnTo>
                  <a:pt x="7490905" y="417591"/>
                </a:lnTo>
                <a:lnTo>
                  <a:pt x="7507272" y="419447"/>
                </a:lnTo>
                <a:lnTo>
                  <a:pt x="7523639" y="423159"/>
                </a:lnTo>
                <a:lnTo>
                  <a:pt x="7540006" y="422231"/>
                </a:lnTo>
                <a:lnTo>
                  <a:pt x="7556373" y="458422"/>
                </a:lnTo>
                <a:lnTo>
                  <a:pt x="7572740" y="474198"/>
                </a:lnTo>
                <a:lnTo>
                  <a:pt x="7589107" y="497397"/>
                </a:lnTo>
                <a:lnTo>
                  <a:pt x="7605474" y="510389"/>
                </a:lnTo>
                <a:lnTo>
                  <a:pt x="7621842" y="559572"/>
                </a:lnTo>
                <a:lnTo>
                  <a:pt x="7638209" y="580916"/>
                </a:lnTo>
                <a:lnTo>
                  <a:pt x="7654576" y="604115"/>
                </a:lnTo>
                <a:lnTo>
                  <a:pt x="7670943" y="636594"/>
                </a:lnTo>
                <a:lnTo>
                  <a:pt x="7687310" y="645874"/>
                </a:lnTo>
                <a:lnTo>
                  <a:pt x="7703677" y="656082"/>
                </a:lnTo>
                <a:lnTo>
                  <a:pt x="7720044" y="570708"/>
                </a:lnTo>
                <a:lnTo>
                  <a:pt x="7736411" y="518741"/>
                </a:lnTo>
                <a:lnTo>
                  <a:pt x="7752779" y="353560"/>
                </a:lnTo>
                <a:lnTo>
                  <a:pt x="7769146" y="299738"/>
                </a:lnTo>
                <a:lnTo>
                  <a:pt x="7785513" y="232923"/>
                </a:lnTo>
                <a:lnTo>
                  <a:pt x="7801880" y="199516"/>
                </a:lnTo>
                <a:lnTo>
                  <a:pt x="7818247" y="225499"/>
                </a:lnTo>
                <a:lnTo>
                  <a:pt x="7834614" y="211579"/>
                </a:lnTo>
                <a:lnTo>
                  <a:pt x="7850981" y="213435"/>
                </a:lnTo>
                <a:lnTo>
                  <a:pt x="7867348" y="252411"/>
                </a:lnTo>
                <a:lnTo>
                  <a:pt x="7883716" y="295098"/>
                </a:lnTo>
                <a:lnTo>
                  <a:pt x="7900083" y="296026"/>
                </a:lnTo>
                <a:lnTo>
                  <a:pt x="7916450" y="349849"/>
                </a:lnTo>
                <a:lnTo>
                  <a:pt x="7932817" y="376760"/>
                </a:lnTo>
                <a:lnTo>
                  <a:pt x="7949184" y="501109"/>
                </a:lnTo>
                <a:lnTo>
                  <a:pt x="7965551" y="511317"/>
                </a:lnTo>
                <a:lnTo>
                  <a:pt x="7981918" y="530805"/>
                </a:lnTo>
                <a:lnTo>
                  <a:pt x="7998285" y="552148"/>
                </a:lnTo>
                <a:lnTo>
                  <a:pt x="8014652" y="570708"/>
                </a:lnTo>
                <a:lnTo>
                  <a:pt x="8031020" y="579060"/>
                </a:lnTo>
                <a:lnTo>
                  <a:pt x="8047387" y="631955"/>
                </a:lnTo>
                <a:lnTo>
                  <a:pt x="8063754" y="635666"/>
                </a:lnTo>
                <a:lnTo>
                  <a:pt x="8080121" y="671858"/>
                </a:lnTo>
                <a:lnTo>
                  <a:pt x="8096488" y="683921"/>
                </a:lnTo>
                <a:lnTo>
                  <a:pt x="8112855" y="684849"/>
                </a:lnTo>
                <a:lnTo>
                  <a:pt x="8129222" y="649586"/>
                </a:lnTo>
                <a:lnTo>
                  <a:pt x="8145590" y="737744"/>
                </a:lnTo>
                <a:lnTo>
                  <a:pt x="8161957" y="720113"/>
                </a:lnTo>
                <a:lnTo>
                  <a:pt x="8178324" y="742384"/>
                </a:lnTo>
                <a:lnTo>
                  <a:pt x="8194691" y="722897"/>
                </a:lnTo>
                <a:lnTo>
                  <a:pt x="8211058" y="753520"/>
                </a:lnTo>
                <a:lnTo>
                  <a:pt x="8227425" y="733104"/>
                </a:lnTo>
                <a:lnTo>
                  <a:pt x="8243792" y="773008"/>
                </a:lnTo>
                <a:lnTo>
                  <a:pt x="8260159" y="772080"/>
                </a:lnTo>
                <a:lnTo>
                  <a:pt x="8276527" y="774863"/>
                </a:lnTo>
                <a:lnTo>
                  <a:pt x="8292894" y="780431"/>
                </a:lnTo>
                <a:lnTo>
                  <a:pt x="8309261" y="757232"/>
                </a:lnTo>
                <a:lnTo>
                  <a:pt x="8325628" y="765584"/>
                </a:lnTo>
                <a:lnTo>
                  <a:pt x="8341995" y="776719"/>
                </a:lnTo>
                <a:lnTo>
                  <a:pt x="8358362" y="761872"/>
                </a:lnTo>
                <a:lnTo>
                  <a:pt x="8374729" y="787855"/>
                </a:lnTo>
                <a:lnTo>
                  <a:pt x="8391096" y="781359"/>
                </a:lnTo>
                <a:lnTo>
                  <a:pt x="8407464" y="776719"/>
                </a:lnTo>
                <a:lnTo>
                  <a:pt x="8423831" y="785071"/>
                </a:lnTo>
                <a:lnTo>
                  <a:pt x="8440198" y="787855"/>
                </a:lnTo>
                <a:lnTo>
                  <a:pt x="8456565" y="788783"/>
                </a:lnTo>
                <a:lnTo>
                  <a:pt x="8472932" y="631027"/>
                </a:lnTo>
                <a:lnTo>
                  <a:pt x="8489299" y="605043"/>
                </a:lnTo>
                <a:lnTo>
                  <a:pt x="8505666" y="463990"/>
                </a:lnTo>
                <a:lnTo>
                  <a:pt x="8522033" y="425015"/>
                </a:lnTo>
                <a:lnTo>
                  <a:pt x="8538401" y="351704"/>
                </a:lnTo>
                <a:lnTo>
                  <a:pt x="8554768" y="379544"/>
                </a:lnTo>
                <a:lnTo>
                  <a:pt x="8571135" y="373048"/>
                </a:lnTo>
                <a:lnTo>
                  <a:pt x="8587502" y="378616"/>
                </a:lnTo>
                <a:lnTo>
                  <a:pt x="8603869" y="386040"/>
                </a:lnTo>
                <a:lnTo>
                  <a:pt x="8620236" y="415735"/>
                </a:lnTo>
                <a:lnTo>
                  <a:pt x="8636603" y="429655"/>
                </a:lnTo>
                <a:lnTo>
                  <a:pt x="8652970" y="437079"/>
                </a:lnTo>
                <a:lnTo>
                  <a:pt x="8669338" y="514101"/>
                </a:lnTo>
                <a:lnTo>
                  <a:pt x="8685705" y="499253"/>
                </a:lnTo>
                <a:lnTo>
                  <a:pt x="8702072" y="566996"/>
                </a:lnTo>
                <a:lnTo>
                  <a:pt x="8718439" y="584628"/>
                </a:lnTo>
                <a:lnTo>
                  <a:pt x="8734806" y="644946"/>
                </a:lnTo>
                <a:lnTo>
                  <a:pt x="8751173" y="643090"/>
                </a:lnTo>
                <a:lnTo>
                  <a:pt x="8767540" y="679282"/>
                </a:lnTo>
                <a:lnTo>
                  <a:pt x="8783907" y="708049"/>
                </a:lnTo>
                <a:lnTo>
                  <a:pt x="8800275" y="685777"/>
                </a:lnTo>
                <a:lnTo>
                  <a:pt x="8816642" y="722897"/>
                </a:lnTo>
                <a:lnTo>
                  <a:pt x="8833009" y="650514"/>
                </a:lnTo>
                <a:lnTo>
                  <a:pt x="8849376" y="640306"/>
                </a:lnTo>
                <a:lnTo>
                  <a:pt x="8865743" y="394392"/>
                </a:lnTo>
                <a:lnTo>
                  <a:pt x="8882110" y="289530"/>
                </a:lnTo>
                <a:lnTo>
                  <a:pt x="8898477" y="153117"/>
                </a:lnTo>
                <a:lnTo>
                  <a:pt x="8914844" y="105790"/>
                </a:lnTo>
                <a:lnTo>
                  <a:pt x="8931212" y="77022"/>
                </a:lnTo>
                <a:lnTo>
                  <a:pt x="8947579" y="62175"/>
                </a:lnTo>
                <a:lnTo>
                  <a:pt x="8963946" y="105790"/>
                </a:lnTo>
                <a:lnTo>
                  <a:pt x="8980313" y="129917"/>
                </a:lnTo>
                <a:lnTo>
                  <a:pt x="8996680" y="209724"/>
                </a:lnTo>
                <a:lnTo>
                  <a:pt x="9013047" y="266330"/>
                </a:lnTo>
                <a:lnTo>
                  <a:pt x="9029414" y="311801"/>
                </a:lnTo>
                <a:lnTo>
                  <a:pt x="9045781" y="338713"/>
                </a:lnTo>
                <a:lnTo>
                  <a:pt x="9062149" y="418519"/>
                </a:lnTo>
                <a:lnTo>
                  <a:pt x="9078516" y="425015"/>
                </a:lnTo>
                <a:lnTo>
                  <a:pt x="9094883" y="455638"/>
                </a:lnTo>
                <a:lnTo>
                  <a:pt x="9111250" y="437079"/>
                </a:lnTo>
                <a:lnTo>
                  <a:pt x="9127617" y="438007"/>
                </a:lnTo>
                <a:lnTo>
                  <a:pt x="9143984" y="438935"/>
                </a:lnTo>
                <a:lnTo>
                  <a:pt x="9160351" y="468630"/>
                </a:lnTo>
                <a:lnTo>
                  <a:pt x="9176718" y="501109"/>
                </a:lnTo>
                <a:lnTo>
                  <a:pt x="9193086" y="526165"/>
                </a:lnTo>
                <a:lnTo>
                  <a:pt x="9209453" y="530805"/>
                </a:lnTo>
                <a:lnTo>
                  <a:pt x="9225820" y="602259"/>
                </a:lnTo>
                <a:lnTo>
                  <a:pt x="9242187" y="597619"/>
                </a:lnTo>
                <a:lnTo>
                  <a:pt x="9258554" y="624531"/>
                </a:lnTo>
                <a:lnTo>
                  <a:pt x="9274921" y="652370"/>
                </a:lnTo>
                <a:lnTo>
                  <a:pt x="9291288" y="498325"/>
                </a:lnTo>
                <a:lnTo>
                  <a:pt x="9307655" y="412951"/>
                </a:lnTo>
                <a:lnTo>
                  <a:pt x="9324023" y="283034"/>
                </a:lnTo>
                <a:lnTo>
                  <a:pt x="9340390" y="233851"/>
                </a:lnTo>
                <a:lnTo>
                  <a:pt x="9356757" y="196732"/>
                </a:lnTo>
                <a:lnTo>
                  <a:pt x="9373124" y="206012"/>
                </a:lnTo>
                <a:lnTo>
                  <a:pt x="9389491" y="217147"/>
                </a:lnTo>
                <a:lnTo>
                  <a:pt x="9405858" y="212507"/>
                </a:lnTo>
                <a:lnTo>
                  <a:pt x="9422225" y="219003"/>
                </a:lnTo>
                <a:lnTo>
                  <a:pt x="9438592" y="261690"/>
                </a:lnTo>
                <a:lnTo>
                  <a:pt x="9454960" y="326649"/>
                </a:lnTo>
                <a:lnTo>
                  <a:pt x="9471327" y="324793"/>
                </a:lnTo>
                <a:lnTo>
                  <a:pt x="9487694" y="403671"/>
                </a:lnTo>
                <a:lnTo>
                  <a:pt x="9504061" y="432439"/>
                </a:lnTo>
                <a:lnTo>
                  <a:pt x="9520428" y="527093"/>
                </a:lnTo>
                <a:lnTo>
                  <a:pt x="9536795" y="531733"/>
                </a:lnTo>
                <a:lnTo>
                  <a:pt x="9553162" y="552148"/>
                </a:lnTo>
                <a:lnTo>
                  <a:pt x="9569529" y="578132"/>
                </a:lnTo>
                <a:lnTo>
                  <a:pt x="9585897" y="589267"/>
                </a:lnTo>
                <a:lnTo>
                  <a:pt x="9602264" y="632882"/>
                </a:lnTo>
                <a:lnTo>
                  <a:pt x="9618631" y="642162"/>
                </a:lnTo>
                <a:lnTo>
                  <a:pt x="9634998" y="661650"/>
                </a:lnTo>
                <a:lnTo>
                  <a:pt x="9651365" y="673714"/>
                </a:lnTo>
                <a:lnTo>
                  <a:pt x="9667732" y="706193"/>
                </a:lnTo>
                <a:lnTo>
                  <a:pt x="9684099" y="677426"/>
                </a:lnTo>
                <a:lnTo>
                  <a:pt x="9700466" y="692273"/>
                </a:lnTo>
                <a:lnTo>
                  <a:pt x="9716834" y="728464"/>
                </a:lnTo>
                <a:lnTo>
                  <a:pt x="9733201" y="731248"/>
                </a:lnTo>
                <a:lnTo>
                  <a:pt x="9749568" y="740528"/>
                </a:lnTo>
                <a:lnTo>
                  <a:pt x="9765935" y="762800"/>
                </a:lnTo>
                <a:lnTo>
                  <a:pt x="9782302" y="770224"/>
                </a:lnTo>
                <a:lnTo>
                  <a:pt x="9798669" y="734032"/>
                </a:lnTo>
                <a:lnTo>
                  <a:pt x="9815036" y="755376"/>
                </a:lnTo>
                <a:lnTo>
                  <a:pt x="9831403" y="771152"/>
                </a:lnTo>
                <a:lnTo>
                  <a:pt x="9847771" y="777647"/>
                </a:lnTo>
                <a:lnTo>
                  <a:pt x="9864138" y="789711"/>
                </a:lnTo>
                <a:lnTo>
                  <a:pt x="9880505" y="769296"/>
                </a:lnTo>
                <a:lnTo>
                  <a:pt x="9896872" y="779503"/>
                </a:lnTo>
                <a:lnTo>
                  <a:pt x="9913239" y="776719"/>
                </a:lnTo>
                <a:lnTo>
                  <a:pt x="9929606" y="785071"/>
                </a:lnTo>
                <a:lnTo>
                  <a:pt x="9945973" y="794351"/>
                </a:lnTo>
                <a:lnTo>
                  <a:pt x="9962340" y="794351"/>
                </a:lnTo>
                <a:lnTo>
                  <a:pt x="9978708" y="804559"/>
                </a:lnTo>
                <a:lnTo>
                  <a:pt x="9995075" y="796207"/>
                </a:lnTo>
                <a:lnTo>
                  <a:pt x="10011442" y="800847"/>
                </a:lnTo>
                <a:lnTo>
                  <a:pt x="10027809" y="785999"/>
                </a:lnTo>
                <a:lnTo>
                  <a:pt x="10044176" y="678354"/>
                </a:lnTo>
                <a:lnTo>
                  <a:pt x="10060543" y="605971"/>
                </a:lnTo>
                <a:lnTo>
                  <a:pt x="10076910" y="450070"/>
                </a:lnTo>
                <a:lnTo>
                  <a:pt x="10093277" y="435223"/>
                </a:lnTo>
                <a:lnTo>
                  <a:pt x="10109645" y="356344"/>
                </a:lnTo>
                <a:lnTo>
                  <a:pt x="10126012" y="353560"/>
                </a:lnTo>
                <a:lnTo>
                  <a:pt x="10142379" y="348921"/>
                </a:lnTo>
                <a:lnTo>
                  <a:pt x="10158746" y="370264"/>
                </a:lnTo>
                <a:lnTo>
                  <a:pt x="10175113" y="369336"/>
                </a:lnTo>
                <a:lnTo>
                  <a:pt x="10191480" y="391608"/>
                </a:lnTo>
                <a:lnTo>
                  <a:pt x="10207847" y="425943"/>
                </a:lnTo>
                <a:lnTo>
                  <a:pt x="10224214" y="398104"/>
                </a:lnTo>
                <a:lnTo>
                  <a:pt x="10240582" y="459350"/>
                </a:lnTo>
                <a:lnTo>
                  <a:pt x="10256949" y="477910"/>
                </a:lnTo>
                <a:lnTo>
                  <a:pt x="10273316" y="541940"/>
                </a:lnTo>
                <a:lnTo>
                  <a:pt x="10289683" y="563284"/>
                </a:lnTo>
                <a:lnTo>
                  <a:pt x="10306050" y="636594"/>
                </a:lnTo>
                <a:lnTo>
                  <a:pt x="10322417" y="625459"/>
                </a:lnTo>
                <a:lnTo>
                  <a:pt x="10338784" y="680209"/>
                </a:lnTo>
                <a:lnTo>
                  <a:pt x="10355151" y="682065"/>
                </a:lnTo>
                <a:lnTo>
                  <a:pt x="10371519" y="687633"/>
                </a:lnTo>
                <a:lnTo>
                  <a:pt x="10387886" y="688561"/>
                </a:lnTo>
                <a:lnTo>
                  <a:pt x="10404253" y="657010"/>
                </a:lnTo>
                <a:lnTo>
                  <a:pt x="10420620" y="634738"/>
                </a:lnTo>
                <a:lnTo>
                  <a:pt x="10436987" y="398104"/>
                </a:lnTo>
                <a:lnTo>
                  <a:pt x="10453354" y="315513"/>
                </a:lnTo>
                <a:lnTo>
                  <a:pt x="10469721" y="157757"/>
                </a:lnTo>
                <a:lnTo>
                  <a:pt x="10486088" y="129917"/>
                </a:lnTo>
                <a:lnTo>
                  <a:pt x="10502456" y="107646"/>
                </a:lnTo>
                <a:lnTo>
                  <a:pt x="10518823" y="110430"/>
                </a:lnTo>
                <a:lnTo>
                  <a:pt x="10535190" y="141981"/>
                </a:lnTo>
                <a:lnTo>
                  <a:pt x="10551557" y="151261"/>
                </a:lnTo>
                <a:lnTo>
                  <a:pt x="10567924" y="231995"/>
                </a:lnTo>
                <a:lnTo>
                  <a:pt x="10584291" y="273754"/>
                </a:lnTo>
                <a:lnTo>
                  <a:pt x="10600658" y="326649"/>
                </a:lnTo>
                <a:lnTo>
                  <a:pt x="10617025" y="360984"/>
                </a:lnTo>
                <a:lnTo>
                  <a:pt x="10633393" y="395320"/>
                </a:lnTo>
                <a:lnTo>
                  <a:pt x="10649760" y="390680"/>
                </a:lnTo>
                <a:lnTo>
                  <a:pt x="10666127" y="413879"/>
                </a:lnTo>
                <a:lnTo>
                  <a:pt x="10682494" y="403671"/>
                </a:lnTo>
                <a:lnTo>
                  <a:pt x="10698861" y="416663"/>
                </a:lnTo>
                <a:lnTo>
                  <a:pt x="10715228" y="428727"/>
                </a:lnTo>
                <a:lnTo>
                  <a:pt x="10731595" y="482550"/>
                </a:lnTo>
                <a:lnTo>
                  <a:pt x="10747962" y="500181"/>
                </a:lnTo>
                <a:lnTo>
                  <a:pt x="10764330" y="505749"/>
                </a:lnTo>
                <a:lnTo>
                  <a:pt x="10780697" y="555860"/>
                </a:lnTo>
                <a:lnTo>
                  <a:pt x="10797064" y="604115"/>
                </a:lnTo>
                <a:lnTo>
                  <a:pt x="10813431" y="613395"/>
                </a:lnTo>
                <a:lnTo>
                  <a:pt x="10829798" y="630099"/>
                </a:lnTo>
                <a:lnTo>
                  <a:pt x="10846165" y="641234"/>
                </a:lnTo>
                <a:lnTo>
                  <a:pt x="10862532" y="489046"/>
                </a:lnTo>
                <a:lnTo>
                  <a:pt x="10878899" y="403671"/>
                </a:lnTo>
                <a:lnTo>
                  <a:pt x="10895267" y="220859"/>
                </a:lnTo>
                <a:lnTo>
                  <a:pt x="10911634" y="160541"/>
                </a:lnTo>
                <a:lnTo>
                  <a:pt x="10928001" y="126205"/>
                </a:lnTo>
                <a:lnTo>
                  <a:pt x="10944368" y="124349"/>
                </a:lnTo>
                <a:lnTo>
                  <a:pt x="10960735" y="134557"/>
                </a:lnTo>
                <a:lnTo>
                  <a:pt x="10977102" y="141053"/>
                </a:lnTo>
                <a:lnTo>
                  <a:pt x="10993469" y="176316"/>
                </a:lnTo>
                <a:lnTo>
                  <a:pt x="11009836" y="196732"/>
                </a:lnTo>
                <a:lnTo>
                  <a:pt x="11026204" y="257978"/>
                </a:lnTo>
                <a:lnTo>
                  <a:pt x="11042571" y="277466"/>
                </a:lnTo>
                <a:lnTo>
                  <a:pt x="11058938" y="362840"/>
                </a:lnTo>
                <a:lnTo>
                  <a:pt x="11075305" y="382328"/>
                </a:lnTo>
                <a:lnTo>
                  <a:pt x="11075305" y="630099"/>
                </a:lnTo>
                <a:lnTo>
                  <a:pt x="11058938" y="603187"/>
                </a:lnTo>
                <a:lnTo>
                  <a:pt x="11042571" y="541012"/>
                </a:lnTo>
                <a:lnTo>
                  <a:pt x="11026204" y="547508"/>
                </a:lnTo>
                <a:lnTo>
                  <a:pt x="11009836" y="468630"/>
                </a:lnTo>
                <a:lnTo>
                  <a:pt x="10993469" y="454710"/>
                </a:lnTo>
                <a:lnTo>
                  <a:pt x="10977102" y="431511"/>
                </a:lnTo>
                <a:lnTo>
                  <a:pt x="10960735" y="411095"/>
                </a:lnTo>
                <a:lnTo>
                  <a:pt x="10944368" y="396248"/>
                </a:lnTo>
                <a:lnTo>
                  <a:pt x="10928001" y="423159"/>
                </a:lnTo>
                <a:lnTo>
                  <a:pt x="10911634" y="460278"/>
                </a:lnTo>
                <a:lnTo>
                  <a:pt x="10895267" y="504821"/>
                </a:lnTo>
                <a:lnTo>
                  <a:pt x="10878899" y="662578"/>
                </a:lnTo>
                <a:lnTo>
                  <a:pt x="10862532" y="764656"/>
                </a:lnTo>
                <a:lnTo>
                  <a:pt x="10846165" y="892717"/>
                </a:lnTo>
                <a:lnTo>
                  <a:pt x="10829798" y="901997"/>
                </a:lnTo>
                <a:lnTo>
                  <a:pt x="10813431" y="911277"/>
                </a:lnTo>
                <a:lnTo>
                  <a:pt x="10797064" y="884365"/>
                </a:lnTo>
                <a:lnTo>
                  <a:pt x="10780697" y="801775"/>
                </a:lnTo>
                <a:lnTo>
                  <a:pt x="10764330" y="793423"/>
                </a:lnTo>
                <a:lnTo>
                  <a:pt x="10747962" y="753520"/>
                </a:lnTo>
                <a:lnTo>
                  <a:pt x="10731595" y="715473"/>
                </a:lnTo>
                <a:lnTo>
                  <a:pt x="10715228" y="706193"/>
                </a:lnTo>
                <a:lnTo>
                  <a:pt x="10698861" y="681137"/>
                </a:lnTo>
                <a:lnTo>
                  <a:pt x="10682494" y="656082"/>
                </a:lnTo>
                <a:lnTo>
                  <a:pt x="10666127" y="674642"/>
                </a:lnTo>
                <a:lnTo>
                  <a:pt x="10649760" y="669074"/>
                </a:lnTo>
                <a:lnTo>
                  <a:pt x="10633393" y="644018"/>
                </a:lnTo>
                <a:lnTo>
                  <a:pt x="10617025" y="609683"/>
                </a:lnTo>
                <a:lnTo>
                  <a:pt x="10600658" y="575348"/>
                </a:lnTo>
                <a:lnTo>
                  <a:pt x="10584291" y="546580"/>
                </a:lnTo>
                <a:lnTo>
                  <a:pt x="10567924" y="514101"/>
                </a:lnTo>
                <a:lnTo>
                  <a:pt x="10551557" y="407383"/>
                </a:lnTo>
                <a:lnTo>
                  <a:pt x="10535190" y="393464"/>
                </a:lnTo>
                <a:lnTo>
                  <a:pt x="10518823" y="395320"/>
                </a:lnTo>
                <a:lnTo>
                  <a:pt x="10502456" y="364696"/>
                </a:lnTo>
                <a:lnTo>
                  <a:pt x="10486088" y="384184"/>
                </a:lnTo>
                <a:lnTo>
                  <a:pt x="10469721" y="401815"/>
                </a:lnTo>
                <a:lnTo>
                  <a:pt x="10453354" y="545652"/>
                </a:lnTo>
                <a:lnTo>
                  <a:pt x="10436987" y="626387"/>
                </a:lnTo>
                <a:lnTo>
                  <a:pt x="10420620" y="879725"/>
                </a:lnTo>
                <a:lnTo>
                  <a:pt x="10404253" y="876941"/>
                </a:lnTo>
                <a:lnTo>
                  <a:pt x="10387886" y="940044"/>
                </a:lnTo>
                <a:lnTo>
                  <a:pt x="10371519" y="940044"/>
                </a:lnTo>
                <a:lnTo>
                  <a:pt x="10355151" y="933548"/>
                </a:lnTo>
                <a:lnTo>
                  <a:pt x="10338784" y="932620"/>
                </a:lnTo>
                <a:lnTo>
                  <a:pt x="10322417" y="901069"/>
                </a:lnTo>
                <a:lnTo>
                  <a:pt x="10306050" y="859310"/>
                </a:lnTo>
                <a:lnTo>
                  <a:pt x="10289683" y="796207"/>
                </a:lnTo>
                <a:lnTo>
                  <a:pt x="10273316" y="789711"/>
                </a:lnTo>
                <a:lnTo>
                  <a:pt x="10256949" y="728464"/>
                </a:lnTo>
                <a:lnTo>
                  <a:pt x="10240582" y="721969"/>
                </a:lnTo>
                <a:lnTo>
                  <a:pt x="10224214" y="664434"/>
                </a:lnTo>
                <a:lnTo>
                  <a:pt x="10207847" y="661650"/>
                </a:lnTo>
                <a:lnTo>
                  <a:pt x="10191480" y="654226"/>
                </a:lnTo>
                <a:lnTo>
                  <a:pt x="10175113" y="620819"/>
                </a:lnTo>
                <a:lnTo>
                  <a:pt x="10158746" y="603187"/>
                </a:lnTo>
                <a:lnTo>
                  <a:pt x="10142379" y="612467"/>
                </a:lnTo>
                <a:lnTo>
                  <a:pt x="10126012" y="581844"/>
                </a:lnTo>
                <a:lnTo>
                  <a:pt x="10109645" y="618035"/>
                </a:lnTo>
                <a:lnTo>
                  <a:pt x="10093277" y="686705"/>
                </a:lnTo>
                <a:lnTo>
                  <a:pt x="10076910" y="724753"/>
                </a:lnTo>
                <a:lnTo>
                  <a:pt x="10060543" y="853742"/>
                </a:lnTo>
                <a:lnTo>
                  <a:pt x="10044176" y="924268"/>
                </a:lnTo>
                <a:lnTo>
                  <a:pt x="10027809" y="1035626"/>
                </a:lnTo>
                <a:lnTo>
                  <a:pt x="10011442" y="1042122"/>
                </a:lnTo>
                <a:lnTo>
                  <a:pt x="9995075" y="1043978"/>
                </a:lnTo>
                <a:lnTo>
                  <a:pt x="9978708" y="1034698"/>
                </a:lnTo>
                <a:lnTo>
                  <a:pt x="9962340" y="1048618"/>
                </a:lnTo>
                <a:lnTo>
                  <a:pt x="9945973" y="1017066"/>
                </a:lnTo>
                <a:lnTo>
                  <a:pt x="9929606" y="1043978"/>
                </a:lnTo>
                <a:lnTo>
                  <a:pt x="9913239" y="1008714"/>
                </a:lnTo>
                <a:lnTo>
                  <a:pt x="9896872" y="1023562"/>
                </a:lnTo>
                <a:lnTo>
                  <a:pt x="9880505" y="1017994"/>
                </a:lnTo>
                <a:lnTo>
                  <a:pt x="9864138" y="1044906"/>
                </a:lnTo>
                <a:lnTo>
                  <a:pt x="9847771" y="1041194"/>
                </a:lnTo>
                <a:lnTo>
                  <a:pt x="9831403" y="1012426"/>
                </a:lnTo>
                <a:lnTo>
                  <a:pt x="9815036" y="1009642"/>
                </a:lnTo>
                <a:lnTo>
                  <a:pt x="9798669" y="1002219"/>
                </a:lnTo>
                <a:lnTo>
                  <a:pt x="9782302" y="978091"/>
                </a:lnTo>
                <a:lnTo>
                  <a:pt x="9765935" y="983659"/>
                </a:lnTo>
                <a:lnTo>
                  <a:pt x="9749568" y="989227"/>
                </a:lnTo>
                <a:lnTo>
                  <a:pt x="9733201" y="980875"/>
                </a:lnTo>
                <a:lnTo>
                  <a:pt x="9716834" y="983659"/>
                </a:lnTo>
                <a:lnTo>
                  <a:pt x="9700466" y="948396"/>
                </a:lnTo>
                <a:lnTo>
                  <a:pt x="9684099" y="932620"/>
                </a:lnTo>
                <a:lnTo>
                  <a:pt x="9667732" y="945612"/>
                </a:lnTo>
                <a:lnTo>
                  <a:pt x="9651365" y="938188"/>
                </a:lnTo>
                <a:lnTo>
                  <a:pt x="9634998" y="909421"/>
                </a:lnTo>
                <a:lnTo>
                  <a:pt x="9618631" y="885293"/>
                </a:lnTo>
                <a:lnTo>
                  <a:pt x="9602264" y="869517"/>
                </a:lnTo>
                <a:lnTo>
                  <a:pt x="9585897" y="863022"/>
                </a:lnTo>
                <a:lnTo>
                  <a:pt x="9569529" y="823118"/>
                </a:lnTo>
                <a:lnTo>
                  <a:pt x="9553162" y="810127"/>
                </a:lnTo>
                <a:lnTo>
                  <a:pt x="9536795" y="783215"/>
                </a:lnTo>
                <a:lnTo>
                  <a:pt x="9520428" y="747952"/>
                </a:lnTo>
                <a:lnTo>
                  <a:pt x="9504061" y="682065"/>
                </a:lnTo>
                <a:lnTo>
                  <a:pt x="9487694" y="661650"/>
                </a:lnTo>
                <a:lnTo>
                  <a:pt x="9471327" y="586483"/>
                </a:lnTo>
                <a:lnTo>
                  <a:pt x="9454960" y="592051"/>
                </a:lnTo>
                <a:lnTo>
                  <a:pt x="9438592" y="545652"/>
                </a:lnTo>
                <a:lnTo>
                  <a:pt x="9422225" y="500181"/>
                </a:lnTo>
                <a:lnTo>
                  <a:pt x="9405858" y="497397"/>
                </a:lnTo>
                <a:lnTo>
                  <a:pt x="9389491" y="470486"/>
                </a:lnTo>
                <a:lnTo>
                  <a:pt x="9373124" y="433367"/>
                </a:lnTo>
                <a:lnTo>
                  <a:pt x="9356757" y="450070"/>
                </a:lnTo>
                <a:lnTo>
                  <a:pt x="9340390" y="501109"/>
                </a:lnTo>
                <a:lnTo>
                  <a:pt x="9324023" y="530805"/>
                </a:lnTo>
                <a:lnTo>
                  <a:pt x="9307655" y="673714"/>
                </a:lnTo>
                <a:lnTo>
                  <a:pt x="9291288" y="750736"/>
                </a:lnTo>
                <a:lnTo>
                  <a:pt x="9274921" y="901997"/>
                </a:lnTo>
                <a:lnTo>
                  <a:pt x="9258554" y="879725"/>
                </a:lnTo>
                <a:lnTo>
                  <a:pt x="9242187" y="902925"/>
                </a:lnTo>
                <a:lnTo>
                  <a:pt x="9225820" y="833326"/>
                </a:lnTo>
                <a:lnTo>
                  <a:pt x="9209453" y="793423"/>
                </a:lnTo>
                <a:lnTo>
                  <a:pt x="9193086" y="788783"/>
                </a:lnTo>
                <a:lnTo>
                  <a:pt x="9176718" y="768368"/>
                </a:lnTo>
                <a:lnTo>
                  <a:pt x="9160351" y="728464"/>
                </a:lnTo>
                <a:lnTo>
                  <a:pt x="9143984" y="688561"/>
                </a:lnTo>
                <a:lnTo>
                  <a:pt x="9127617" y="695985"/>
                </a:lnTo>
                <a:lnTo>
                  <a:pt x="9111250" y="698769"/>
                </a:lnTo>
                <a:lnTo>
                  <a:pt x="9094883" y="700625"/>
                </a:lnTo>
                <a:lnTo>
                  <a:pt x="9078516" y="690417"/>
                </a:lnTo>
                <a:lnTo>
                  <a:pt x="9062149" y="670002"/>
                </a:lnTo>
                <a:lnTo>
                  <a:pt x="9045781" y="595763"/>
                </a:lnTo>
                <a:lnTo>
                  <a:pt x="9029414" y="575348"/>
                </a:lnTo>
                <a:lnTo>
                  <a:pt x="9013047" y="512245"/>
                </a:lnTo>
                <a:lnTo>
                  <a:pt x="8996680" y="490902"/>
                </a:lnTo>
                <a:lnTo>
                  <a:pt x="8980313" y="392536"/>
                </a:lnTo>
                <a:lnTo>
                  <a:pt x="8963946" y="391608"/>
                </a:lnTo>
                <a:lnTo>
                  <a:pt x="8947579" y="357272"/>
                </a:lnTo>
                <a:lnTo>
                  <a:pt x="8931212" y="361912"/>
                </a:lnTo>
                <a:lnTo>
                  <a:pt x="8914844" y="374904"/>
                </a:lnTo>
                <a:lnTo>
                  <a:pt x="8898477" y="446358"/>
                </a:lnTo>
                <a:lnTo>
                  <a:pt x="8882110" y="536373"/>
                </a:lnTo>
                <a:lnTo>
                  <a:pt x="8865743" y="639378"/>
                </a:lnTo>
                <a:lnTo>
                  <a:pt x="8849376" y="866734"/>
                </a:lnTo>
                <a:lnTo>
                  <a:pt x="8833009" y="906637"/>
                </a:lnTo>
                <a:lnTo>
                  <a:pt x="8816642" y="952108"/>
                </a:lnTo>
                <a:lnTo>
                  <a:pt x="8800275" y="944684"/>
                </a:lnTo>
                <a:lnTo>
                  <a:pt x="8783907" y="938188"/>
                </a:lnTo>
                <a:lnTo>
                  <a:pt x="8767540" y="914988"/>
                </a:lnTo>
                <a:lnTo>
                  <a:pt x="8751173" y="863950"/>
                </a:lnTo>
                <a:lnTo>
                  <a:pt x="8734806" y="863022"/>
                </a:lnTo>
                <a:lnTo>
                  <a:pt x="8718439" y="843534"/>
                </a:lnTo>
                <a:lnTo>
                  <a:pt x="8702072" y="834254"/>
                </a:lnTo>
                <a:lnTo>
                  <a:pt x="8685705" y="790639"/>
                </a:lnTo>
                <a:lnTo>
                  <a:pt x="8669338" y="759088"/>
                </a:lnTo>
                <a:lnTo>
                  <a:pt x="8652970" y="679282"/>
                </a:lnTo>
                <a:lnTo>
                  <a:pt x="8636603" y="689489"/>
                </a:lnTo>
                <a:lnTo>
                  <a:pt x="8620236" y="655154"/>
                </a:lnTo>
                <a:lnTo>
                  <a:pt x="8603869" y="646802"/>
                </a:lnTo>
                <a:lnTo>
                  <a:pt x="8587502" y="631027"/>
                </a:lnTo>
                <a:lnTo>
                  <a:pt x="8571135" y="626387"/>
                </a:lnTo>
                <a:lnTo>
                  <a:pt x="8554768" y="604115"/>
                </a:lnTo>
                <a:lnTo>
                  <a:pt x="8538401" y="613395"/>
                </a:lnTo>
                <a:lnTo>
                  <a:pt x="8522033" y="672786"/>
                </a:lnTo>
                <a:lnTo>
                  <a:pt x="8505666" y="718257"/>
                </a:lnTo>
                <a:lnTo>
                  <a:pt x="8489299" y="849102"/>
                </a:lnTo>
                <a:lnTo>
                  <a:pt x="8472932" y="941900"/>
                </a:lnTo>
                <a:lnTo>
                  <a:pt x="8456565" y="1043050"/>
                </a:lnTo>
                <a:lnTo>
                  <a:pt x="8440198" y="1040266"/>
                </a:lnTo>
                <a:lnTo>
                  <a:pt x="8423831" y="1039338"/>
                </a:lnTo>
                <a:lnTo>
                  <a:pt x="8407464" y="1024490"/>
                </a:lnTo>
                <a:lnTo>
                  <a:pt x="8391096" y="1020778"/>
                </a:lnTo>
                <a:lnTo>
                  <a:pt x="8374729" y="1022634"/>
                </a:lnTo>
                <a:lnTo>
                  <a:pt x="8358362" y="1025418"/>
                </a:lnTo>
                <a:lnTo>
                  <a:pt x="8341995" y="1018922"/>
                </a:lnTo>
                <a:lnTo>
                  <a:pt x="8325628" y="991083"/>
                </a:lnTo>
                <a:lnTo>
                  <a:pt x="8309261" y="1034698"/>
                </a:lnTo>
                <a:lnTo>
                  <a:pt x="8292894" y="1032842"/>
                </a:lnTo>
                <a:lnTo>
                  <a:pt x="8276527" y="1035626"/>
                </a:lnTo>
                <a:lnTo>
                  <a:pt x="8260159" y="1021706"/>
                </a:lnTo>
                <a:lnTo>
                  <a:pt x="8243792" y="998507"/>
                </a:lnTo>
                <a:lnTo>
                  <a:pt x="8227425" y="993867"/>
                </a:lnTo>
                <a:lnTo>
                  <a:pt x="8211058" y="992939"/>
                </a:lnTo>
                <a:lnTo>
                  <a:pt x="8194691" y="1014282"/>
                </a:lnTo>
                <a:lnTo>
                  <a:pt x="8178324" y="986443"/>
                </a:lnTo>
                <a:lnTo>
                  <a:pt x="8161957" y="977163"/>
                </a:lnTo>
                <a:lnTo>
                  <a:pt x="8145590" y="992011"/>
                </a:lnTo>
                <a:lnTo>
                  <a:pt x="8129222" y="916844"/>
                </a:lnTo>
                <a:lnTo>
                  <a:pt x="8112855" y="932620"/>
                </a:lnTo>
                <a:lnTo>
                  <a:pt x="8096488" y="942828"/>
                </a:lnTo>
                <a:lnTo>
                  <a:pt x="8080121" y="925196"/>
                </a:lnTo>
                <a:lnTo>
                  <a:pt x="8063754" y="889005"/>
                </a:lnTo>
                <a:lnTo>
                  <a:pt x="8047387" y="889005"/>
                </a:lnTo>
                <a:lnTo>
                  <a:pt x="8031020" y="832398"/>
                </a:lnTo>
                <a:lnTo>
                  <a:pt x="8014652" y="825902"/>
                </a:lnTo>
                <a:lnTo>
                  <a:pt x="7998285" y="811983"/>
                </a:lnTo>
                <a:lnTo>
                  <a:pt x="7981918" y="783215"/>
                </a:lnTo>
                <a:lnTo>
                  <a:pt x="7965551" y="759088"/>
                </a:lnTo>
                <a:lnTo>
                  <a:pt x="7949184" y="727536"/>
                </a:lnTo>
                <a:lnTo>
                  <a:pt x="7932817" y="641234"/>
                </a:lnTo>
                <a:lnTo>
                  <a:pt x="7916450" y="606899"/>
                </a:lnTo>
                <a:lnTo>
                  <a:pt x="7900083" y="542868"/>
                </a:lnTo>
                <a:lnTo>
                  <a:pt x="7883716" y="544724"/>
                </a:lnTo>
                <a:lnTo>
                  <a:pt x="7867348" y="487190"/>
                </a:lnTo>
                <a:lnTo>
                  <a:pt x="7850981" y="466774"/>
                </a:lnTo>
                <a:lnTo>
                  <a:pt x="7834614" y="457494"/>
                </a:lnTo>
                <a:lnTo>
                  <a:pt x="7818247" y="475126"/>
                </a:lnTo>
                <a:lnTo>
                  <a:pt x="7801880" y="467702"/>
                </a:lnTo>
                <a:lnTo>
                  <a:pt x="7785513" y="506677"/>
                </a:lnTo>
                <a:lnTo>
                  <a:pt x="7769146" y="547508"/>
                </a:lnTo>
                <a:lnTo>
                  <a:pt x="7752779" y="586483"/>
                </a:lnTo>
                <a:lnTo>
                  <a:pt x="7736411" y="798063"/>
                </a:lnTo>
                <a:lnTo>
                  <a:pt x="7720044" y="824046"/>
                </a:lnTo>
                <a:lnTo>
                  <a:pt x="7703677" y="909421"/>
                </a:lnTo>
                <a:lnTo>
                  <a:pt x="7687310" y="900141"/>
                </a:lnTo>
                <a:lnTo>
                  <a:pt x="7670943" y="892717"/>
                </a:lnTo>
                <a:lnTo>
                  <a:pt x="7654576" y="886221"/>
                </a:lnTo>
                <a:lnTo>
                  <a:pt x="7638209" y="833326"/>
                </a:lnTo>
                <a:lnTo>
                  <a:pt x="7621842" y="828686"/>
                </a:lnTo>
                <a:lnTo>
                  <a:pt x="7605474" y="763728"/>
                </a:lnTo>
                <a:lnTo>
                  <a:pt x="7589107" y="753520"/>
                </a:lnTo>
                <a:lnTo>
                  <a:pt x="7572740" y="705265"/>
                </a:lnTo>
                <a:lnTo>
                  <a:pt x="7556373" y="696913"/>
                </a:lnTo>
                <a:lnTo>
                  <a:pt x="7540006" y="684849"/>
                </a:lnTo>
                <a:lnTo>
                  <a:pt x="7523639" y="695057"/>
                </a:lnTo>
                <a:lnTo>
                  <a:pt x="7507272" y="689489"/>
                </a:lnTo>
                <a:lnTo>
                  <a:pt x="7490905" y="712689"/>
                </a:lnTo>
                <a:lnTo>
                  <a:pt x="7474537" y="642162"/>
                </a:lnTo>
                <a:lnTo>
                  <a:pt x="7458170" y="622675"/>
                </a:lnTo>
                <a:lnTo>
                  <a:pt x="7441803" y="563284"/>
                </a:lnTo>
                <a:lnTo>
                  <a:pt x="7425436" y="533589"/>
                </a:lnTo>
                <a:lnTo>
                  <a:pt x="7409069" y="436151"/>
                </a:lnTo>
                <a:lnTo>
                  <a:pt x="7392702" y="421303"/>
                </a:lnTo>
                <a:lnTo>
                  <a:pt x="7376335" y="375832"/>
                </a:lnTo>
                <a:lnTo>
                  <a:pt x="7359968" y="367480"/>
                </a:lnTo>
                <a:lnTo>
                  <a:pt x="7343600" y="338713"/>
                </a:lnTo>
                <a:lnTo>
                  <a:pt x="7327233" y="360056"/>
                </a:lnTo>
                <a:lnTo>
                  <a:pt x="7310866" y="441719"/>
                </a:lnTo>
                <a:lnTo>
                  <a:pt x="7294499" y="489974"/>
                </a:lnTo>
                <a:lnTo>
                  <a:pt x="7278132" y="742384"/>
                </a:lnTo>
                <a:lnTo>
                  <a:pt x="7261765" y="827758"/>
                </a:lnTo>
                <a:lnTo>
                  <a:pt x="7245398" y="939116"/>
                </a:lnTo>
                <a:lnTo>
                  <a:pt x="7229031" y="916844"/>
                </a:lnTo>
                <a:lnTo>
                  <a:pt x="7212663" y="921484"/>
                </a:lnTo>
                <a:lnTo>
                  <a:pt x="7196296" y="927980"/>
                </a:lnTo>
                <a:lnTo>
                  <a:pt x="7179929" y="841678"/>
                </a:lnTo>
                <a:lnTo>
                  <a:pt x="7163562" y="848174"/>
                </a:lnTo>
                <a:lnTo>
                  <a:pt x="7147195" y="811055"/>
                </a:lnTo>
                <a:lnTo>
                  <a:pt x="7130828" y="773935"/>
                </a:lnTo>
                <a:lnTo>
                  <a:pt x="7114461" y="747952"/>
                </a:lnTo>
                <a:lnTo>
                  <a:pt x="7098094" y="729392"/>
                </a:lnTo>
                <a:lnTo>
                  <a:pt x="7081726" y="670930"/>
                </a:lnTo>
                <a:lnTo>
                  <a:pt x="7065359" y="654226"/>
                </a:lnTo>
                <a:lnTo>
                  <a:pt x="7048992" y="622675"/>
                </a:lnTo>
                <a:lnTo>
                  <a:pt x="7032625" y="603187"/>
                </a:lnTo>
                <a:lnTo>
                  <a:pt x="7016258" y="616179"/>
                </a:lnTo>
                <a:lnTo>
                  <a:pt x="6999891" y="565140"/>
                </a:lnTo>
                <a:lnTo>
                  <a:pt x="6983524" y="554932"/>
                </a:lnTo>
                <a:lnTo>
                  <a:pt x="6967157" y="569780"/>
                </a:lnTo>
                <a:lnTo>
                  <a:pt x="6950789" y="670930"/>
                </a:lnTo>
                <a:lnTo>
                  <a:pt x="6934422" y="712689"/>
                </a:lnTo>
                <a:lnTo>
                  <a:pt x="6918055" y="818479"/>
                </a:lnTo>
                <a:lnTo>
                  <a:pt x="6901688" y="894573"/>
                </a:lnTo>
                <a:lnTo>
                  <a:pt x="6885321" y="1035626"/>
                </a:lnTo>
                <a:lnTo>
                  <a:pt x="6868954" y="1050474"/>
                </a:lnTo>
                <a:lnTo>
                  <a:pt x="6852587" y="1029130"/>
                </a:lnTo>
                <a:lnTo>
                  <a:pt x="6836220" y="1043050"/>
                </a:lnTo>
                <a:lnTo>
                  <a:pt x="6819852" y="1035626"/>
                </a:lnTo>
                <a:lnTo>
                  <a:pt x="6803485" y="1022634"/>
                </a:lnTo>
                <a:lnTo>
                  <a:pt x="6787118" y="1016138"/>
                </a:lnTo>
                <a:lnTo>
                  <a:pt x="6770751" y="1007786"/>
                </a:lnTo>
                <a:lnTo>
                  <a:pt x="6754384" y="1033770"/>
                </a:lnTo>
                <a:lnTo>
                  <a:pt x="6738017" y="998507"/>
                </a:lnTo>
                <a:lnTo>
                  <a:pt x="6721650" y="1051402"/>
                </a:lnTo>
                <a:lnTo>
                  <a:pt x="6705283" y="1036554"/>
                </a:lnTo>
                <a:lnTo>
                  <a:pt x="6688915" y="1025418"/>
                </a:lnTo>
                <a:lnTo>
                  <a:pt x="6672548" y="1008714"/>
                </a:lnTo>
                <a:lnTo>
                  <a:pt x="6656181" y="988299"/>
                </a:lnTo>
                <a:lnTo>
                  <a:pt x="6639814" y="968811"/>
                </a:lnTo>
                <a:lnTo>
                  <a:pt x="6623447" y="1010570"/>
                </a:lnTo>
                <a:lnTo>
                  <a:pt x="6607080" y="976235"/>
                </a:lnTo>
                <a:lnTo>
                  <a:pt x="6590713" y="1001291"/>
                </a:lnTo>
                <a:lnTo>
                  <a:pt x="6574346" y="989227"/>
                </a:lnTo>
                <a:lnTo>
                  <a:pt x="6557978" y="945612"/>
                </a:lnTo>
                <a:lnTo>
                  <a:pt x="6541611" y="942828"/>
                </a:lnTo>
                <a:lnTo>
                  <a:pt x="6525244" y="944684"/>
                </a:lnTo>
                <a:lnTo>
                  <a:pt x="6508877" y="903853"/>
                </a:lnTo>
                <a:lnTo>
                  <a:pt x="6492510" y="904781"/>
                </a:lnTo>
                <a:lnTo>
                  <a:pt x="6476143" y="886221"/>
                </a:lnTo>
                <a:lnTo>
                  <a:pt x="6459776" y="830542"/>
                </a:lnTo>
                <a:lnTo>
                  <a:pt x="6443409" y="846318"/>
                </a:lnTo>
                <a:lnTo>
                  <a:pt x="6427041" y="809199"/>
                </a:lnTo>
                <a:lnTo>
                  <a:pt x="6410674" y="818479"/>
                </a:lnTo>
                <a:lnTo>
                  <a:pt x="6394307" y="792495"/>
                </a:lnTo>
                <a:lnTo>
                  <a:pt x="6377940" y="766512"/>
                </a:lnTo>
                <a:lnTo>
                  <a:pt x="6361573" y="665362"/>
                </a:lnTo>
                <a:lnTo>
                  <a:pt x="6345206" y="650514"/>
                </a:lnTo>
                <a:lnTo>
                  <a:pt x="6328839" y="575348"/>
                </a:lnTo>
                <a:lnTo>
                  <a:pt x="6312472" y="557716"/>
                </a:lnTo>
                <a:lnTo>
                  <a:pt x="6296104" y="498325"/>
                </a:lnTo>
                <a:lnTo>
                  <a:pt x="6279737" y="513173"/>
                </a:lnTo>
                <a:lnTo>
                  <a:pt x="6263370" y="498325"/>
                </a:lnTo>
                <a:lnTo>
                  <a:pt x="6247003" y="476982"/>
                </a:lnTo>
                <a:lnTo>
                  <a:pt x="6230636" y="459350"/>
                </a:lnTo>
                <a:lnTo>
                  <a:pt x="6214269" y="507605"/>
                </a:lnTo>
                <a:lnTo>
                  <a:pt x="6197902" y="531733"/>
                </a:lnTo>
                <a:lnTo>
                  <a:pt x="6181535" y="569780"/>
                </a:lnTo>
                <a:lnTo>
                  <a:pt x="6165167" y="736816"/>
                </a:lnTo>
                <a:lnTo>
                  <a:pt x="6148800" y="790639"/>
                </a:lnTo>
                <a:lnTo>
                  <a:pt x="6132433" y="890861"/>
                </a:lnTo>
                <a:lnTo>
                  <a:pt x="6116066" y="873229"/>
                </a:lnTo>
                <a:lnTo>
                  <a:pt x="6099699" y="863022"/>
                </a:lnTo>
                <a:lnTo>
                  <a:pt x="6083332" y="855598"/>
                </a:lnTo>
                <a:lnTo>
                  <a:pt x="6066965" y="821262"/>
                </a:lnTo>
                <a:lnTo>
                  <a:pt x="6050598" y="798991"/>
                </a:lnTo>
                <a:lnTo>
                  <a:pt x="6034230" y="739600"/>
                </a:lnTo>
                <a:lnTo>
                  <a:pt x="6017863" y="713617"/>
                </a:lnTo>
                <a:lnTo>
                  <a:pt x="6001496" y="697841"/>
                </a:lnTo>
                <a:lnTo>
                  <a:pt x="5985129" y="691345"/>
                </a:lnTo>
                <a:lnTo>
                  <a:pt x="5968762" y="701553"/>
                </a:lnTo>
                <a:lnTo>
                  <a:pt x="5952395" y="708977"/>
                </a:lnTo>
                <a:lnTo>
                  <a:pt x="5936028" y="682993"/>
                </a:lnTo>
                <a:lnTo>
                  <a:pt x="5919661" y="659794"/>
                </a:lnTo>
                <a:lnTo>
                  <a:pt x="5903293" y="592979"/>
                </a:lnTo>
                <a:lnTo>
                  <a:pt x="5886926" y="566996"/>
                </a:lnTo>
                <a:lnTo>
                  <a:pt x="5870559" y="535445"/>
                </a:lnTo>
                <a:lnTo>
                  <a:pt x="5854192" y="480694"/>
                </a:lnTo>
                <a:lnTo>
                  <a:pt x="5837825" y="400887"/>
                </a:lnTo>
                <a:lnTo>
                  <a:pt x="5821458" y="361912"/>
                </a:lnTo>
                <a:lnTo>
                  <a:pt x="5805091" y="347993"/>
                </a:lnTo>
                <a:lnTo>
                  <a:pt x="5788724" y="346137"/>
                </a:lnTo>
                <a:lnTo>
                  <a:pt x="5772356" y="358200"/>
                </a:lnTo>
                <a:lnTo>
                  <a:pt x="5755989" y="398104"/>
                </a:lnTo>
                <a:lnTo>
                  <a:pt x="5739622" y="486262"/>
                </a:lnTo>
                <a:lnTo>
                  <a:pt x="5723255" y="601331"/>
                </a:lnTo>
                <a:lnTo>
                  <a:pt x="5706888" y="800847"/>
                </a:lnTo>
                <a:lnTo>
                  <a:pt x="5690521" y="889005"/>
                </a:lnTo>
                <a:lnTo>
                  <a:pt x="5674154" y="934476"/>
                </a:lnTo>
                <a:lnTo>
                  <a:pt x="5657787" y="937260"/>
                </a:lnTo>
                <a:lnTo>
                  <a:pt x="5641419" y="914988"/>
                </a:lnTo>
                <a:lnTo>
                  <a:pt x="5625052" y="910349"/>
                </a:lnTo>
                <a:lnTo>
                  <a:pt x="5608685" y="877869"/>
                </a:lnTo>
                <a:lnTo>
                  <a:pt x="5592318" y="846318"/>
                </a:lnTo>
                <a:lnTo>
                  <a:pt x="5575951" y="770224"/>
                </a:lnTo>
                <a:lnTo>
                  <a:pt x="5559584" y="808271"/>
                </a:lnTo>
                <a:lnTo>
                  <a:pt x="5543217" y="741456"/>
                </a:lnTo>
                <a:lnTo>
                  <a:pt x="5526850" y="714545"/>
                </a:lnTo>
                <a:lnTo>
                  <a:pt x="5510482" y="658866"/>
                </a:lnTo>
                <a:lnTo>
                  <a:pt x="5494115" y="647730"/>
                </a:lnTo>
                <a:lnTo>
                  <a:pt x="5477748" y="631027"/>
                </a:lnTo>
                <a:lnTo>
                  <a:pt x="5461381" y="613395"/>
                </a:lnTo>
                <a:lnTo>
                  <a:pt x="5445014" y="592051"/>
                </a:lnTo>
                <a:lnTo>
                  <a:pt x="5428647" y="593907"/>
                </a:lnTo>
                <a:lnTo>
                  <a:pt x="5412280" y="604115"/>
                </a:lnTo>
                <a:lnTo>
                  <a:pt x="5395913" y="625459"/>
                </a:lnTo>
                <a:lnTo>
                  <a:pt x="5379545" y="689489"/>
                </a:lnTo>
                <a:lnTo>
                  <a:pt x="5363178" y="738672"/>
                </a:lnTo>
                <a:lnTo>
                  <a:pt x="5346811" y="904781"/>
                </a:lnTo>
                <a:lnTo>
                  <a:pt x="5330444" y="951180"/>
                </a:lnTo>
                <a:lnTo>
                  <a:pt x="5314077" y="1054186"/>
                </a:lnTo>
                <a:lnTo>
                  <a:pt x="5297710" y="1068105"/>
                </a:lnTo>
                <a:lnTo>
                  <a:pt x="5281343" y="1031914"/>
                </a:lnTo>
                <a:lnTo>
                  <a:pt x="5264976" y="1038410"/>
                </a:lnTo>
                <a:lnTo>
                  <a:pt x="5248608" y="1051402"/>
                </a:lnTo>
                <a:lnTo>
                  <a:pt x="5232241" y="1056041"/>
                </a:lnTo>
                <a:lnTo>
                  <a:pt x="5215874" y="1039338"/>
                </a:lnTo>
                <a:lnTo>
                  <a:pt x="5199507" y="1035626"/>
                </a:lnTo>
                <a:lnTo>
                  <a:pt x="5183140" y="1035626"/>
                </a:lnTo>
                <a:lnTo>
                  <a:pt x="5166773" y="1004075"/>
                </a:lnTo>
                <a:lnTo>
                  <a:pt x="5150406" y="1039338"/>
                </a:lnTo>
                <a:lnTo>
                  <a:pt x="5134039" y="1039338"/>
                </a:lnTo>
                <a:lnTo>
                  <a:pt x="5117671" y="1007786"/>
                </a:lnTo>
                <a:lnTo>
                  <a:pt x="5101304" y="1012426"/>
                </a:lnTo>
                <a:lnTo>
                  <a:pt x="5084937" y="993867"/>
                </a:lnTo>
                <a:lnTo>
                  <a:pt x="5068570" y="1003147"/>
                </a:lnTo>
                <a:lnTo>
                  <a:pt x="5052203" y="973451"/>
                </a:lnTo>
                <a:lnTo>
                  <a:pt x="5035836" y="953964"/>
                </a:lnTo>
                <a:lnTo>
                  <a:pt x="5019469" y="974379"/>
                </a:lnTo>
                <a:lnTo>
                  <a:pt x="5003102" y="964171"/>
                </a:lnTo>
                <a:lnTo>
                  <a:pt x="4986734" y="947468"/>
                </a:lnTo>
                <a:lnTo>
                  <a:pt x="4970367" y="921484"/>
                </a:lnTo>
                <a:lnTo>
                  <a:pt x="4954000" y="943756"/>
                </a:lnTo>
                <a:lnTo>
                  <a:pt x="4937633" y="940972"/>
                </a:lnTo>
                <a:lnTo>
                  <a:pt x="4921266" y="905709"/>
                </a:lnTo>
                <a:lnTo>
                  <a:pt x="4904899" y="883437"/>
                </a:lnTo>
                <a:lnTo>
                  <a:pt x="4888532" y="853742"/>
                </a:lnTo>
                <a:lnTo>
                  <a:pt x="4872165" y="844462"/>
                </a:lnTo>
                <a:lnTo>
                  <a:pt x="4855797" y="819407"/>
                </a:lnTo>
                <a:lnTo>
                  <a:pt x="4839430" y="815695"/>
                </a:lnTo>
                <a:lnTo>
                  <a:pt x="4823063" y="743312"/>
                </a:lnTo>
                <a:lnTo>
                  <a:pt x="4806696" y="757232"/>
                </a:lnTo>
                <a:lnTo>
                  <a:pt x="4790329" y="673714"/>
                </a:lnTo>
                <a:lnTo>
                  <a:pt x="4773962" y="643090"/>
                </a:lnTo>
                <a:lnTo>
                  <a:pt x="4757595" y="580916"/>
                </a:lnTo>
                <a:lnTo>
                  <a:pt x="4741228" y="572564"/>
                </a:lnTo>
                <a:lnTo>
                  <a:pt x="4724860" y="520597"/>
                </a:lnTo>
                <a:lnTo>
                  <a:pt x="4708493" y="483478"/>
                </a:lnTo>
                <a:lnTo>
                  <a:pt x="4692126" y="491830"/>
                </a:lnTo>
                <a:lnTo>
                  <a:pt x="4675759" y="473270"/>
                </a:lnTo>
                <a:lnTo>
                  <a:pt x="4659392" y="482550"/>
                </a:lnTo>
                <a:lnTo>
                  <a:pt x="4643025" y="476054"/>
                </a:lnTo>
                <a:lnTo>
                  <a:pt x="4626658" y="541940"/>
                </a:lnTo>
                <a:lnTo>
                  <a:pt x="4610291" y="569780"/>
                </a:lnTo>
                <a:lnTo>
                  <a:pt x="4593923" y="751664"/>
                </a:lnTo>
                <a:lnTo>
                  <a:pt x="4577556" y="799919"/>
                </a:lnTo>
                <a:lnTo>
                  <a:pt x="4561189" y="911277"/>
                </a:lnTo>
                <a:lnTo>
                  <a:pt x="4544822" y="877869"/>
                </a:lnTo>
                <a:lnTo>
                  <a:pt x="4528455" y="879725"/>
                </a:lnTo>
                <a:lnTo>
                  <a:pt x="4512088" y="843534"/>
                </a:lnTo>
                <a:lnTo>
                  <a:pt x="4495721" y="804559"/>
                </a:lnTo>
                <a:lnTo>
                  <a:pt x="4479354" y="791567"/>
                </a:lnTo>
                <a:lnTo>
                  <a:pt x="4462986" y="748880"/>
                </a:lnTo>
                <a:lnTo>
                  <a:pt x="4446619" y="700625"/>
                </a:lnTo>
                <a:lnTo>
                  <a:pt x="4430252" y="672786"/>
                </a:lnTo>
                <a:lnTo>
                  <a:pt x="4413885" y="661650"/>
                </a:lnTo>
                <a:lnTo>
                  <a:pt x="4397518" y="652370"/>
                </a:lnTo>
                <a:lnTo>
                  <a:pt x="4381151" y="671858"/>
                </a:lnTo>
                <a:lnTo>
                  <a:pt x="4364784" y="657010"/>
                </a:lnTo>
                <a:lnTo>
                  <a:pt x="4348417" y="672786"/>
                </a:lnTo>
                <a:lnTo>
                  <a:pt x="4332049" y="626387"/>
                </a:lnTo>
                <a:lnTo>
                  <a:pt x="4315682" y="605971"/>
                </a:lnTo>
                <a:lnTo>
                  <a:pt x="4299315" y="545652"/>
                </a:lnTo>
                <a:lnTo>
                  <a:pt x="4282948" y="523381"/>
                </a:lnTo>
                <a:lnTo>
                  <a:pt x="4266581" y="440791"/>
                </a:lnTo>
                <a:lnTo>
                  <a:pt x="4250214" y="415735"/>
                </a:lnTo>
                <a:lnTo>
                  <a:pt x="4233847" y="384184"/>
                </a:lnTo>
                <a:lnTo>
                  <a:pt x="4217480" y="395320"/>
                </a:lnTo>
                <a:lnTo>
                  <a:pt x="4201112" y="386968"/>
                </a:lnTo>
                <a:lnTo>
                  <a:pt x="4184745" y="391608"/>
                </a:lnTo>
                <a:lnTo>
                  <a:pt x="4168378" y="500181"/>
                </a:lnTo>
                <a:lnTo>
                  <a:pt x="4152011" y="545652"/>
                </a:lnTo>
                <a:lnTo>
                  <a:pt x="4135644" y="789711"/>
                </a:lnTo>
                <a:lnTo>
                  <a:pt x="4119277" y="859310"/>
                </a:lnTo>
                <a:lnTo>
                  <a:pt x="4102910" y="934476"/>
                </a:lnTo>
                <a:lnTo>
                  <a:pt x="4086543" y="937260"/>
                </a:lnTo>
                <a:lnTo>
                  <a:pt x="4070175" y="905709"/>
                </a:lnTo>
                <a:lnTo>
                  <a:pt x="4053808" y="899213"/>
                </a:lnTo>
                <a:lnTo>
                  <a:pt x="4037441" y="872301"/>
                </a:lnTo>
                <a:lnTo>
                  <a:pt x="4021074" y="836110"/>
                </a:lnTo>
                <a:lnTo>
                  <a:pt x="4004707" y="801775"/>
                </a:lnTo>
                <a:lnTo>
                  <a:pt x="3988340" y="798063"/>
                </a:lnTo>
                <a:lnTo>
                  <a:pt x="3971973" y="738672"/>
                </a:lnTo>
                <a:lnTo>
                  <a:pt x="3955606" y="746096"/>
                </a:lnTo>
                <a:lnTo>
                  <a:pt x="3939238" y="668146"/>
                </a:lnTo>
                <a:lnTo>
                  <a:pt x="3922871" y="621747"/>
                </a:lnTo>
                <a:lnTo>
                  <a:pt x="3906504" y="644018"/>
                </a:lnTo>
                <a:lnTo>
                  <a:pt x="3890137" y="612467"/>
                </a:lnTo>
                <a:lnTo>
                  <a:pt x="3873770" y="580916"/>
                </a:lnTo>
                <a:lnTo>
                  <a:pt x="3857403" y="642162"/>
                </a:lnTo>
                <a:lnTo>
                  <a:pt x="3841036" y="614323"/>
                </a:lnTo>
                <a:lnTo>
                  <a:pt x="3824669" y="635666"/>
                </a:lnTo>
                <a:lnTo>
                  <a:pt x="3808301" y="724753"/>
                </a:lnTo>
                <a:lnTo>
                  <a:pt x="3791934" y="784143"/>
                </a:lnTo>
                <a:lnTo>
                  <a:pt x="3775567" y="949324"/>
                </a:lnTo>
                <a:lnTo>
                  <a:pt x="3759200" y="970667"/>
                </a:lnTo>
                <a:lnTo>
                  <a:pt x="3742833" y="1050474"/>
                </a:lnTo>
                <a:lnTo>
                  <a:pt x="3726466" y="1046762"/>
                </a:lnTo>
                <a:lnTo>
                  <a:pt x="3710099" y="1033770"/>
                </a:lnTo>
                <a:lnTo>
                  <a:pt x="3693732" y="1024490"/>
                </a:lnTo>
                <a:lnTo>
                  <a:pt x="3677364" y="1035626"/>
                </a:lnTo>
                <a:lnTo>
                  <a:pt x="3660997" y="1039338"/>
                </a:lnTo>
                <a:lnTo>
                  <a:pt x="3644630" y="1029130"/>
                </a:lnTo>
                <a:lnTo>
                  <a:pt x="3628263" y="1037482"/>
                </a:lnTo>
                <a:lnTo>
                  <a:pt x="3611896" y="1024490"/>
                </a:lnTo>
                <a:lnTo>
                  <a:pt x="3595529" y="1027274"/>
                </a:lnTo>
                <a:lnTo>
                  <a:pt x="3579162" y="1034698"/>
                </a:lnTo>
                <a:lnTo>
                  <a:pt x="3562795" y="1036554"/>
                </a:lnTo>
                <a:lnTo>
                  <a:pt x="3546427" y="994795"/>
                </a:lnTo>
                <a:lnTo>
                  <a:pt x="3530060" y="1008714"/>
                </a:lnTo>
                <a:lnTo>
                  <a:pt x="3513693" y="988299"/>
                </a:lnTo>
                <a:lnTo>
                  <a:pt x="3497326" y="992011"/>
                </a:lnTo>
                <a:lnTo>
                  <a:pt x="3480959" y="978091"/>
                </a:lnTo>
                <a:lnTo>
                  <a:pt x="3464592" y="1007786"/>
                </a:lnTo>
                <a:lnTo>
                  <a:pt x="3448225" y="997579"/>
                </a:lnTo>
                <a:lnTo>
                  <a:pt x="3431858" y="997579"/>
                </a:lnTo>
                <a:lnTo>
                  <a:pt x="3415490" y="958604"/>
                </a:lnTo>
                <a:lnTo>
                  <a:pt x="3399123" y="940044"/>
                </a:lnTo>
                <a:lnTo>
                  <a:pt x="3382756" y="940044"/>
                </a:lnTo>
                <a:lnTo>
                  <a:pt x="3366389" y="929836"/>
                </a:lnTo>
                <a:lnTo>
                  <a:pt x="3350022" y="910349"/>
                </a:lnTo>
                <a:lnTo>
                  <a:pt x="3333655" y="899213"/>
                </a:lnTo>
                <a:lnTo>
                  <a:pt x="3317288" y="855598"/>
                </a:lnTo>
                <a:lnTo>
                  <a:pt x="3300921" y="851886"/>
                </a:lnTo>
                <a:lnTo>
                  <a:pt x="3284553" y="841678"/>
                </a:lnTo>
                <a:lnTo>
                  <a:pt x="3268186" y="832398"/>
                </a:lnTo>
                <a:lnTo>
                  <a:pt x="3251819" y="785071"/>
                </a:lnTo>
                <a:lnTo>
                  <a:pt x="3235452" y="756304"/>
                </a:lnTo>
                <a:lnTo>
                  <a:pt x="3219085" y="684849"/>
                </a:lnTo>
                <a:lnTo>
                  <a:pt x="3202718" y="681137"/>
                </a:lnTo>
                <a:lnTo>
                  <a:pt x="3186351" y="589267"/>
                </a:lnTo>
                <a:lnTo>
                  <a:pt x="3169984" y="586483"/>
                </a:lnTo>
                <a:lnTo>
                  <a:pt x="3153616" y="528021"/>
                </a:lnTo>
                <a:lnTo>
                  <a:pt x="3137249" y="496469"/>
                </a:lnTo>
                <a:lnTo>
                  <a:pt x="3120882" y="466774"/>
                </a:lnTo>
                <a:lnTo>
                  <a:pt x="3104515" y="487190"/>
                </a:lnTo>
                <a:lnTo>
                  <a:pt x="3088148" y="461206"/>
                </a:lnTo>
                <a:lnTo>
                  <a:pt x="3071781" y="470486"/>
                </a:lnTo>
                <a:lnTo>
                  <a:pt x="3055414" y="483478"/>
                </a:lnTo>
                <a:lnTo>
                  <a:pt x="3039047" y="555860"/>
                </a:lnTo>
                <a:lnTo>
                  <a:pt x="3022679" y="704337"/>
                </a:lnTo>
                <a:lnTo>
                  <a:pt x="3006312" y="775791"/>
                </a:lnTo>
                <a:lnTo>
                  <a:pt x="2989945" y="893645"/>
                </a:lnTo>
                <a:lnTo>
                  <a:pt x="2973578" y="908493"/>
                </a:lnTo>
                <a:lnTo>
                  <a:pt x="2957211" y="887149"/>
                </a:lnTo>
                <a:lnTo>
                  <a:pt x="2940844" y="842606"/>
                </a:lnTo>
                <a:lnTo>
                  <a:pt x="2924477" y="823118"/>
                </a:lnTo>
                <a:lnTo>
                  <a:pt x="2908110" y="813839"/>
                </a:lnTo>
                <a:lnTo>
                  <a:pt x="2891742" y="773008"/>
                </a:lnTo>
                <a:lnTo>
                  <a:pt x="2875375" y="764656"/>
                </a:lnTo>
                <a:lnTo>
                  <a:pt x="2859008" y="682065"/>
                </a:lnTo>
                <a:lnTo>
                  <a:pt x="2842641" y="706193"/>
                </a:lnTo>
                <a:lnTo>
                  <a:pt x="2826274" y="695057"/>
                </a:lnTo>
                <a:lnTo>
                  <a:pt x="2809907" y="705265"/>
                </a:lnTo>
                <a:lnTo>
                  <a:pt x="2793540" y="696913"/>
                </a:lnTo>
                <a:lnTo>
                  <a:pt x="2777173" y="702481"/>
                </a:lnTo>
                <a:lnTo>
                  <a:pt x="2760805" y="646802"/>
                </a:lnTo>
                <a:lnTo>
                  <a:pt x="2744438" y="605043"/>
                </a:lnTo>
                <a:lnTo>
                  <a:pt x="2728071" y="561428"/>
                </a:lnTo>
                <a:lnTo>
                  <a:pt x="2711704" y="554932"/>
                </a:lnTo>
                <a:lnTo>
                  <a:pt x="2695337" y="454710"/>
                </a:lnTo>
                <a:lnTo>
                  <a:pt x="2678970" y="421303"/>
                </a:lnTo>
                <a:lnTo>
                  <a:pt x="2662603" y="401815"/>
                </a:lnTo>
                <a:lnTo>
                  <a:pt x="2646236" y="397176"/>
                </a:lnTo>
                <a:lnTo>
                  <a:pt x="2629868" y="399031"/>
                </a:lnTo>
                <a:lnTo>
                  <a:pt x="2613501" y="454710"/>
                </a:lnTo>
                <a:lnTo>
                  <a:pt x="2597134" y="536373"/>
                </a:lnTo>
                <a:lnTo>
                  <a:pt x="2580767" y="622675"/>
                </a:lnTo>
                <a:lnTo>
                  <a:pt x="2564400" y="835182"/>
                </a:lnTo>
                <a:lnTo>
                  <a:pt x="2548033" y="871373"/>
                </a:lnTo>
                <a:lnTo>
                  <a:pt x="2531666" y="951180"/>
                </a:lnTo>
                <a:lnTo>
                  <a:pt x="2515299" y="934476"/>
                </a:lnTo>
                <a:lnTo>
                  <a:pt x="2498931" y="912205"/>
                </a:lnTo>
                <a:lnTo>
                  <a:pt x="2482564" y="900141"/>
                </a:lnTo>
                <a:lnTo>
                  <a:pt x="2466197" y="852814"/>
                </a:lnTo>
                <a:lnTo>
                  <a:pt x="2449830" y="855598"/>
                </a:lnTo>
                <a:lnTo>
                  <a:pt x="2433463" y="827758"/>
                </a:lnTo>
                <a:lnTo>
                  <a:pt x="2417096" y="792495"/>
                </a:lnTo>
                <a:lnTo>
                  <a:pt x="2400729" y="754448"/>
                </a:lnTo>
                <a:lnTo>
                  <a:pt x="2384361" y="747952"/>
                </a:lnTo>
                <a:lnTo>
                  <a:pt x="2367994" y="679282"/>
                </a:lnTo>
                <a:lnTo>
                  <a:pt x="2351627" y="657010"/>
                </a:lnTo>
                <a:lnTo>
                  <a:pt x="2335260" y="625459"/>
                </a:lnTo>
                <a:lnTo>
                  <a:pt x="2318893" y="627315"/>
                </a:lnTo>
                <a:lnTo>
                  <a:pt x="2302526" y="608755"/>
                </a:lnTo>
                <a:lnTo>
                  <a:pt x="2286159" y="600403"/>
                </a:lnTo>
                <a:lnTo>
                  <a:pt x="2269792" y="590195"/>
                </a:lnTo>
                <a:lnTo>
                  <a:pt x="2253425" y="593907"/>
                </a:lnTo>
                <a:lnTo>
                  <a:pt x="2237057" y="693201"/>
                </a:lnTo>
                <a:lnTo>
                  <a:pt x="2220690" y="703409"/>
                </a:lnTo>
                <a:lnTo>
                  <a:pt x="2204323" y="837966"/>
                </a:lnTo>
                <a:lnTo>
                  <a:pt x="2187956" y="905709"/>
                </a:lnTo>
                <a:lnTo>
                  <a:pt x="2171589" y="1026346"/>
                </a:lnTo>
                <a:lnTo>
                  <a:pt x="2155222" y="1036554"/>
                </a:lnTo>
                <a:lnTo>
                  <a:pt x="2138855" y="1059753"/>
                </a:lnTo>
                <a:lnTo>
                  <a:pt x="2122488" y="1037482"/>
                </a:lnTo>
                <a:lnTo>
                  <a:pt x="2106120" y="1029130"/>
                </a:lnTo>
                <a:lnTo>
                  <a:pt x="2089753" y="1030058"/>
                </a:lnTo>
                <a:lnTo>
                  <a:pt x="2073386" y="1030986"/>
                </a:lnTo>
                <a:lnTo>
                  <a:pt x="2057019" y="1044906"/>
                </a:lnTo>
                <a:lnTo>
                  <a:pt x="2040652" y="1005931"/>
                </a:lnTo>
                <a:lnTo>
                  <a:pt x="2024285" y="1021706"/>
                </a:lnTo>
                <a:lnTo>
                  <a:pt x="2007918" y="1051402"/>
                </a:lnTo>
                <a:lnTo>
                  <a:pt x="1991551" y="1032842"/>
                </a:lnTo>
                <a:lnTo>
                  <a:pt x="1975183" y="1019850"/>
                </a:lnTo>
                <a:lnTo>
                  <a:pt x="1958816" y="1002219"/>
                </a:lnTo>
                <a:lnTo>
                  <a:pt x="1942449" y="997579"/>
                </a:lnTo>
                <a:lnTo>
                  <a:pt x="1926082" y="980875"/>
                </a:lnTo>
                <a:lnTo>
                  <a:pt x="1909715" y="987371"/>
                </a:lnTo>
                <a:lnTo>
                  <a:pt x="1893348" y="982731"/>
                </a:lnTo>
                <a:lnTo>
                  <a:pt x="1876981" y="1007786"/>
                </a:lnTo>
                <a:lnTo>
                  <a:pt x="1860614" y="963243"/>
                </a:lnTo>
                <a:lnTo>
                  <a:pt x="1844246" y="925196"/>
                </a:lnTo>
                <a:lnTo>
                  <a:pt x="1827879" y="912205"/>
                </a:lnTo>
                <a:lnTo>
                  <a:pt x="1811512" y="937260"/>
                </a:lnTo>
                <a:lnTo>
                  <a:pt x="1795145" y="943756"/>
                </a:lnTo>
                <a:lnTo>
                  <a:pt x="1778778" y="880653"/>
                </a:lnTo>
                <a:lnTo>
                  <a:pt x="1762411" y="862094"/>
                </a:lnTo>
                <a:lnTo>
                  <a:pt x="1746044" y="840750"/>
                </a:lnTo>
                <a:lnTo>
                  <a:pt x="1729676" y="850030"/>
                </a:lnTo>
                <a:lnTo>
                  <a:pt x="1713309" y="810127"/>
                </a:lnTo>
                <a:lnTo>
                  <a:pt x="1696942" y="805487"/>
                </a:lnTo>
                <a:lnTo>
                  <a:pt x="1680575" y="764656"/>
                </a:lnTo>
                <a:lnTo>
                  <a:pt x="1664208" y="762800"/>
                </a:lnTo>
                <a:close/>
              </a:path>
            </a:pathLst>
          </a:custGeom>
          <a:solidFill>
            <a:schemeClr val="accent6">
              <a:alpha val="26000"/>
            </a:schemeClr>
          </a:solidFill>
          <a:ln w="12700">
            <a:solidFill>
              <a:schemeClr val="accent6"/>
            </a:solidFill>
            <a:prstDash val="solid"/>
          </a:ln>
        </p:spPr>
      </p:sp>
      <p:sp>
        <p:nvSpPr>
          <p:cNvPr id="19" name="Sensor, revealed (simulated)"/>
          <p:cNvSpPr/>
          <p:nvPr/>
        </p:nvSpPr>
        <p:spPr>
          <a:xfrm>
            <a:off x="548640" y="3913632"/>
            <a:ext cx="11091672" cy="1874520"/>
          </a:xfrm>
          <a:custGeom>
            <a:avLst/>
            <a:gdLst/>
            <a:ahLst/>
            <a:cxnLst/>
            <a:rect l="l" t="t" r="r" b="b"/>
            <a:pathLst>
              <a:path w="11091672" h="1874520">
                <a:moveTo>
                  <a:pt x="1664208" y="663506"/>
                </a:moveTo>
                <a:lnTo>
                  <a:pt x="1680575" y="695057"/>
                </a:lnTo>
                <a:lnTo>
                  <a:pt x="1696942" y="751664"/>
                </a:lnTo>
                <a:lnTo>
                  <a:pt x="1713309" y="671858"/>
                </a:lnTo>
                <a:lnTo>
                  <a:pt x="1729676" y="785999"/>
                </a:lnTo>
                <a:lnTo>
                  <a:pt x="1746044" y="721969"/>
                </a:lnTo>
                <a:lnTo>
                  <a:pt x="1762411" y="864878"/>
                </a:lnTo>
                <a:lnTo>
                  <a:pt x="1778778" y="819407"/>
                </a:lnTo>
                <a:lnTo>
                  <a:pt x="1795145" y="844462"/>
                </a:lnTo>
                <a:lnTo>
                  <a:pt x="1811512" y="808271"/>
                </a:lnTo>
                <a:lnTo>
                  <a:pt x="1827879" y="800847"/>
                </a:lnTo>
                <a:lnTo>
                  <a:pt x="1844246" y="912205"/>
                </a:lnTo>
                <a:lnTo>
                  <a:pt x="1860614" y="896429"/>
                </a:lnTo>
                <a:lnTo>
                  <a:pt x="1876981" y="863022"/>
                </a:lnTo>
                <a:lnTo>
                  <a:pt x="1893348" y="843534"/>
                </a:lnTo>
                <a:lnTo>
                  <a:pt x="1909715" y="863950"/>
                </a:lnTo>
                <a:lnTo>
                  <a:pt x="1926082" y="1017066"/>
                </a:lnTo>
                <a:lnTo>
                  <a:pt x="1942449" y="902925"/>
                </a:lnTo>
                <a:lnTo>
                  <a:pt x="1958816" y="920556"/>
                </a:lnTo>
                <a:lnTo>
                  <a:pt x="1975183" y="822190"/>
                </a:lnTo>
                <a:lnTo>
                  <a:pt x="1991551" y="903853"/>
                </a:lnTo>
                <a:lnTo>
                  <a:pt x="2007918" y="884365"/>
                </a:lnTo>
                <a:lnTo>
                  <a:pt x="2024285" y="945612"/>
                </a:lnTo>
                <a:lnTo>
                  <a:pt x="2040652" y="969739"/>
                </a:lnTo>
                <a:lnTo>
                  <a:pt x="2057019" y="923340"/>
                </a:lnTo>
                <a:lnTo>
                  <a:pt x="2073386" y="873229"/>
                </a:lnTo>
                <a:lnTo>
                  <a:pt x="2089753" y="824046"/>
                </a:lnTo>
                <a:lnTo>
                  <a:pt x="2106120" y="927980"/>
                </a:lnTo>
                <a:lnTo>
                  <a:pt x="2122488" y="996651"/>
                </a:lnTo>
                <a:lnTo>
                  <a:pt x="2138855" y="1031914"/>
                </a:lnTo>
                <a:lnTo>
                  <a:pt x="2155222" y="836110"/>
                </a:lnTo>
                <a:lnTo>
                  <a:pt x="2171589" y="878797"/>
                </a:lnTo>
                <a:lnTo>
                  <a:pt x="2187956" y="674642"/>
                </a:lnTo>
                <a:lnTo>
                  <a:pt x="2204323" y="576276"/>
                </a:lnTo>
                <a:lnTo>
                  <a:pt x="2220690" y="510389"/>
                </a:lnTo>
                <a:lnTo>
                  <a:pt x="2237057" y="413879"/>
                </a:lnTo>
                <a:lnTo>
                  <a:pt x="2253425" y="347993"/>
                </a:lnTo>
                <a:lnTo>
                  <a:pt x="2269792" y="395320"/>
                </a:lnTo>
                <a:lnTo>
                  <a:pt x="2286159" y="476982"/>
                </a:lnTo>
                <a:lnTo>
                  <a:pt x="2302526" y="519669"/>
                </a:lnTo>
                <a:lnTo>
                  <a:pt x="2318893" y="410167"/>
                </a:lnTo>
                <a:lnTo>
                  <a:pt x="2335260" y="551220"/>
                </a:lnTo>
                <a:lnTo>
                  <a:pt x="2351627" y="566996"/>
                </a:lnTo>
                <a:lnTo>
                  <a:pt x="2367994" y="553076"/>
                </a:lnTo>
                <a:lnTo>
                  <a:pt x="2384361" y="606899"/>
                </a:lnTo>
                <a:lnTo>
                  <a:pt x="2400729" y="581844"/>
                </a:lnTo>
                <a:lnTo>
                  <a:pt x="2417096" y="655154"/>
                </a:lnTo>
                <a:lnTo>
                  <a:pt x="2433463" y="647730"/>
                </a:lnTo>
                <a:lnTo>
                  <a:pt x="2449830" y="773935"/>
                </a:lnTo>
                <a:lnTo>
                  <a:pt x="2466197" y="793423"/>
                </a:lnTo>
                <a:lnTo>
                  <a:pt x="2482564" y="802703"/>
                </a:lnTo>
                <a:lnTo>
                  <a:pt x="2498931" y="876941"/>
                </a:lnTo>
                <a:lnTo>
                  <a:pt x="2515299" y="919628"/>
                </a:lnTo>
                <a:lnTo>
                  <a:pt x="2531666" y="887149"/>
                </a:lnTo>
                <a:lnTo>
                  <a:pt x="2548033" y="740528"/>
                </a:lnTo>
                <a:lnTo>
                  <a:pt x="2564400" y="605971"/>
                </a:lnTo>
                <a:lnTo>
                  <a:pt x="2580767" y="433367"/>
                </a:lnTo>
                <a:lnTo>
                  <a:pt x="2597134" y="368408"/>
                </a:lnTo>
                <a:lnTo>
                  <a:pt x="2613501" y="285818"/>
                </a:lnTo>
                <a:lnTo>
                  <a:pt x="2629868" y="370264"/>
                </a:lnTo>
                <a:lnTo>
                  <a:pt x="2646236" y="338713"/>
                </a:lnTo>
                <a:lnTo>
                  <a:pt x="2662603" y="469558"/>
                </a:lnTo>
                <a:lnTo>
                  <a:pt x="2678970" y="420375"/>
                </a:lnTo>
                <a:lnTo>
                  <a:pt x="2695337" y="411095"/>
                </a:lnTo>
                <a:lnTo>
                  <a:pt x="2711704" y="440791"/>
                </a:lnTo>
                <a:lnTo>
                  <a:pt x="2728071" y="623603"/>
                </a:lnTo>
                <a:lnTo>
                  <a:pt x="2744438" y="502965"/>
                </a:lnTo>
                <a:lnTo>
                  <a:pt x="2760805" y="550292"/>
                </a:lnTo>
                <a:lnTo>
                  <a:pt x="2777173" y="583700"/>
                </a:lnTo>
                <a:lnTo>
                  <a:pt x="2793540" y="617107"/>
                </a:lnTo>
                <a:lnTo>
                  <a:pt x="2809907" y="513173"/>
                </a:lnTo>
                <a:lnTo>
                  <a:pt x="2826274" y="529877"/>
                </a:lnTo>
                <a:lnTo>
                  <a:pt x="2842641" y="484406"/>
                </a:lnTo>
                <a:lnTo>
                  <a:pt x="2859008" y="520597"/>
                </a:lnTo>
                <a:lnTo>
                  <a:pt x="2875375" y="551220"/>
                </a:lnTo>
                <a:lnTo>
                  <a:pt x="2891742" y="595763"/>
                </a:lnTo>
                <a:lnTo>
                  <a:pt x="2908110" y="605043"/>
                </a:lnTo>
                <a:lnTo>
                  <a:pt x="2924477" y="571636"/>
                </a:lnTo>
                <a:lnTo>
                  <a:pt x="2940844" y="765584"/>
                </a:lnTo>
                <a:lnTo>
                  <a:pt x="2957211" y="745168"/>
                </a:lnTo>
                <a:lnTo>
                  <a:pt x="2973578" y="701553"/>
                </a:lnTo>
                <a:lnTo>
                  <a:pt x="2989945" y="685777"/>
                </a:lnTo>
                <a:lnTo>
                  <a:pt x="3006312" y="728464"/>
                </a:lnTo>
                <a:lnTo>
                  <a:pt x="3022679" y="511317"/>
                </a:lnTo>
                <a:lnTo>
                  <a:pt x="3039047" y="363768"/>
                </a:lnTo>
                <a:lnTo>
                  <a:pt x="3055414" y="282106"/>
                </a:lnTo>
                <a:lnTo>
                  <a:pt x="3071781" y="219931"/>
                </a:lnTo>
                <a:lnTo>
                  <a:pt x="3088148" y="312729"/>
                </a:lnTo>
                <a:lnTo>
                  <a:pt x="3104515" y="276538"/>
                </a:lnTo>
                <a:lnTo>
                  <a:pt x="3120882" y="360984"/>
                </a:lnTo>
                <a:lnTo>
                  <a:pt x="3137249" y="258906"/>
                </a:lnTo>
                <a:lnTo>
                  <a:pt x="3153616" y="212507"/>
                </a:lnTo>
                <a:lnTo>
                  <a:pt x="3169984" y="360056"/>
                </a:lnTo>
                <a:lnTo>
                  <a:pt x="3186351" y="337785"/>
                </a:lnTo>
                <a:lnTo>
                  <a:pt x="3202718" y="370264"/>
                </a:lnTo>
                <a:lnTo>
                  <a:pt x="3219085" y="471414"/>
                </a:lnTo>
                <a:lnTo>
                  <a:pt x="3235452" y="515957"/>
                </a:lnTo>
                <a:lnTo>
                  <a:pt x="3251819" y="469558"/>
                </a:lnTo>
                <a:lnTo>
                  <a:pt x="3268186" y="462134"/>
                </a:lnTo>
                <a:lnTo>
                  <a:pt x="3284553" y="502965"/>
                </a:lnTo>
                <a:lnTo>
                  <a:pt x="3300921" y="592979"/>
                </a:lnTo>
                <a:lnTo>
                  <a:pt x="3317288" y="724753"/>
                </a:lnTo>
                <a:lnTo>
                  <a:pt x="3333655" y="703409"/>
                </a:lnTo>
                <a:lnTo>
                  <a:pt x="3350022" y="786927"/>
                </a:lnTo>
                <a:lnTo>
                  <a:pt x="3366389" y="773935"/>
                </a:lnTo>
                <a:lnTo>
                  <a:pt x="3382756" y="779503"/>
                </a:lnTo>
                <a:lnTo>
                  <a:pt x="3399123" y="689489"/>
                </a:lnTo>
                <a:lnTo>
                  <a:pt x="3415490" y="854670"/>
                </a:lnTo>
                <a:lnTo>
                  <a:pt x="3431858" y="822190"/>
                </a:lnTo>
                <a:lnTo>
                  <a:pt x="3448225" y="787855"/>
                </a:lnTo>
                <a:lnTo>
                  <a:pt x="3464592" y="793423"/>
                </a:lnTo>
                <a:lnTo>
                  <a:pt x="3480959" y="901069"/>
                </a:lnTo>
                <a:lnTo>
                  <a:pt x="3497326" y="894573"/>
                </a:lnTo>
                <a:lnTo>
                  <a:pt x="3513693" y="891789"/>
                </a:lnTo>
                <a:lnTo>
                  <a:pt x="3530060" y="835182"/>
                </a:lnTo>
                <a:lnTo>
                  <a:pt x="3546427" y="836110"/>
                </a:lnTo>
                <a:lnTo>
                  <a:pt x="3562795" y="879725"/>
                </a:lnTo>
                <a:lnTo>
                  <a:pt x="3579162" y="981803"/>
                </a:lnTo>
                <a:lnTo>
                  <a:pt x="3595529" y="832398"/>
                </a:lnTo>
                <a:lnTo>
                  <a:pt x="3611896" y="862094"/>
                </a:lnTo>
                <a:lnTo>
                  <a:pt x="3628263" y="889005"/>
                </a:lnTo>
                <a:lnTo>
                  <a:pt x="3644630" y="945612"/>
                </a:lnTo>
                <a:lnTo>
                  <a:pt x="3660997" y="968811"/>
                </a:lnTo>
                <a:lnTo>
                  <a:pt x="3677364" y="858382"/>
                </a:lnTo>
                <a:lnTo>
                  <a:pt x="3693732" y="873229"/>
                </a:lnTo>
                <a:lnTo>
                  <a:pt x="3710099" y="908493"/>
                </a:lnTo>
                <a:lnTo>
                  <a:pt x="3726466" y="947468"/>
                </a:lnTo>
                <a:lnTo>
                  <a:pt x="3742833" y="1015210"/>
                </a:lnTo>
                <a:lnTo>
                  <a:pt x="3759200" y="909421"/>
                </a:lnTo>
                <a:lnTo>
                  <a:pt x="3775567" y="807343"/>
                </a:lnTo>
                <a:lnTo>
                  <a:pt x="3791934" y="630099"/>
                </a:lnTo>
                <a:lnTo>
                  <a:pt x="3808301" y="568852"/>
                </a:lnTo>
                <a:lnTo>
                  <a:pt x="3824669" y="449142"/>
                </a:lnTo>
                <a:lnTo>
                  <a:pt x="3841036" y="468630"/>
                </a:lnTo>
                <a:lnTo>
                  <a:pt x="3857403" y="468630"/>
                </a:lnTo>
                <a:lnTo>
                  <a:pt x="3873770" y="464918"/>
                </a:lnTo>
                <a:lnTo>
                  <a:pt x="3890137" y="429655"/>
                </a:lnTo>
                <a:lnTo>
                  <a:pt x="3906504" y="438007"/>
                </a:lnTo>
                <a:lnTo>
                  <a:pt x="3922871" y="465846"/>
                </a:lnTo>
                <a:lnTo>
                  <a:pt x="3939238" y="562356"/>
                </a:lnTo>
                <a:lnTo>
                  <a:pt x="3955606" y="549364"/>
                </a:lnTo>
                <a:lnTo>
                  <a:pt x="3971973" y="658866"/>
                </a:lnTo>
                <a:lnTo>
                  <a:pt x="3988340" y="664434"/>
                </a:lnTo>
                <a:lnTo>
                  <a:pt x="4004707" y="580916"/>
                </a:lnTo>
                <a:lnTo>
                  <a:pt x="4021074" y="593907"/>
                </a:lnTo>
                <a:lnTo>
                  <a:pt x="4037441" y="754448"/>
                </a:lnTo>
                <a:lnTo>
                  <a:pt x="4053808" y="686705"/>
                </a:lnTo>
                <a:lnTo>
                  <a:pt x="4070175" y="784143"/>
                </a:lnTo>
                <a:lnTo>
                  <a:pt x="4086543" y="845390"/>
                </a:lnTo>
                <a:lnTo>
                  <a:pt x="4102910" y="811983"/>
                </a:lnTo>
                <a:lnTo>
                  <a:pt x="4119277" y="664434"/>
                </a:lnTo>
                <a:lnTo>
                  <a:pt x="4135644" y="333145"/>
                </a:lnTo>
                <a:lnTo>
                  <a:pt x="4152011" y="447286"/>
                </a:lnTo>
                <a:lnTo>
                  <a:pt x="4168378" y="223643"/>
                </a:lnTo>
                <a:lnTo>
                  <a:pt x="4184745" y="304378"/>
                </a:lnTo>
                <a:lnTo>
                  <a:pt x="4201112" y="272826"/>
                </a:lnTo>
                <a:lnTo>
                  <a:pt x="4217480" y="207868"/>
                </a:lnTo>
                <a:lnTo>
                  <a:pt x="4233847" y="232923"/>
                </a:lnTo>
                <a:lnTo>
                  <a:pt x="4250214" y="267258"/>
                </a:lnTo>
                <a:lnTo>
                  <a:pt x="4266581" y="309017"/>
                </a:lnTo>
                <a:lnTo>
                  <a:pt x="4282948" y="326649"/>
                </a:lnTo>
                <a:lnTo>
                  <a:pt x="4299315" y="449142"/>
                </a:lnTo>
                <a:lnTo>
                  <a:pt x="4315682" y="382328"/>
                </a:lnTo>
                <a:lnTo>
                  <a:pt x="4332049" y="493685"/>
                </a:lnTo>
                <a:lnTo>
                  <a:pt x="4348417" y="521525"/>
                </a:lnTo>
                <a:lnTo>
                  <a:pt x="4364784" y="554004"/>
                </a:lnTo>
                <a:lnTo>
                  <a:pt x="4381151" y="495541"/>
                </a:lnTo>
                <a:lnTo>
                  <a:pt x="4397518" y="472342"/>
                </a:lnTo>
                <a:lnTo>
                  <a:pt x="4413885" y="482550"/>
                </a:lnTo>
                <a:lnTo>
                  <a:pt x="4430252" y="487190"/>
                </a:lnTo>
                <a:lnTo>
                  <a:pt x="4446619" y="431511"/>
                </a:lnTo>
                <a:lnTo>
                  <a:pt x="4462986" y="557716"/>
                </a:lnTo>
                <a:lnTo>
                  <a:pt x="4479354" y="593907"/>
                </a:lnTo>
                <a:lnTo>
                  <a:pt x="4495721" y="660722"/>
                </a:lnTo>
                <a:lnTo>
                  <a:pt x="4512088" y="684849"/>
                </a:lnTo>
                <a:lnTo>
                  <a:pt x="4528455" y="708049"/>
                </a:lnTo>
                <a:lnTo>
                  <a:pt x="4544822" y="837038"/>
                </a:lnTo>
                <a:lnTo>
                  <a:pt x="4561189" y="796207"/>
                </a:lnTo>
                <a:lnTo>
                  <a:pt x="4577556" y="735888"/>
                </a:lnTo>
                <a:lnTo>
                  <a:pt x="4593923" y="588339"/>
                </a:lnTo>
                <a:lnTo>
                  <a:pt x="4610291" y="488118"/>
                </a:lnTo>
                <a:lnTo>
                  <a:pt x="4626658" y="417591"/>
                </a:lnTo>
                <a:lnTo>
                  <a:pt x="4643025" y="309017"/>
                </a:lnTo>
                <a:lnTo>
                  <a:pt x="4659392" y="348921"/>
                </a:lnTo>
                <a:lnTo>
                  <a:pt x="4675759" y="400887"/>
                </a:lnTo>
                <a:lnTo>
                  <a:pt x="4692126" y="351704"/>
                </a:lnTo>
                <a:lnTo>
                  <a:pt x="4708493" y="372120"/>
                </a:lnTo>
                <a:lnTo>
                  <a:pt x="4724860" y="494613"/>
                </a:lnTo>
                <a:lnTo>
                  <a:pt x="4741228" y="566996"/>
                </a:lnTo>
                <a:lnTo>
                  <a:pt x="4757595" y="444503"/>
                </a:lnTo>
                <a:lnTo>
                  <a:pt x="4773962" y="537301"/>
                </a:lnTo>
                <a:lnTo>
                  <a:pt x="4790329" y="613395"/>
                </a:lnTo>
                <a:lnTo>
                  <a:pt x="4806696" y="608755"/>
                </a:lnTo>
                <a:lnTo>
                  <a:pt x="4823063" y="646802"/>
                </a:lnTo>
                <a:lnTo>
                  <a:pt x="4839430" y="667218"/>
                </a:lnTo>
                <a:lnTo>
                  <a:pt x="4855797" y="717329"/>
                </a:lnTo>
                <a:lnTo>
                  <a:pt x="4872165" y="754448"/>
                </a:lnTo>
                <a:lnTo>
                  <a:pt x="4888532" y="816623"/>
                </a:lnTo>
                <a:lnTo>
                  <a:pt x="4904899" y="831470"/>
                </a:lnTo>
                <a:lnTo>
                  <a:pt x="4921266" y="747024"/>
                </a:lnTo>
                <a:lnTo>
                  <a:pt x="4937633" y="794351"/>
                </a:lnTo>
                <a:lnTo>
                  <a:pt x="4954000" y="814767"/>
                </a:lnTo>
                <a:lnTo>
                  <a:pt x="4970367" y="907565"/>
                </a:lnTo>
                <a:lnTo>
                  <a:pt x="4986734" y="813839"/>
                </a:lnTo>
                <a:lnTo>
                  <a:pt x="5003102" y="869517"/>
                </a:lnTo>
                <a:lnTo>
                  <a:pt x="5019469" y="929836"/>
                </a:lnTo>
                <a:lnTo>
                  <a:pt x="5035836" y="901069"/>
                </a:lnTo>
                <a:lnTo>
                  <a:pt x="5052203" y="885293"/>
                </a:lnTo>
                <a:lnTo>
                  <a:pt x="5068570" y="911277"/>
                </a:lnTo>
                <a:lnTo>
                  <a:pt x="5084937" y="925196"/>
                </a:lnTo>
                <a:lnTo>
                  <a:pt x="5101304" y="987371"/>
                </a:lnTo>
                <a:lnTo>
                  <a:pt x="5117671" y="1059753"/>
                </a:lnTo>
                <a:lnTo>
                  <a:pt x="5134039" y="917772"/>
                </a:lnTo>
                <a:lnTo>
                  <a:pt x="5150406" y="1035626"/>
                </a:lnTo>
                <a:lnTo>
                  <a:pt x="5166773" y="1054186"/>
                </a:lnTo>
                <a:lnTo>
                  <a:pt x="5183140" y="1029130"/>
                </a:lnTo>
                <a:lnTo>
                  <a:pt x="5199507" y="1147912"/>
                </a:lnTo>
                <a:lnTo>
                  <a:pt x="5215874" y="1055113"/>
                </a:lnTo>
                <a:lnTo>
                  <a:pt x="5232241" y="909421"/>
                </a:lnTo>
                <a:lnTo>
                  <a:pt x="5248608" y="1009642"/>
                </a:lnTo>
                <a:lnTo>
                  <a:pt x="5264976" y="958604"/>
                </a:lnTo>
                <a:lnTo>
                  <a:pt x="5281343" y="1095945"/>
                </a:lnTo>
                <a:lnTo>
                  <a:pt x="5297710" y="1128424"/>
                </a:lnTo>
                <a:lnTo>
                  <a:pt x="5314077" y="875085"/>
                </a:lnTo>
                <a:lnTo>
                  <a:pt x="5330444" y="832398"/>
                </a:lnTo>
                <a:lnTo>
                  <a:pt x="5346811" y="807343"/>
                </a:lnTo>
                <a:lnTo>
                  <a:pt x="5363178" y="692273"/>
                </a:lnTo>
                <a:lnTo>
                  <a:pt x="5379545" y="561428"/>
                </a:lnTo>
                <a:lnTo>
                  <a:pt x="5395913" y="545652"/>
                </a:lnTo>
                <a:lnTo>
                  <a:pt x="5412280" y="515957"/>
                </a:lnTo>
                <a:lnTo>
                  <a:pt x="5428647" y="636594"/>
                </a:lnTo>
                <a:lnTo>
                  <a:pt x="5445014" y="496469"/>
                </a:lnTo>
                <a:lnTo>
                  <a:pt x="5461381" y="612467"/>
                </a:lnTo>
                <a:lnTo>
                  <a:pt x="5477748" y="655154"/>
                </a:lnTo>
                <a:lnTo>
                  <a:pt x="5494115" y="694129"/>
                </a:lnTo>
                <a:lnTo>
                  <a:pt x="5510482" y="707121"/>
                </a:lnTo>
                <a:lnTo>
                  <a:pt x="5526850" y="671858"/>
                </a:lnTo>
                <a:lnTo>
                  <a:pt x="5543217" y="783215"/>
                </a:lnTo>
                <a:lnTo>
                  <a:pt x="5559584" y="873229"/>
                </a:lnTo>
                <a:lnTo>
                  <a:pt x="5575951" y="801775"/>
                </a:lnTo>
                <a:lnTo>
                  <a:pt x="5592318" y="847246"/>
                </a:lnTo>
                <a:lnTo>
                  <a:pt x="5608685" y="978091"/>
                </a:lnTo>
                <a:lnTo>
                  <a:pt x="5625052" y="991083"/>
                </a:lnTo>
                <a:lnTo>
                  <a:pt x="5641419" y="943756"/>
                </a:lnTo>
                <a:lnTo>
                  <a:pt x="5657787" y="1000363"/>
                </a:lnTo>
                <a:lnTo>
                  <a:pt x="5674154" y="1086665"/>
                </a:lnTo>
                <a:lnTo>
                  <a:pt x="5690521" y="835182"/>
                </a:lnTo>
                <a:lnTo>
                  <a:pt x="5706888" y="695985"/>
                </a:lnTo>
                <a:lnTo>
                  <a:pt x="5723255" y="544724"/>
                </a:lnTo>
                <a:lnTo>
                  <a:pt x="5739622" y="541012"/>
                </a:lnTo>
                <a:lnTo>
                  <a:pt x="5755989" y="488118"/>
                </a:lnTo>
                <a:lnTo>
                  <a:pt x="5772356" y="357272"/>
                </a:lnTo>
                <a:lnTo>
                  <a:pt x="5788724" y="359128"/>
                </a:lnTo>
                <a:lnTo>
                  <a:pt x="5805091" y="412951"/>
                </a:lnTo>
                <a:lnTo>
                  <a:pt x="5821458" y="441719"/>
                </a:lnTo>
                <a:lnTo>
                  <a:pt x="5837825" y="438007"/>
                </a:lnTo>
                <a:lnTo>
                  <a:pt x="5854192" y="618963"/>
                </a:lnTo>
                <a:lnTo>
                  <a:pt x="5870559" y="693201"/>
                </a:lnTo>
                <a:lnTo>
                  <a:pt x="5886926" y="671858"/>
                </a:lnTo>
                <a:lnTo>
                  <a:pt x="5903293" y="529877"/>
                </a:lnTo>
                <a:lnTo>
                  <a:pt x="5919661" y="720113"/>
                </a:lnTo>
                <a:lnTo>
                  <a:pt x="5936028" y="709905"/>
                </a:lnTo>
                <a:lnTo>
                  <a:pt x="5952395" y="680209"/>
                </a:lnTo>
                <a:lnTo>
                  <a:pt x="5968762" y="648658"/>
                </a:lnTo>
                <a:lnTo>
                  <a:pt x="5985129" y="734960"/>
                </a:lnTo>
                <a:lnTo>
                  <a:pt x="6001496" y="824046"/>
                </a:lnTo>
                <a:lnTo>
                  <a:pt x="6017863" y="738672"/>
                </a:lnTo>
                <a:lnTo>
                  <a:pt x="6034230" y="720113"/>
                </a:lnTo>
                <a:lnTo>
                  <a:pt x="6050598" y="827758"/>
                </a:lnTo>
                <a:lnTo>
                  <a:pt x="6066965" y="925196"/>
                </a:lnTo>
                <a:lnTo>
                  <a:pt x="6083332" y="888077"/>
                </a:lnTo>
                <a:lnTo>
                  <a:pt x="6099699" y="970667"/>
                </a:lnTo>
                <a:lnTo>
                  <a:pt x="6116066" y="982731"/>
                </a:lnTo>
                <a:lnTo>
                  <a:pt x="6132433" y="1030058"/>
                </a:lnTo>
                <a:lnTo>
                  <a:pt x="6148800" y="838894"/>
                </a:lnTo>
                <a:lnTo>
                  <a:pt x="6165167" y="793423"/>
                </a:lnTo>
                <a:lnTo>
                  <a:pt x="6181535" y="693201"/>
                </a:lnTo>
                <a:lnTo>
                  <a:pt x="6197902" y="667218"/>
                </a:lnTo>
                <a:lnTo>
                  <a:pt x="6214269" y="691345"/>
                </a:lnTo>
                <a:lnTo>
                  <a:pt x="6230636" y="592051"/>
                </a:lnTo>
                <a:lnTo>
                  <a:pt x="6247003" y="646802"/>
                </a:lnTo>
                <a:lnTo>
                  <a:pt x="6263370" y="695985"/>
                </a:lnTo>
                <a:lnTo>
                  <a:pt x="6279737" y="636594"/>
                </a:lnTo>
                <a:lnTo>
                  <a:pt x="6296104" y="550292"/>
                </a:lnTo>
                <a:lnTo>
                  <a:pt x="6312472" y="540084"/>
                </a:lnTo>
                <a:lnTo>
                  <a:pt x="6328839" y="629171"/>
                </a:lnTo>
                <a:lnTo>
                  <a:pt x="6345206" y="604115"/>
                </a:lnTo>
                <a:lnTo>
                  <a:pt x="6361573" y="580916"/>
                </a:lnTo>
                <a:lnTo>
                  <a:pt x="6377940" y="730320"/>
                </a:lnTo>
                <a:lnTo>
                  <a:pt x="6394307" y="694129"/>
                </a:lnTo>
                <a:lnTo>
                  <a:pt x="6410674" y="751664"/>
                </a:lnTo>
                <a:lnTo>
                  <a:pt x="6427041" y="855598"/>
                </a:lnTo>
                <a:lnTo>
                  <a:pt x="6443409" y="864878"/>
                </a:lnTo>
                <a:lnTo>
                  <a:pt x="6459776" y="847246"/>
                </a:lnTo>
                <a:lnTo>
                  <a:pt x="6476143" y="920556"/>
                </a:lnTo>
                <a:lnTo>
                  <a:pt x="6492510" y="931692"/>
                </a:lnTo>
                <a:lnTo>
                  <a:pt x="6508877" y="1003147"/>
                </a:lnTo>
                <a:lnTo>
                  <a:pt x="6525244" y="965099"/>
                </a:lnTo>
                <a:lnTo>
                  <a:pt x="6541611" y="950252"/>
                </a:lnTo>
                <a:lnTo>
                  <a:pt x="6557978" y="954892"/>
                </a:lnTo>
                <a:lnTo>
                  <a:pt x="6574346" y="1035626"/>
                </a:lnTo>
                <a:lnTo>
                  <a:pt x="6590713" y="962315"/>
                </a:lnTo>
                <a:lnTo>
                  <a:pt x="6607080" y="1075529"/>
                </a:lnTo>
                <a:lnTo>
                  <a:pt x="6623447" y="1053258"/>
                </a:lnTo>
                <a:lnTo>
                  <a:pt x="6639814" y="1026346"/>
                </a:lnTo>
                <a:lnTo>
                  <a:pt x="6656181" y="1099657"/>
                </a:lnTo>
                <a:lnTo>
                  <a:pt x="6672548" y="1121928"/>
                </a:lnTo>
                <a:lnTo>
                  <a:pt x="6688915" y="1093161"/>
                </a:lnTo>
                <a:lnTo>
                  <a:pt x="6705283" y="1203590"/>
                </a:lnTo>
                <a:lnTo>
                  <a:pt x="6721650" y="1077385"/>
                </a:lnTo>
                <a:lnTo>
                  <a:pt x="6738017" y="1158119"/>
                </a:lnTo>
                <a:lnTo>
                  <a:pt x="6754384" y="1238854"/>
                </a:lnTo>
                <a:lnTo>
                  <a:pt x="6770751" y="1134920"/>
                </a:lnTo>
                <a:lnTo>
                  <a:pt x="6787118" y="1054186"/>
                </a:lnTo>
                <a:lnTo>
                  <a:pt x="6803485" y="1147912"/>
                </a:lnTo>
                <a:lnTo>
                  <a:pt x="6819852" y="1191527"/>
                </a:lnTo>
                <a:lnTo>
                  <a:pt x="6836220" y="1203590"/>
                </a:lnTo>
                <a:lnTo>
                  <a:pt x="6852587" y="1172967"/>
                </a:lnTo>
                <a:lnTo>
                  <a:pt x="6868954" y="1213798"/>
                </a:lnTo>
                <a:lnTo>
                  <a:pt x="6885321" y="1053258"/>
                </a:lnTo>
                <a:lnTo>
                  <a:pt x="6901688" y="850030"/>
                </a:lnTo>
                <a:lnTo>
                  <a:pt x="6918055" y="883437"/>
                </a:lnTo>
                <a:lnTo>
                  <a:pt x="6934422" y="724753"/>
                </a:lnTo>
                <a:lnTo>
                  <a:pt x="6950789" y="634738"/>
                </a:lnTo>
                <a:lnTo>
                  <a:pt x="6967157" y="689489"/>
                </a:lnTo>
                <a:lnTo>
                  <a:pt x="6983524" y="592979"/>
                </a:lnTo>
                <a:lnTo>
                  <a:pt x="6999891" y="558644"/>
                </a:lnTo>
                <a:lnTo>
                  <a:pt x="7016258" y="628243"/>
                </a:lnTo>
                <a:lnTo>
                  <a:pt x="7032625" y="615251"/>
                </a:lnTo>
                <a:lnTo>
                  <a:pt x="7048992" y="684849"/>
                </a:lnTo>
                <a:lnTo>
                  <a:pt x="7065359" y="762800"/>
                </a:lnTo>
                <a:lnTo>
                  <a:pt x="7081726" y="785999"/>
                </a:lnTo>
                <a:lnTo>
                  <a:pt x="7098094" y="733104"/>
                </a:lnTo>
                <a:lnTo>
                  <a:pt x="7114461" y="729392"/>
                </a:lnTo>
                <a:lnTo>
                  <a:pt x="7130828" y="869517"/>
                </a:lnTo>
                <a:lnTo>
                  <a:pt x="7147195" y="940044"/>
                </a:lnTo>
                <a:lnTo>
                  <a:pt x="7163562" y="913133"/>
                </a:lnTo>
                <a:lnTo>
                  <a:pt x="7179929" y="941900"/>
                </a:lnTo>
                <a:lnTo>
                  <a:pt x="7196296" y="1071817"/>
                </a:lnTo>
                <a:lnTo>
                  <a:pt x="7212663" y="987371"/>
                </a:lnTo>
                <a:lnTo>
                  <a:pt x="7229031" y="1030058"/>
                </a:lnTo>
                <a:lnTo>
                  <a:pt x="7245398" y="1099657"/>
                </a:lnTo>
                <a:lnTo>
                  <a:pt x="7261765" y="1031914"/>
                </a:lnTo>
                <a:lnTo>
                  <a:pt x="7278132" y="783215"/>
                </a:lnTo>
                <a:lnTo>
                  <a:pt x="7294499" y="637522"/>
                </a:lnTo>
                <a:lnTo>
                  <a:pt x="7310866" y="486262"/>
                </a:lnTo>
                <a:lnTo>
                  <a:pt x="7327233" y="488118"/>
                </a:lnTo>
                <a:lnTo>
                  <a:pt x="7343600" y="434295"/>
                </a:lnTo>
                <a:lnTo>
                  <a:pt x="7359968" y="421303"/>
                </a:lnTo>
                <a:lnTo>
                  <a:pt x="7376335" y="481622"/>
                </a:lnTo>
                <a:lnTo>
                  <a:pt x="7392702" y="489046"/>
                </a:lnTo>
                <a:lnTo>
                  <a:pt x="7409069" y="600403"/>
                </a:lnTo>
                <a:lnTo>
                  <a:pt x="7425436" y="669074"/>
                </a:lnTo>
                <a:lnTo>
                  <a:pt x="7441803" y="661650"/>
                </a:lnTo>
                <a:lnTo>
                  <a:pt x="7458170" y="762800"/>
                </a:lnTo>
                <a:lnTo>
                  <a:pt x="7474537" y="823118"/>
                </a:lnTo>
                <a:lnTo>
                  <a:pt x="7490905" y="784143"/>
                </a:lnTo>
                <a:lnTo>
                  <a:pt x="7507272" y="798063"/>
                </a:lnTo>
                <a:lnTo>
                  <a:pt x="7523639" y="779503"/>
                </a:lnTo>
                <a:lnTo>
                  <a:pt x="7540006" y="842606"/>
                </a:lnTo>
                <a:lnTo>
                  <a:pt x="7556373" y="826830"/>
                </a:lnTo>
                <a:lnTo>
                  <a:pt x="7572740" y="836110"/>
                </a:lnTo>
                <a:lnTo>
                  <a:pt x="7589107" y="870445"/>
                </a:lnTo>
                <a:lnTo>
                  <a:pt x="7605474" y="925196"/>
                </a:lnTo>
                <a:lnTo>
                  <a:pt x="7621842" y="921484"/>
                </a:lnTo>
                <a:lnTo>
                  <a:pt x="7638209" y="1006859"/>
                </a:lnTo>
                <a:lnTo>
                  <a:pt x="7654576" y="989227"/>
                </a:lnTo>
                <a:lnTo>
                  <a:pt x="7670943" y="1037482"/>
                </a:lnTo>
                <a:lnTo>
                  <a:pt x="7687310" y="1067177"/>
                </a:lnTo>
                <a:lnTo>
                  <a:pt x="7703677" y="1113576"/>
                </a:lnTo>
                <a:lnTo>
                  <a:pt x="7720044" y="1019850"/>
                </a:lnTo>
                <a:lnTo>
                  <a:pt x="7736411" y="942828"/>
                </a:lnTo>
                <a:lnTo>
                  <a:pt x="7752779" y="750736"/>
                </a:lnTo>
                <a:lnTo>
                  <a:pt x="7769146" y="624531"/>
                </a:lnTo>
                <a:lnTo>
                  <a:pt x="7785513" y="650514"/>
                </a:lnTo>
                <a:lnTo>
                  <a:pt x="7801880" y="605043"/>
                </a:lnTo>
                <a:lnTo>
                  <a:pt x="7818247" y="502037"/>
                </a:lnTo>
                <a:lnTo>
                  <a:pt x="7834614" y="575348"/>
                </a:lnTo>
                <a:lnTo>
                  <a:pt x="7850981" y="584628"/>
                </a:lnTo>
                <a:lnTo>
                  <a:pt x="7867348" y="546580"/>
                </a:lnTo>
                <a:lnTo>
                  <a:pt x="7883716" y="528949"/>
                </a:lnTo>
                <a:lnTo>
                  <a:pt x="7900083" y="615251"/>
                </a:lnTo>
                <a:lnTo>
                  <a:pt x="7916450" y="663506"/>
                </a:lnTo>
                <a:lnTo>
                  <a:pt x="7932817" y="657010"/>
                </a:lnTo>
                <a:lnTo>
                  <a:pt x="7949184" y="844462"/>
                </a:lnTo>
                <a:lnTo>
                  <a:pt x="7965551" y="892717"/>
                </a:lnTo>
                <a:lnTo>
                  <a:pt x="7981918" y="815695"/>
                </a:lnTo>
                <a:lnTo>
                  <a:pt x="7998285" y="855598"/>
                </a:lnTo>
                <a:lnTo>
                  <a:pt x="8014652" y="797135"/>
                </a:lnTo>
                <a:lnTo>
                  <a:pt x="8031020" y="909421"/>
                </a:lnTo>
                <a:lnTo>
                  <a:pt x="8047387" y="952108"/>
                </a:lnTo>
                <a:lnTo>
                  <a:pt x="8063754" y="947468"/>
                </a:lnTo>
                <a:lnTo>
                  <a:pt x="8080121" y="1039338"/>
                </a:lnTo>
                <a:lnTo>
                  <a:pt x="8096488" y="1021706"/>
                </a:lnTo>
                <a:lnTo>
                  <a:pt x="8112855" y="970667"/>
                </a:lnTo>
                <a:lnTo>
                  <a:pt x="8129222" y="984587"/>
                </a:lnTo>
                <a:lnTo>
                  <a:pt x="8145590" y="1061609"/>
                </a:lnTo>
                <a:lnTo>
                  <a:pt x="8161957" y="1036554"/>
                </a:lnTo>
                <a:lnTo>
                  <a:pt x="8178324" y="1130280"/>
                </a:lnTo>
                <a:lnTo>
                  <a:pt x="8194691" y="1043978"/>
                </a:lnTo>
                <a:lnTo>
                  <a:pt x="8211058" y="1074601"/>
                </a:lnTo>
                <a:lnTo>
                  <a:pt x="8227425" y="1049546"/>
                </a:lnTo>
                <a:lnTo>
                  <a:pt x="8243792" y="1209158"/>
                </a:lnTo>
                <a:lnTo>
                  <a:pt x="8260159" y="1113576"/>
                </a:lnTo>
                <a:lnTo>
                  <a:pt x="8276527" y="1095945"/>
                </a:lnTo>
                <a:lnTo>
                  <a:pt x="8292894" y="1153479"/>
                </a:lnTo>
                <a:lnTo>
                  <a:pt x="8309261" y="1187815"/>
                </a:lnTo>
                <a:lnTo>
                  <a:pt x="8325628" y="1165543"/>
                </a:lnTo>
                <a:lnTo>
                  <a:pt x="8341995" y="1112648"/>
                </a:lnTo>
                <a:lnTo>
                  <a:pt x="8358362" y="1238854"/>
                </a:lnTo>
                <a:lnTo>
                  <a:pt x="8374729" y="1185959"/>
                </a:lnTo>
                <a:lnTo>
                  <a:pt x="8391096" y="1177607"/>
                </a:lnTo>
                <a:lnTo>
                  <a:pt x="8407464" y="1223078"/>
                </a:lnTo>
                <a:lnTo>
                  <a:pt x="8423831" y="1153479"/>
                </a:lnTo>
                <a:lnTo>
                  <a:pt x="8440198" y="1162759"/>
                </a:lnTo>
                <a:lnTo>
                  <a:pt x="8456565" y="1025418"/>
                </a:lnTo>
                <a:lnTo>
                  <a:pt x="8472932" y="876941"/>
                </a:lnTo>
                <a:lnTo>
                  <a:pt x="8489299" y="734960"/>
                </a:lnTo>
                <a:lnTo>
                  <a:pt x="8505666" y="706193"/>
                </a:lnTo>
                <a:lnTo>
                  <a:pt x="8522033" y="670002"/>
                </a:lnTo>
                <a:lnTo>
                  <a:pt x="8538401" y="781359"/>
                </a:lnTo>
                <a:lnTo>
                  <a:pt x="8554768" y="734032"/>
                </a:lnTo>
                <a:lnTo>
                  <a:pt x="8571135" y="605043"/>
                </a:lnTo>
                <a:lnTo>
                  <a:pt x="8587502" y="711761"/>
                </a:lnTo>
                <a:lnTo>
                  <a:pt x="8603869" y="724753"/>
                </a:lnTo>
                <a:lnTo>
                  <a:pt x="8620236" y="811983"/>
                </a:lnTo>
                <a:lnTo>
                  <a:pt x="8636603" y="863950"/>
                </a:lnTo>
                <a:lnTo>
                  <a:pt x="8652970" y="963243"/>
                </a:lnTo>
                <a:lnTo>
                  <a:pt x="8669338" y="894573"/>
                </a:lnTo>
                <a:lnTo>
                  <a:pt x="8685705" y="936332"/>
                </a:lnTo>
                <a:lnTo>
                  <a:pt x="8702072" y="1068105"/>
                </a:lnTo>
                <a:lnTo>
                  <a:pt x="8718439" y="1029130"/>
                </a:lnTo>
                <a:lnTo>
                  <a:pt x="8734806" y="1050474"/>
                </a:lnTo>
                <a:lnTo>
                  <a:pt x="8751173" y="1078313"/>
                </a:lnTo>
                <a:lnTo>
                  <a:pt x="8767540" y="1209158"/>
                </a:lnTo>
                <a:lnTo>
                  <a:pt x="8783907" y="1050474"/>
                </a:lnTo>
                <a:lnTo>
                  <a:pt x="8800275" y="1115432"/>
                </a:lnTo>
                <a:lnTo>
                  <a:pt x="8816642" y="1066249"/>
                </a:lnTo>
                <a:lnTo>
                  <a:pt x="8833009" y="1192455"/>
                </a:lnTo>
                <a:lnTo>
                  <a:pt x="8849376" y="1216582"/>
                </a:lnTo>
                <a:lnTo>
                  <a:pt x="8865743" y="941900"/>
                </a:lnTo>
                <a:lnTo>
                  <a:pt x="8882110" y="661650"/>
                </a:lnTo>
                <a:lnTo>
                  <a:pt x="8898477" y="493685"/>
                </a:lnTo>
                <a:lnTo>
                  <a:pt x="8914844" y="328505"/>
                </a:lnTo>
                <a:lnTo>
                  <a:pt x="8931212" y="270970"/>
                </a:lnTo>
                <a:lnTo>
                  <a:pt x="8947579" y="376760"/>
                </a:lnTo>
                <a:lnTo>
                  <a:pt x="8963946" y="399959"/>
                </a:lnTo>
                <a:lnTo>
                  <a:pt x="8980313" y="458422"/>
                </a:lnTo>
                <a:lnTo>
                  <a:pt x="8996680" y="413879"/>
                </a:lnTo>
                <a:lnTo>
                  <a:pt x="9013047" y="533589"/>
                </a:lnTo>
                <a:lnTo>
                  <a:pt x="9029414" y="448214"/>
                </a:lnTo>
                <a:lnTo>
                  <a:pt x="9045781" y="598547"/>
                </a:lnTo>
                <a:lnTo>
                  <a:pt x="9062149" y="667218"/>
                </a:lnTo>
                <a:lnTo>
                  <a:pt x="9078516" y="580916"/>
                </a:lnTo>
                <a:lnTo>
                  <a:pt x="9094883" y="757232"/>
                </a:lnTo>
                <a:lnTo>
                  <a:pt x="9111250" y="683921"/>
                </a:lnTo>
                <a:lnTo>
                  <a:pt x="9127617" y="676498"/>
                </a:lnTo>
                <a:lnTo>
                  <a:pt x="9143984" y="537301"/>
                </a:lnTo>
                <a:lnTo>
                  <a:pt x="9160351" y="699697"/>
                </a:lnTo>
                <a:lnTo>
                  <a:pt x="9176718" y="726608"/>
                </a:lnTo>
                <a:lnTo>
                  <a:pt x="9193086" y="860238"/>
                </a:lnTo>
                <a:lnTo>
                  <a:pt x="9209453" y="779503"/>
                </a:lnTo>
                <a:lnTo>
                  <a:pt x="9225820" y="874157"/>
                </a:lnTo>
                <a:lnTo>
                  <a:pt x="9242187" y="876941"/>
                </a:lnTo>
                <a:lnTo>
                  <a:pt x="9258554" y="852814"/>
                </a:lnTo>
                <a:lnTo>
                  <a:pt x="9274921" y="930764"/>
                </a:lnTo>
                <a:lnTo>
                  <a:pt x="9291288" y="834254"/>
                </a:lnTo>
                <a:lnTo>
                  <a:pt x="9307655" y="784143"/>
                </a:lnTo>
                <a:lnTo>
                  <a:pt x="9324023" y="683921"/>
                </a:lnTo>
                <a:lnTo>
                  <a:pt x="9340390" y="631955"/>
                </a:lnTo>
                <a:lnTo>
                  <a:pt x="9356757" y="623603"/>
                </a:lnTo>
                <a:lnTo>
                  <a:pt x="9373124" y="663506"/>
                </a:lnTo>
                <a:lnTo>
                  <a:pt x="9389491" y="538229"/>
                </a:lnTo>
                <a:lnTo>
                  <a:pt x="9405858" y="634738"/>
                </a:lnTo>
                <a:lnTo>
                  <a:pt x="9422225" y="669074"/>
                </a:lnTo>
                <a:lnTo>
                  <a:pt x="9438592" y="545652"/>
                </a:lnTo>
                <a:lnTo>
                  <a:pt x="9454960" y="618963"/>
                </a:lnTo>
                <a:lnTo>
                  <a:pt x="9471327" y="573492"/>
                </a:lnTo>
                <a:lnTo>
                  <a:pt x="9487694" y="609683"/>
                </a:lnTo>
                <a:lnTo>
                  <a:pt x="9504061" y="733104"/>
                </a:lnTo>
                <a:lnTo>
                  <a:pt x="9520428" y="701553"/>
                </a:lnTo>
                <a:lnTo>
                  <a:pt x="9536795" y="719185"/>
                </a:lnTo>
                <a:lnTo>
                  <a:pt x="9553162" y="826830"/>
                </a:lnTo>
                <a:lnTo>
                  <a:pt x="9569529" y="850958"/>
                </a:lnTo>
                <a:lnTo>
                  <a:pt x="9585897" y="793423"/>
                </a:lnTo>
                <a:lnTo>
                  <a:pt x="9602264" y="991083"/>
                </a:lnTo>
                <a:lnTo>
                  <a:pt x="9618631" y="933548"/>
                </a:lnTo>
                <a:lnTo>
                  <a:pt x="9634998" y="868589"/>
                </a:lnTo>
                <a:lnTo>
                  <a:pt x="9651365" y="1036554"/>
                </a:lnTo>
                <a:lnTo>
                  <a:pt x="9667732" y="1011498"/>
                </a:lnTo>
                <a:lnTo>
                  <a:pt x="9684099" y="998507"/>
                </a:lnTo>
                <a:lnTo>
                  <a:pt x="9700466" y="1218438"/>
                </a:lnTo>
                <a:lnTo>
                  <a:pt x="9716834" y="1532095"/>
                </a:lnTo>
                <a:lnTo>
                  <a:pt x="9733201" y="1698204"/>
                </a:lnTo>
                <a:lnTo>
                  <a:pt x="9749568" y="1749243"/>
                </a:lnTo>
                <a:lnTo>
                  <a:pt x="9765935" y="1395682"/>
                </a:lnTo>
                <a:lnTo>
                  <a:pt x="9782302" y="1264837"/>
                </a:lnTo>
                <a:lnTo>
                  <a:pt x="9798669" y="1086665"/>
                </a:lnTo>
                <a:lnTo>
                  <a:pt x="9815036" y="1115432"/>
                </a:lnTo>
                <a:lnTo>
                  <a:pt x="9831403" y="1039338"/>
                </a:lnTo>
                <a:lnTo>
                  <a:pt x="9847771" y="1118216"/>
                </a:lnTo>
                <a:lnTo>
                  <a:pt x="9864138" y="1161831"/>
                </a:lnTo>
                <a:lnTo>
                  <a:pt x="9880505" y="1165543"/>
                </a:lnTo>
                <a:lnTo>
                  <a:pt x="9896872" y="1224934"/>
                </a:lnTo>
                <a:lnTo>
                  <a:pt x="9913239" y="1123784"/>
                </a:lnTo>
                <a:lnTo>
                  <a:pt x="9929606" y="1204518"/>
                </a:lnTo>
                <a:lnTo>
                  <a:pt x="9945973" y="1258341"/>
                </a:lnTo>
                <a:lnTo>
                  <a:pt x="9962340" y="1170183"/>
                </a:lnTo>
                <a:lnTo>
                  <a:pt x="9978708" y="1220294"/>
                </a:lnTo>
                <a:lnTo>
                  <a:pt x="9995075" y="1198950"/>
                </a:lnTo>
                <a:lnTo>
                  <a:pt x="10011442" y="1093161"/>
                </a:lnTo>
                <a:lnTo>
                  <a:pt x="10027809" y="1059753"/>
                </a:lnTo>
                <a:lnTo>
                  <a:pt x="10044176" y="990155"/>
                </a:lnTo>
                <a:lnTo>
                  <a:pt x="10060543" y="959532"/>
                </a:lnTo>
                <a:lnTo>
                  <a:pt x="10076910" y="870445"/>
                </a:lnTo>
                <a:lnTo>
                  <a:pt x="10093277" y="872301"/>
                </a:lnTo>
                <a:lnTo>
                  <a:pt x="10109645" y="836110"/>
                </a:lnTo>
                <a:lnTo>
                  <a:pt x="10126012" y="689489"/>
                </a:lnTo>
                <a:lnTo>
                  <a:pt x="10142379" y="744240"/>
                </a:lnTo>
                <a:lnTo>
                  <a:pt x="10158746" y="820334"/>
                </a:lnTo>
                <a:lnTo>
                  <a:pt x="10175113" y="892717"/>
                </a:lnTo>
                <a:lnTo>
                  <a:pt x="10191480" y="965099"/>
                </a:lnTo>
                <a:lnTo>
                  <a:pt x="10207847" y="978091"/>
                </a:lnTo>
                <a:lnTo>
                  <a:pt x="10224214" y="837038"/>
                </a:lnTo>
                <a:lnTo>
                  <a:pt x="10240582" y="889005"/>
                </a:lnTo>
                <a:lnTo>
                  <a:pt x="10256949" y="999435"/>
                </a:lnTo>
                <a:lnTo>
                  <a:pt x="10273316" y="968811"/>
                </a:lnTo>
                <a:lnTo>
                  <a:pt x="10289683" y="1005931"/>
                </a:lnTo>
                <a:lnTo>
                  <a:pt x="10306050" y="1067177"/>
                </a:lnTo>
                <a:lnTo>
                  <a:pt x="10322417" y="1140488"/>
                </a:lnTo>
                <a:lnTo>
                  <a:pt x="10338784" y="1059753"/>
                </a:lnTo>
                <a:lnTo>
                  <a:pt x="10355151" y="1139560"/>
                </a:lnTo>
                <a:lnTo>
                  <a:pt x="10371519" y="1159975"/>
                </a:lnTo>
                <a:lnTo>
                  <a:pt x="10387886" y="1043978"/>
                </a:lnTo>
                <a:lnTo>
                  <a:pt x="10404253" y="1140488"/>
                </a:lnTo>
                <a:lnTo>
                  <a:pt x="10420620" y="1045834"/>
                </a:lnTo>
                <a:lnTo>
                  <a:pt x="10436987" y="869517"/>
                </a:lnTo>
                <a:lnTo>
                  <a:pt x="10453354" y="901069"/>
                </a:lnTo>
                <a:lnTo>
                  <a:pt x="10469721" y="653298"/>
                </a:lnTo>
                <a:lnTo>
                  <a:pt x="10486088" y="747952"/>
                </a:lnTo>
                <a:lnTo>
                  <a:pt x="10502456" y="590195"/>
                </a:lnTo>
                <a:lnTo>
                  <a:pt x="10518823" y="720113"/>
                </a:lnTo>
                <a:lnTo>
                  <a:pt x="10535190" y="633810"/>
                </a:lnTo>
                <a:lnTo>
                  <a:pt x="10551557" y="699697"/>
                </a:lnTo>
                <a:lnTo>
                  <a:pt x="10567924" y="682993"/>
                </a:lnTo>
                <a:lnTo>
                  <a:pt x="10584291" y="738672"/>
                </a:lnTo>
                <a:lnTo>
                  <a:pt x="10600658" y="785999"/>
                </a:lnTo>
                <a:lnTo>
                  <a:pt x="10617025" y="808271"/>
                </a:lnTo>
                <a:lnTo>
                  <a:pt x="10633393" y="938188"/>
                </a:lnTo>
                <a:lnTo>
                  <a:pt x="10649760" y="753520"/>
                </a:lnTo>
                <a:lnTo>
                  <a:pt x="10666127" y="773935"/>
                </a:lnTo>
                <a:lnTo>
                  <a:pt x="10682494" y="708977"/>
                </a:lnTo>
                <a:lnTo>
                  <a:pt x="10698861" y="718257"/>
                </a:lnTo>
                <a:lnTo>
                  <a:pt x="10715228" y="901069"/>
                </a:lnTo>
                <a:lnTo>
                  <a:pt x="10731595" y="876013"/>
                </a:lnTo>
                <a:lnTo>
                  <a:pt x="10747962" y="889005"/>
                </a:lnTo>
                <a:lnTo>
                  <a:pt x="10764330" y="950252"/>
                </a:lnTo>
                <a:lnTo>
                  <a:pt x="10780697" y="842606"/>
                </a:lnTo>
                <a:lnTo>
                  <a:pt x="10797064" y="1003147"/>
                </a:lnTo>
                <a:lnTo>
                  <a:pt x="10813431" y="1033770"/>
                </a:lnTo>
                <a:lnTo>
                  <a:pt x="10829798" y="1218438"/>
                </a:lnTo>
                <a:lnTo>
                  <a:pt x="10846165" y="1007786"/>
                </a:lnTo>
                <a:lnTo>
                  <a:pt x="10862532" y="846318"/>
                </a:lnTo>
                <a:lnTo>
                  <a:pt x="10878899" y="757232"/>
                </a:lnTo>
                <a:lnTo>
                  <a:pt x="10895267" y="720113"/>
                </a:lnTo>
                <a:lnTo>
                  <a:pt x="10911634" y="509461"/>
                </a:lnTo>
                <a:lnTo>
                  <a:pt x="10928001" y="473270"/>
                </a:lnTo>
                <a:lnTo>
                  <a:pt x="10944368" y="545652"/>
                </a:lnTo>
                <a:lnTo>
                  <a:pt x="10960735" y="502037"/>
                </a:lnTo>
                <a:lnTo>
                  <a:pt x="10977102" y="627315"/>
                </a:lnTo>
                <a:lnTo>
                  <a:pt x="10993469" y="569780"/>
                </a:lnTo>
                <a:lnTo>
                  <a:pt x="11009836" y="528021"/>
                </a:lnTo>
                <a:lnTo>
                  <a:pt x="11026204" y="692273"/>
                </a:lnTo>
                <a:lnTo>
                  <a:pt x="11042571" y="823118"/>
                </a:lnTo>
                <a:lnTo>
                  <a:pt x="11058938" y="742384"/>
                </a:lnTo>
                <a:lnTo>
                  <a:pt x="11075305" y="781359"/>
                </a:lnTo>
              </a:path>
            </a:pathLst>
          </a:custGeom>
          <a:ln w="15875">
            <a:solidFill>
              <a:schemeClr val="accent2"/>
            </a:solidFill>
            <a:prstDash val="solid"/>
          </a:ln>
        </p:spPr>
      </p:sp>
      <p:sp>
        <p:nvSpPr>
          <p:cNvPr id="20" name="Estimate (the shadow)"/>
          <p:cNvSpPr/>
          <p:nvPr/>
        </p:nvSpPr>
        <p:spPr>
          <a:xfrm>
            <a:off x="548640" y="3913632"/>
            <a:ext cx="11091672" cy="1874520"/>
          </a:xfrm>
          <a:custGeom>
            <a:avLst/>
            <a:gdLst/>
            <a:ahLst/>
            <a:cxnLst/>
            <a:rect l="l" t="t" r="r" b="b"/>
            <a:pathLst>
              <a:path w="11091672" h="1874520">
                <a:moveTo>
                  <a:pt x="1664208" y="639378"/>
                </a:moveTo>
                <a:lnTo>
                  <a:pt x="1680575" y="656082"/>
                </a:lnTo>
                <a:lnTo>
                  <a:pt x="1696942" y="689489"/>
                </a:lnTo>
                <a:lnTo>
                  <a:pt x="1713309" y="703409"/>
                </a:lnTo>
                <a:lnTo>
                  <a:pt x="1729676" y="728464"/>
                </a:lnTo>
                <a:lnTo>
                  <a:pt x="1746044" y="740528"/>
                </a:lnTo>
                <a:lnTo>
                  <a:pt x="1762411" y="776719"/>
                </a:lnTo>
                <a:lnTo>
                  <a:pt x="1778778" y="785999"/>
                </a:lnTo>
                <a:lnTo>
                  <a:pt x="1795145" y="827758"/>
                </a:lnTo>
                <a:lnTo>
                  <a:pt x="1811512" y="835182"/>
                </a:lnTo>
                <a:lnTo>
                  <a:pt x="1827879" y="828686"/>
                </a:lnTo>
                <a:lnTo>
                  <a:pt x="1844246" y="834254"/>
                </a:lnTo>
                <a:lnTo>
                  <a:pt x="1860614" y="871373"/>
                </a:lnTo>
                <a:lnTo>
                  <a:pt x="1876981" y="876013"/>
                </a:lnTo>
                <a:lnTo>
                  <a:pt x="1893348" y="883437"/>
                </a:lnTo>
                <a:lnTo>
                  <a:pt x="1909715" y="887149"/>
                </a:lnTo>
                <a:lnTo>
                  <a:pt x="1926082" y="884365"/>
                </a:lnTo>
                <a:lnTo>
                  <a:pt x="1942449" y="887149"/>
                </a:lnTo>
                <a:lnTo>
                  <a:pt x="1958816" y="900141"/>
                </a:lnTo>
                <a:lnTo>
                  <a:pt x="1975183" y="902925"/>
                </a:lnTo>
                <a:lnTo>
                  <a:pt x="1991551" y="922412"/>
                </a:lnTo>
                <a:lnTo>
                  <a:pt x="2007918" y="924268"/>
                </a:lnTo>
                <a:lnTo>
                  <a:pt x="2024285" y="910349"/>
                </a:lnTo>
                <a:lnTo>
                  <a:pt x="2040652" y="911277"/>
                </a:lnTo>
                <a:lnTo>
                  <a:pt x="2057019" y="918700"/>
                </a:lnTo>
                <a:lnTo>
                  <a:pt x="2073386" y="920556"/>
                </a:lnTo>
                <a:lnTo>
                  <a:pt x="2089753" y="928908"/>
                </a:lnTo>
                <a:lnTo>
                  <a:pt x="2106120" y="929836"/>
                </a:lnTo>
                <a:lnTo>
                  <a:pt x="2122488" y="927052"/>
                </a:lnTo>
                <a:lnTo>
                  <a:pt x="2138855" y="927980"/>
                </a:lnTo>
                <a:lnTo>
                  <a:pt x="2155222" y="930764"/>
                </a:lnTo>
                <a:lnTo>
                  <a:pt x="2171589" y="929836"/>
                </a:lnTo>
                <a:lnTo>
                  <a:pt x="2187956" y="806415"/>
                </a:lnTo>
                <a:lnTo>
                  <a:pt x="2204323" y="742384"/>
                </a:lnTo>
                <a:lnTo>
                  <a:pt x="2220690" y="602259"/>
                </a:lnTo>
                <a:lnTo>
                  <a:pt x="2237057" y="570708"/>
                </a:lnTo>
                <a:lnTo>
                  <a:pt x="2253425" y="498325"/>
                </a:lnTo>
                <a:lnTo>
                  <a:pt x="2269792" y="492757"/>
                </a:lnTo>
                <a:lnTo>
                  <a:pt x="2286159" y="502037"/>
                </a:lnTo>
                <a:lnTo>
                  <a:pt x="2302526" y="510389"/>
                </a:lnTo>
                <a:lnTo>
                  <a:pt x="2318893" y="526165"/>
                </a:lnTo>
                <a:lnTo>
                  <a:pt x="2335260" y="540084"/>
                </a:lnTo>
                <a:lnTo>
                  <a:pt x="2351627" y="562356"/>
                </a:lnTo>
                <a:lnTo>
                  <a:pt x="2367994" y="577204"/>
                </a:lnTo>
                <a:lnTo>
                  <a:pt x="2384361" y="637522"/>
                </a:lnTo>
                <a:lnTo>
                  <a:pt x="2400729" y="651442"/>
                </a:lnTo>
                <a:lnTo>
                  <a:pt x="2417096" y="697841"/>
                </a:lnTo>
                <a:lnTo>
                  <a:pt x="2433463" y="711761"/>
                </a:lnTo>
                <a:lnTo>
                  <a:pt x="2449830" y="760016"/>
                </a:lnTo>
                <a:lnTo>
                  <a:pt x="2466197" y="772080"/>
                </a:lnTo>
                <a:lnTo>
                  <a:pt x="2482564" y="815695"/>
                </a:lnTo>
                <a:lnTo>
                  <a:pt x="2498931" y="826830"/>
                </a:lnTo>
                <a:lnTo>
                  <a:pt x="2515299" y="831470"/>
                </a:lnTo>
                <a:lnTo>
                  <a:pt x="2531666" y="840750"/>
                </a:lnTo>
                <a:lnTo>
                  <a:pt x="2548033" y="778575"/>
                </a:lnTo>
                <a:lnTo>
                  <a:pt x="2564400" y="721969"/>
                </a:lnTo>
                <a:lnTo>
                  <a:pt x="2580767" y="494613"/>
                </a:lnTo>
                <a:lnTo>
                  <a:pt x="2597134" y="432439"/>
                </a:lnTo>
                <a:lnTo>
                  <a:pt x="2613501" y="330361"/>
                </a:lnTo>
                <a:lnTo>
                  <a:pt x="2629868" y="309017"/>
                </a:lnTo>
                <a:lnTo>
                  <a:pt x="2646236" y="296954"/>
                </a:lnTo>
                <a:lnTo>
                  <a:pt x="2662603" y="300666"/>
                </a:lnTo>
                <a:lnTo>
                  <a:pt x="2678970" y="331289"/>
                </a:lnTo>
                <a:lnTo>
                  <a:pt x="2695337" y="347065"/>
                </a:lnTo>
                <a:lnTo>
                  <a:pt x="2711704" y="442647"/>
                </a:lnTo>
                <a:lnTo>
                  <a:pt x="2728071" y="463990"/>
                </a:lnTo>
                <a:lnTo>
                  <a:pt x="2744438" y="509461"/>
                </a:lnTo>
                <a:lnTo>
                  <a:pt x="2760805" y="529877"/>
                </a:lnTo>
                <a:lnTo>
                  <a:pt x="2777173" y="590195"/>
                </a:lnTo>
                <a:lnTo>
                  <a:pt x="2793540" y="589267"/>
                </a:lnTo>
                <a:lnTo>
                  <a:pt x="2809907" y="592979"/>
                </a:lnTo>
                <a:lnTo>
                  <a:pt x="2826274" y="588339"/>
                </a:lnTo>
                <a:lnTo>
                  <a:pt x="2842641" y="592979"/>
                </a:lnTo>
                <a:lnTo>
                  <a:pt x="2859008" y="599475"/>
                </a:lnTo>
                <a:lnTo>
                  <a:pt x="2875375" y="631955"/>
                </a:lnTo>
                <a:lnTo>
                  <a:pt x="2891742" y="647730"/>
                </a:lnTo>
                <a:lnTo>
                  <a:pt x="2908110" y="681137"/>
                </a:lnTo>
                <a:lnTo>
                  <a:pt x="2924477" y="695057"/>
                </a:lnTo>
                <a:lnTo>
                  <a:pt x="2940844" y="747024"/>
                </a:lnTo>
                <a:lnTo>
                  <a:pt x="2957211" y="759088"/>
                </a:lnTo>
                <a:lnTo>
                  <a:pt x="2973578" y="775791"/>
                </a:lnTo>
                <a:lnTo>
                  <a:pt x="2989945" y="784143"/>
                </a:lnTo>
                <a:lnTo>
                  <a:pt x="3006312" y="646802"/>
                </a:lnTo>
                <a:lnTo>
                  <a:pt x="3022679" y="577204"/>
                </a:lnTo>
                <a:lnTo>
                  <a:pt x="3039047" y="427799"/>
                </a:lnTo>
                <a:lnTo>
                  <a:pt x="3055414" y="396248"/>
                </a:lnTo>
                <a:lnTo>
                  <a:pt x="3071781" y="354488"/>
                </a:lnTo>
                <a:lnTo>
                  <a:pt x="3088148" y="353560"/>
                </a:lnTo>
                <a:lnTo>
                  <a:pt x="3104515" y="373048"/>
                </a:lnTo>
                <a:lnTo>
                  <a:pt x="3120882" y="386040"/>
                </a:lnTo>
                <a:lnTo>
                  <a:pt x="3137249" y="399031"/>
                </a:lnTo>
                <a:lnTo>
                  <a:pt x="3153616" y="417591"/>
                </a:lnTo>
                <a:lnTo>
                  <a:pt x="3169984" y="470486"/>
                </a:lnTo>
                <a:lnTo>
                  <a:pt x="3186351" y="489974"/>
                </a:lnTo>
                <a:lnTo>
                  <a:pt x="3202718" y="555860"/>
                </a:lnTo>
                <a:lnTo>
                  <a:pt x="3219085" y="572564"/>
                </a:lnTo>
                <a:lnTo>
                  <a:pt x="3235452" y="667218"/>
                </a:lnTo>
                <a:lnTo>
                  <a:pt x="3251819" y="681137"/>
                </a:lnTo>
                <a:lnTo>
                  <a:pt x="3268186" y="712689"/>
                </a:lnTo>
                <a:lnTo>
                  <a:pt x="3284553" y="724753"/>
                </a:lnTo>
                <a:lnTo>
                  <a:pt x="3300921" y="747952"/>
                </a:lnTo>
                <a:lnTo>
                  <a:pt x="3317288" y="758160"/>
                </a:lnTo>
                <a:lnTo>
                  <a:pt x="3333655" y="792495"/>
                </a:lnTo>
                <a:lnTo>
                  <a:pt x="3350022" y="800847"/>
                </a:lnTo>
                <a:lnTo>
                  <a:pt x="3366389" y="841678"/>
                </a:lnTo>
                <a:lnTo>
                  <a:pt x="3382756" y="848174"/>
                </a:lnTo>
                <a:lnTo>
                  <a:pt x="3399123" y="839822"/>
                </a:lnTo>
                <a:lnTo>
                  <a:pt x="3415490" y="844462"/>
                </a:lnTo>
                <a:lnTo>
                  <a:pt x="3431858" y="879725"/>
                </a:lnTo>
                <a:lnTo>
                  <a:pt x="3448225" y="883437"/>
                </a:lnTo>
                <a:lnTo>
                  <a:pt x="3464592" y="890861"/>
                </a:lnTo>
                <a:lnTo>
                  <a:pt x="3480959" y="893645"/>
                </a:lnTo>
                <a:lnTo>
                  <a:pt x="3497326" y="889933"/>
                </a:lnTo>
                <a:lnTo>
                  <a:pt x="3513693" y="892717"/>
                </a:lnTo>
                <a:lnTo>
                  <a:pt x="3530060" y="904781"/>
                </a:lnTo>
                <a:lnTo>
                  <a:pt x="3546427" y="906637"/>
                </a:lnTo>
                <a:lnTo>
                  <a:pt x="3562795" y="926124"/>
                </a:lnTo>
                <a:lnTo>
                  <a:pt x="3579162" y="927980"/>
                </a:lnTo>
                <a:lnTo>
                  <a:pt x="3595529" y="913133"/>
                </a:lnTo>
                <a:lnTo>
                  <a:pt x="3611896" y="914060"/>
                </a:lnTo>
                <a:lnTo>
                  <a:pt x="3628263" y="921484"/>
                </a:lnTo>
                <a:lnTo>
                  <a:pt x="3644630" y="922412"/>
                </a:lnTo>
                <a:lnTo>
                  <a:pt x="3660997" y="930764"/>
                </a:lnTo>
                <a:lnTo>
                  <a:pt x="3677364" y="931692"/>
                </a:lnTo>
                <a:lnTo>
                  <a:pt x="3693732" y="928908"/>
                </a:lnTo>
                <a:lnTo>
                  <a:pt x="3710099" y="929836"/>
                </a:lnTo>
                <a:lnTo>
                  <a:pt x="3726466" y="931692"/>
                </a:lnTo>
                <a:lnTo>
                  <a:pt x="3742833" y="932620"/>
                </a:lnTo>
                <a:lnTo>
                  <a:pt x="3759200" y="858382"/>
                </a:lnTo>
                <a:lnTo>
                  <a:pt x="3775567" y="831470"/>
                </a:lnTo>
                <a:lnTo>
                  <a:pt x="3791934" y="680209"/>
                </a:lnTo>
                <a:lnTo>
                  <a:pt x="3808301" y="625459"/>
                </a:lnTo>
                <a:lnTo>
                  <a:pt x="3824669" y="532661"/>
                </a:lnTo>
                <a:lnTo>
                  <a:pt x="3841036" y="510389"/>
                </a:lnTo>
                <a:lnTo>
                  <a:pt x="3857403" y="507605"/>
                </a:lnTo>
                <a:lnTo>
                  <a:pt x="3873770" y="505749"/>
                </a:lnTo>
                <a:lnTo>
                  <a:pt x="3890137" y="515029"/>
                </a:lnTo>
                <a:lnTo>
                  <a:pt x="3906504" y="525237"/>
                </a:lnTo>
                <a:lnTo>
                  <a:pt x="3922871" y="543796"/>
                </a:lnTo>
                <a:lnTo>
                  <a:pt x="3939238" y="557716"/>
                </a:lnTo>
                <a:lnTo>
                  <a:pt x="3955606" y="618035"/>
                </a:lnTo>
                <a:lnTo>
                  <a:pt x="3971973" y="632882"/>
                </a:lnTo>
                <a:lnTo>
                  <a:pt x="3988340" y="679282"/>
                </a:lnTo>
                <a:lnTo>
                  <a:pt x="4004707" y="693201"/>
                </a:lnTo>
                <a:lnTo>
                  <a:pt x="4021074" y="742384"/>
                </a:lnTo>
                <a:lnTo>
                  <a:pt x="4037441" y="755376"/>
                </a:lnTo>
                <a:lnTo>
                  <a:pt x="4053808" y="800847"/>
                </a:lnTo>
                <a:lnTo>
                  <a:pt x="4070175" y="811983"/>
                </a:lnTo>
                <a:lnTo>
                  <a:pt x="4086543" y="818479"/>
                </a:lnTo>
                <a:lnTo>
                  <a:pt x="4102910" y="828686"/>
                </a:lnTo>
                <a:lnTo>
                  <a:pt x="4119277" y="752592"/>
                </a:lnTo>
                <a:lnTo>
                  <a:pt x="4135644" y="674642"/>
                </a:lnTo>
                <a:lnTo>
                  <a:pt x="4152011" y="446358"/>
                </a:lnTo>
                <a:lnTo>
                  <a:pt x="4168378" y="388824"/>
                </a:lnTo>
                <a:lnTo>
                  <a:pt x="4184745" y="292314"/>
                </a:lnTo>
                <a:lnTo>
                  <a:pt x="4201112" y="275610"/>
                </a:lnTo>
                <a:lnTo>
                  <a:pt x="4217480" y="268186"/>
                </a:lnTo>
                <a:lnTo>
                  <a:pt x="4233847" y="275610"/>
                </a:lnTo>
                <a:lnTo>
                  <a:pt x="4250214" y="309945"/>
                </a:lnTo>
                <a:lnTo>
                  <a:pt x="4266581" y="329433"/>
                </a:lnTo>
                <a:lnTo>
                  <a:pt x="4282948" y="427799"/>
                </a:lnTo>
                <a:lnTo>
                  <a:pt x="4299315" y="450998"/>
                </a:lnTo>
                <a:lnTo>
                  <a:pt x="4315682" y="498325"/>
                </a:lnTo>
                <a:lnTo>
                  <a:pt x="4332049" y="521525"/>
                </a:lnTo>
                <a:lnTo>
                  <a:pt x="4348417" y="567924"/>
                </a:lnTo>
                <a:lnTo>
                  <a:pt x="4364784" y="555860"/>
                </a:lnTo>
                <a:lnTo>
                  <a:pt x="4381151" y="558644"/>
                </a:lnTo>
                <a:lnTo>
                  <a:pt x="4397518" y="555860"/>
                </a:lnTo>
                <a:lnTo>
                  <a:pt x="4413885" y="563284"/>
                </a:lnTo>
                <a:lnTo>
                  <a:pt x="4430252" y="572564"/>
                </a:lnTo>
                <a:lnTo>
                  <a:pt x="4446619" y="606899"/>
                </a:lnTo>
                <a:lnTo>
                  <a:pt x="4462986" y="626387"/>
                </a:lnTo>
                <a:lnTo>
                  <a:pt x="4479354" y="661650"/>
                </a:lnTo>
                <a:lnTo>
                  <a:pt x="4495721" y="677426"/>
                </a:lnTo>
                <a:lnTo>
                  <a:pt x="4512088" y="731248"/>
                </a:lnTo>
                <a:lnTo>
                  <a:pt x="4528455" y="744240"/>
                </a:lnTo>
                <a:lnTo>
                  <a:pt x="4544822" y="762800"/>
                </a:lnTo>
                <a:lnTo>
                  <a:pt x="4561189" y="774863"/>
                </a:lnTo>
                <a:lnTo>
                  <a:pt x="4577556" y="683921"/>
                </a:lnTo>
                <a:lnTo>
                  <a:pt x="4593923" y="622675"/>
                </a:lnTo>
                <a:lnTo>
                  <a:pt x="4610291" y="462134"/>
                </a:lnTo>
                <a:lnTo>
                  <a:pt x="4626658" y="418519"/>
                </a:lnTo>
                <a:lnTo>
                  <a:pt x="4643025" y="366552"/>
                </a:lnTo>
                <a:lnTo>
                  <a:pt x="4659392" y="356344"/>
                </a:lnTo>
                <a:lnTo>
                  <a:pt x="4675759" y="369336"/>
                </a:lnTo>
                <a:lnTo>
                  <a:pt x="4692126" y="377688"/>
                </a:lnTo>
                <a:lnTo>
                  <a:pt x="4708493" y="386040"/>
                </a:lnTo>
                <a:lnTo>
                  <a:pt x="4724860" y="403671"/>
                </a:lnTo>
                <a:lnTo>
                  <a:pt x="4741228" y="454710"/>
                </a:lnTo>
                <a:lnTo>
                  <a:pt x="4757595" y="474198"/>
                </a:lnTo>
                <a:lnTo>
                  <a:pt x="4773962" y="540084"/>
                </a:lnTo>
                <a:lnTo>
                  <a:pt x="4790329" y="557716"/>
                </a:lnTo>
                <a:lnTo>
                  <a:pt x="4806696" y="652370"/>
                </a:lnTo>
                <a:lnTo>
                  <a:pt x="4823063" y="667218"/>
                </a:lnTo>
                <a:lnTo>
                  <a:pt x="4839430" y="699697"/>
                </a:lnTo>
                <a:lnTo>
                  <a:pt x="4855797" y="712689"/>
                </a:lnTo>
                <a:lnTo>
                  <a:pt x="4872165" y="736816"/>
                </a:lnTo>
                <a:lnTo>
                  <a:pt x="4888532" y="747952"/>
                </a:lnTo>
                <a:lnTo>
                  <a:pt x="4904899" y="783215"/>
                </a:lnTo>
                <a:lnTo>
                  <a:pt x="4921266" y="792495"/>
                </a:lnTo>
                <a:lnTo>
                  <a:pt x="4937633" y="834254"/>
                </a:lnTo>
                <a:lnTo>
                  <a:pt x="4954000" y="840750"/>
                </a:lnTo>
                <a:lnTo>
                  <a:pt x="4970367" y="833326"/>
                </a:lnTo>
                <a:lnTo>
                  <a:pt x="4986734" y="838894"/>
                </a:lnTo>
                <a:lnTo>
                  <a:pt x="5003102" y="875085"/>
                </a:lnTo>
                <a:lnTo>
                  <a:pt x="5019469" y="878797"/>
                </a:lnTo>
                <a:lnTo>
                  <a:pt x="5035836" y="886221"/>
                </a:lnTo>
                <a:lnTo>
                  <a:pt x="5052203" y="889933"/>
                </a:lnTo>
                <a:lnTo>
                  <a:pt x="5068570" y="887149"/>
                </a:lnTo>
                <a:lnTo>
                  <a:pt x="5084937" y="889005"/>
                </a:lnTo>
                <a:lnTo>
                  <a:pt x="5101304" y="901997"/>
                </a:lnTo>
                <a:lnTo>
                  <a:pt x="5117671" y="904781"/>
                </a:lnTo>
                <a:lnTo>
                  <a:pt x="5134039" y="924268"/>
                </a:lnTo>
                <a:lnTo>
                  <a:pt x="5150406" y="926124"/>
                </a:lnTo>
                <a:lnTo>
                  <a:pt x="5166773" y="911277"/>
                </a:lnTo>
                <a:lnTo>
                  <a:pt x="5183140" y="913133"/>
                </a:lnTo>
                <a:lnTo>
                  <a:pt x="5199507" y="919628"/>
                </a:lnTo>
                <a:lnTo>
                  <a:pt x="5215874" y="921484"/>
                </a:lnTo>
                <a:lnTo>
                  <a:pt x="5232241" y="929836"/>
                </a:lnTo>
                <a:lnTo>
                  <a:pt x="5248608" y="930764"/>
                </a:lnTo>
                <a:lnTo>
                  <a:pt x="5264976" y="927980"/>
                </a:lnTo>
                <a:lnTo>
                  <a:pt x="5281343" y="928908"/>
                </a:lnTo>
                <a:lnTo>
                  <a:pt x="5297710" y="930764"/>
                </a:lnTo>
                <a:lnTo>
                  <a:pt x="5314077" y="932620"/>
                </a:lnTo>
                <a:lnTo>
                  <a:pt x="5330444" y="846318"/>
                </a:lnTo>
                <a:lnTo>
                  <a:pt x="5346811" y="789711"/>
                </a:lnTo>
                <a:lnTo>
                  <a:pt x="5363178" y="642162"/>
                </a:lnTo>
                <a:lnTo>
                  <a:pt x="5379545" y="598547"/>
                </a:lnTo>
                <a:lnTo>
                  <a:pt x="5395913" y="516885"/>
                </a:lnTo>
                <a:lnTo>
                  <a:pt x="5412280" y="502965"/>
                </a:lnTo>
                <a:lnTo>
                  <a:pt x="5428647" y="505749"/>
                </a:lnTo>
                <a:lnTo>
                  <a:pt x="5445014" y="508533"/>
                </a:lnTo>
                <a:lnTo>
                  <a:pt x="5461381" y="520597"/>
                </a:lnTo>
                <a:lnTo>
                  <a:pt x="5477748" y="531733"/>
                </a:lnTo>
                <a:lnTo>
                  <a:pt x="5494115" y="552148"/>
                </a:lnTo>
                <a:lnTo>
                  <a:pt x="5510482" y="566068"/>
                </a:lnTo>
                <a:lnTo>
                  <a:pt x="5526850" y="626387"/>
                </a:lnTo>
                <a:lnTo>
                  <a:pt x="5543217" y="640306"/>
                </a:lnTo>
                <a:lnTo>
                  <a:pt x="5559584" y="686705"/>
                </a:lnTo>
                <a:lnTo>
                  <a:pt x="5575951" y="700625"/>
                </a:lnTo>
                <a:lnTo>
                  <a:pt x="5592318" y="749808"/>
                </a:lnTo>
                <a:lnTo>
                  <a:pt x="5608685" y="761872"/>
                </a:lnTo>
                <a:lnTo>
                  <a:pt x="5625052" y="806415"/>
                </a:lnTo>
                <a:lnTo>
                  <a:pt x="5641419" y="817551"/>
                </a:lnTo>
                <a:lnTo>
                  <a:pt x="5657787" y="824046"/>
                </a:lnTo>
                <a:lnTo>
                  <a:pt x="5674154" y="833326"/>
                </a:lnTo>
                <a:lnTo>
                  <a:pt x="5690521" y="774863"/>
                </a:lnTo>
                <a:lnTo>
                  <a:pt x="5706888" y="734032"/>
                </a:lnTo>
                <a:lnTo>
                  <a:pt x="5723255" y="488118"/>
                </a:lnTo>
                <a:lnTo>
                  <a:pt x="5739622" y="404599"/>
                </a:lnTo>
                <a:lnTo>
                  <a:pt x="5755989" y="287674"/>
                </a:lnTo>
                <a:lnTo>
                  <a:pt x="5772356" y="257051"/>
                </a:lnTo>
                <a:lnTo>
                  <a:pt x="5788724" y="241275"/>
                </a:lnTo>
                <a:lnTo>
                  <a:pt x="5805091" y="244987"/>
                </a:lnTo>
                <a:lnTo>
                  <a:pt x="5821458" y="277466"/>
                </a:lnTo>
                <a:lnTo>
                  <a:pt x="5837825" y="296954"/>
                </a:lnTo>
                <a:lnTo>
                  <a:pt x="5854192" y="397176"/>
                </a:lnTo>
                <a:lnTo>
                  <a:pt x="5870559" y="422231"/>
                </a:lnTo>
                <a:lnTo>
                  <a:pt x="5886926" y="472342"/>
                </a:lnTo>
                <a:lnTo>
                  <a:pt x="5903293" y="497397"/>
                </a:lnTo>
                <a:lnTo>
                  <a:pt x="5919661" y="562356"/>
                </a:lnTo>
                <a:lnTo>
                  <a:pt x="5936028" y="579988"/>
                </a:lnTo>
                <a:lnTo>
                  <a:pt x="5952395" y="588339"/>
                </a:lnTo>
                <a:lnTo>
                  <a:pt x="5968762" y="581844"/>
                </a:lnTo>
                <a:lnTo>
                  <a:pt x="5985129" y="584628"/>
                </a:lnTo>
                <a:lnTo>
                  <a:pt x="6001496" y="589267"/>
                </a:lnTo>
                <a:lnTo>
                  <a:pt x="6017863" y="620819"/>
                </a:lnTo>
                <a:lnTo>
                  <a:pt x="6034230" y="636594"/>
                </a:lnTo>
                <a:lnTo>
                  <a:pt x="6050598" y="670002"/>
                </a:lnTo>
                <a:lnTo>
                  <a:pt x="6066965" y="683921"/>
                </a:lnTo>
                <a:lnTo>
                  <a:pt x="6083332" y="735888"/>
                </a:lnTo>
                <a:lnTo>
                  <a:pt x="6099699" y="747952"/>
                </a:lnTo>
                <a:lnTo>
                  <a:pt x="6116066" y="765584"/>
                </a:lnTo>
                <a:lnTo>
                  <a:pt x="6132433" y="776719"/>
                </a:lnTo>
                <a:lnTo>
                  <a:pt x="6148800" y="668146"/>
                </a:lnTo>
                <a:lnTo>
                  <a:pt x="6165167" y="606899"/>
                </a:lnTo>
                <a:lnTo>
                  <a:pt x="6181535" y="455638"/>
                </a:lnTo>
                <a:lnTo>
                  <a:pt x="6197902" y="419447"/>
                </a:lnTo>
                <a:lnTo>
                  <a:pt x="6214269" y="372120"/>
                </a:lnTo>
                <a:lnTo>
                  <a:pt x="6230636" y="363768"/>
                </a:lnTo>
                <a:lnTo>
                  <a:pt x="6247003" y="377688"/>
                </a:lnTo>
                <a:lnTo>
                  <a:pt x="6263370" y="385112"/>
                </a:lnTo>
                <a:lnTo>
                  <a:pt x="6279737" y="393464"/>
                </a:lnTo>
                <a:lnTo>
                  <a:pt x="6296104" y="409239"/>
                </a:lnTo>
                <a:lnTo>
                  <a:pt x="6312472" y="459350"/>
                </a:lnTo>
                <a:lnTo>
                  <a:pt x="6328839" y="476982"/>
                </a:lnTo>
                <a:lnTo>
                  <a:pt x="6345206" y="541940"/>
                </a:lnTo>
                <a:lnTo>
                  <a:pt x="6361573" y="558644"/>
                </a:lnTo>
                <a:lnTo>
                  <a:pt x="6377940" y="653298"/>
                </a:lnTo>
                <a:lnTo>
                  <a:pt x="6394307" y="667218"/>
                </a:lnTo>
                <a:lnTo>
                  <a:pt x="6410674" y="699697"/>
                </a:lnTo>
                <a:lnTo>
                  <a:pt x="6427041" y="711761"/>
                </a:lnTo>
                <a:lnTo>
                  <a:pt x="6443409" y="736816"/>
                </a:lnTo>
                <a:lnTo>
                  <a:pt x="6459776" y="747024"/>
                </a:lnTo>
                <a:lnTo>
                  <a:pt x="6476143" y="782287"/>
                </a:lnTo>
                <a:lnTo>
                  <a:pt x="6492510" y="790639"/>
                </a:lnTo>
                <a:lnTo>
                  <a:pt x="6508877" y="833326"/>
                </a:lnTo>
                <a:lnTo>
                  <a:pt x="6525244" y="839822"/>
                </a:lnTo>
                <a:lnTo>
                  <a:pt x="6541611" y="832398"/>
                </a:lnTo>
                <a:lnTo>
                  <a:pt x="6557978" y="837966"/>
                </a:lnTo>
                <a:lnTo>
                  <a:pt x="6574346" y="874157"/>
                </a:lnTo>
                <a:lnTo>
                  <a:pt x="6590713" y="878797"/>
                </a:lnTo>
                <a:lnTo>
                  <a:pt x="6607080" y="885293"/>
                </a:lnTo>
                <a:lnTo>
                  <a:pt x="6623447" y="889005"/>
                </a:lnTo>
                <a:lnTo>
                  <a:pt x="6639814" y="886221"/>
                </a:lnTo>
                <a:lnTo>
                  <a:pt x="6656181" y="889005"/>
                </a:lnTo>
                <a:lnTo>
                  <a:pt x="6672548" y="901997"/>
                </a:lnTo>
                <a:lnTo>
                  <a:pt x="6688915" y="903853"/>
                </a:lnTo>
                <a:lnTo>
                  <a:pt x="6705283" y="923340"/>
                </a:lnTo>
                <a:lnTo>
                  <a:pt x="6721650" y="925196"/>
                </a:lnTo>
                <a:lnTo>
                  <a:pt x="6738017" y="911277"/>
                </a:lnTo>
                <a:lnTo>
                  <a:pt x="6754384" y="912205"/>
                </a:lnTo>
                <a:lnTo>
                  <a:pt x="6770751" y="919628"/>
                </a:lnTo>
                <a:lnTo>
                  <a:pt x="6787118" y="920556"/>
                </a:lnTo>
                <a:lnTo>
                  <a:pt x="6803485" y="928908"/>
                </a:lnTo>
                <a:lnTo>
                  <a:pt x="6819852" y="930764"/>
                </a:lnTo>
                <a:lnTo>
                  <a:pt x="6836220" y="927052"/>
                </a:lnTo>
                <a:lnTo>
                  <a:pt x="6852587" y="928908"/>
                </a:lnTo>
                <a:lnTo>
                  <a:pt x="6868954" y="930764"/>
                </a:lnTo>
                <a:lnTo>
                  <a:pt x="6885321" y="929836"/>
                </a:lnTo>
                <a:lnTo>
                  <a:pt x="6901688" y="802703"/>
                </a:lnTo>
                <a:lnTo>
                  <a:pt x="6918055" y="733104"/>
                </a:lnTo>
                <a:lnTo>
                  <a:pt x="6934422" y="589267"/>
                </a:lnTo>
                <a:lnTo>
                  <a:pt x="6950789" y="554004"/>
                </a:lnTo>
                <a:lnTo>
                  <a:pt x="6967157" y="479766"/>
                </a:lnTo>
                <a:lnTo>
                  <a:pt x="6983524" y="473270"/>
                </a:lnTo>
                <a:lnTo>
                  <a:pt x="6999891" y="481622"/>
                </a:lnTo>
                <a:lnTo>
                  <a:pt x="7016258" y="489974"/>
                </a:lnTo>
                <a:lnTo>
                  <a:pt x="7032625" y="506677"/>
                </a:lnTo>
                <a:lnTo>
                  <a:pt x="7048992" y="521525"/>
                </a:lnTo>
                <a:lnTo>
                  <a:pt x="7065359" y="543796"/>
                </a:lnTo>
                <a:lnTo>
                  <a:pt x="7081726" y="560500"/>
                </a:lnTo>
                <a:lnTo>
                  <a:pt x="7098094" y="621747"/>
                </a:lnTo>
                <a:lnTo>
                  <a:pt x="7114461" y="637522"/>
                </a:lnTo>
                <a:lnTo>
                  <a:pt x="7130828" y="684849"/>
                </a:lnTo>
                <a:lnTo>
                  <a:pt x="7147195" y="698769"/>
                </a:lnTo>
                <a:lnTo>
                  <a:pt x="7163562" y="748880"/>
                </a:lnTo>
                <a:lnTo>
                  <a:pt x="7179929" y="761872"/>
                </a:lnTo>
                <a:lnTo>
                  <a:pt x="7196296" y="806415"/>
                </a:lnTo>
                <a:lnTo>
                  <a:pt x="7212663" y="817551"/>
                </a:lnTo>
                <a:lnTo>
                  <a:pt x="7229031" y="824046"/>
                </a:lnTo>
                <a:lnTo>
                  <a:pt x="7245398" y="833326"/>
                </a:lnTo>
                <a:lnTo>
                  <a:pt x="7261765" y="725681"/>
                </a:lnTo>
                <a:lnTo>
                  <a:pt x="7278132" y="627315"/>
                </a:lnTo>
                <a:lnTo>
                  <a:pt x="7294499" y="399031"/>
                </a:lnTo>
                <a:lnTo>
                  <a:pt x="7310866" y="347065"/>
                </a:lnTo>
                <a:lnTo>
                  <a:pt x="7327233" y="258906"/>
                </a:lnTo>
                <a:lnTo>
                  <a:pt x="7343600" y="252411"/>
                </a:lnTo>
                <a:lnTo>
                  <a:pt x="7359968" y="255195"/>
                </a:lnTo>
                <a:lnTo>
                  <a:pt x="7376335" y="270970"/>
                </a:lnTo>
                <a:lnTo>
                  <a:pt x="7392702" y="313657"/>
                </a:lnTo>
                <a:lnTo>
                  <a:pt x="7409069" y="338713"/>
                </a:lnTo>
                <a:lnTo>
                  <a:pt x="7425436" y="440791"/>
                </a:lnTo>
                <a:lnTo>
                  <a:pt x="7441803" y="466774"/>
                </a:lnTo>
                <a:lnTo>
                  <a:pt x="7458170" y="515957"/>
                </a:lnTo>
                <a:lnTo>
                  <a:pt x="7474537" y="539156"/>
                </a:lnTo>
                <a:lnTo>
                  <a:pt x="7490905" y="588339"/>
                </a:lnTo>
                <a:lnTo>
                  <a:pt x="7507272" y="580916"/>
                </a:lnTo>
                <a:lnTo>
                  <a:pt x="7523639" y="587411"/>
                </a:lnTo>
                <a:lnTo>
                  <a:pt x="7540006" y="587411"/>
                </a:lnTo>
                <a:lnTo>
                  <a:pt x="7556373" y="594835"/>
                </a:lnTo>
                <a:lnTo>
                  <a:pt x="7572740" y="605043"/>
                </a:lnTo>
                <a:lnTo>
                  <a:pt x="7589107" y="638450"/>
                </a:lnTo>
                <a:lnTo>
                  <a:pt x="7605474" y="656082"/>
                </a:lnTo>
                <a:lnTo>
                  <a:pt x="7621842" y="690417"/>
                </a:lnTo>
                <a:lnTo>
                  <a:pt x="7638209" y="705265"/>
                </a:lnTo>
                <a:lnTo>
                  <a:pt x="7654576" y="757232"/>
                </a:lnTo>
                <a:lnTo>
                  <a:pt x="7670943" y="769296"/>
                </a:lnTo>
                <a:lnTo>
                  <a:pt x="7687310" y="785999"/>
                </a:lnTo>
                <a:lnTo>
                  <a:pt x="7703677" y="796207"/>
                </a:lnTo>
                <a:lnTo>
                  <a:pt x="7720044" y="716401"/>
                </a:lnTo>
                <a:lnTo>
                  <a:pt x="7736411" y="667218"/>
                </a:lnTo>
                <a:lnTo>
                  <a:pt x="7752779" y="499253"/>
                </a:lnTo>
                <a:lnTo>
                  <a:pt x="7769146" y="444503"/>
                </a:lnTo>
                <a:lnTo>
                  <a:pt x="7785513" y="381400"/>
                </a:lnTo>
                <a:lnTo>
                  <a:pt x="7801880" y="361912"/>
                </a:lnTo>
                <a:lnTo>
                  <a:pt x="7818247" y="366552"/>
                </a:lnTo>
                <a:lnTo>
                  <a:pt x="7834614" y="368408"/>
                </a:lnTo>
                <a:lnTo>
                  <a:pt x="7850981" y="373048"/>
                </a:lnTo>
                <a:lnTo>
                  <a:pt x="7867348" y="386040"/>
                </a:lnTo>
                <a:lnTo>
                  <a:pt x="7883716" y="435223"/>
                </a:lnTo>
                <a:lnTo>
                  <a:pt x="7900083" y="453782"/>
                </a:lnTo>
                <a:lnTo>
                  <a:pt x="7916450" y="518741"/>
                </a:lnTo>
                <a:lnTo>
                  <a:pt x="7932817" y="537301"/>
                </a:lnTo>
                <a:lnTo>
                  <a:pt x="7949184" y="632882"/>
                </a:lnTo>
                <a:lnTo>
                  <a:pt x="7965551" y="649586"/>
                </a:lnTo>
                <a:lnTo>
                  <a:pt x="7981918" y="682065"/>
                </a:lnTo>
                <a:lnTo>
                  <a:pt x="7998285" y="695985"/>
                </a:lnTo>
                <a:lnTo>
                  <a:pt x="8014652" y="721041"/>
                </a:lnTo>
                <a:lnTo>
                  <a:pt x="8031020" y="733104"/>
                </a:lnTo>
                <a:lnTo>
                  <a:pt x="8047387" y="770224"/>
                </a:lnTo>
                <a:lnTo>
                  <a:pt x="8063754" y="779503"/>
                </a:lnTo>
                <a:lnTo>
                  <a:pt x="8080121" y="822190"/>
                </a:lnTo>
                <a:lnTo>
                  <a:pt x="8096488" y="830542"/>
                </a:lnTo>
                <a:lnTo>
                  <a:pt x="8112855" y="824046"/>
                </a:lnTo>
                <a:lnTo>
                  <a:pt x="8129222" y="830542"/>
                </a:lnTo>
                <a:lnTo>
                  <a:pt x="8145590" y="867661"/>
                </a:lnTo>
                <a:lnTo>
                  <a:pt x="8161957" y="872301"/>
                </a:lnTo>
                <a:lnTo>
                  <a:pt x="8178324" y="879725"/>
                </a:lnTo>
                <a:lnTo>
                  <a:pt x="8194691" y="884365"/>
                </a:lnTo>
                <a:lnTo>
                  <a:pt x="8211058" y="881581"/>
                </a:lnTo>
                <a:lnTo>
                  <a:pt x="8227425" y="884365"/>
                </a:lnTo>
                <a:lnTo>
                  <a:pt x="8243792" y="898285"/>
                </a:lnTo>
                <a:lnTo>
                  <a:pt x="8260159" y="901069"/>
                </a:lnTo>
                <a:lnTo>
                  <a:pt x="8276527" y="920556"/>
                </a:lnTo>
                <a:lnTo>
                  <a:pt x="8292894" y="922412"/>
                </a:lnTo>
                <a:lnTo>
                  <a:pt x="8309261" y="908493"/>
                </a:lnTo>
                <a:lnTo>
                  <a:pt x="8325628" y="910349"/>
                </a:lnTo>
                <a:lnTo>
                  <a:pt x="8341995" y="917772"/>
                </a:lnTo>
                <a:lnTo>
                  <a:pt x="8358362" y="918700"/>
                </a:lnTo>
                <a:lnTo>
                  <a:pt x="8374729" y="927980"/>
                </a:lnTo>
                <a:lnTo>
                  <a:pt x="8391096" y="928908"/>
                </a:lnTo>
                <a:lnTo>
                  <a:pt x="8407464" y="926124"/>
                </a:lnTo>
                <a:lnTo>
                  <a:pt x="8423831" y="927052"/>
                </a:lnTo>
                <a:lnTo>
                  <a:pt x="8440198" y="929836"/>
                </a:lnTo>
                <a:lnTo>
                  <a:pt x="8456565" y="928908"/>
                </a:lnTo>
                <a:lnTo>
                  <a:pt x="8472932" y="808271"/>
                </a:lnTo>
                <a:lnTo>
                  <a:pt x="8489299" y="747024"/>
                </a:lnTo>
                <a:lnTo>
                  <a:pt x="8505666" y="610611"/>
                </a:lnTo>
                <a:lnTo>
                  <a:pt x="8522033" y="582772"/>
                </a:lnTo>
                <a:lnTo>
                  <a:pt x="8538401" y="513173"/>
                </a:lnTo>
                <a:lnTo>
                  <a:pt x="8554768" y="510389"/>
                </a:lnTo>
                <a:lnTo>
                  <a:pt x="8571135" y="520597"/>
                </a:lnTo>
                <a:lnTo>
                  <a:pt x="8587502" y="529877"/>
                </a:lnTo>
                <a:lnTo>
                  <a:pt x="8603869" y="546580"/>
                </a:lnTo>
                <a:lnTo>
                  <a:pt x="8620236" y="559572"/>
                </a:lnTo>
                <a:lnTo>
                  <a:pt x="8636603" y="580916"/>
                </a:lnTo>
                <a:lnTo>
                  <a:pt x="8652970" y="595763"/>
                </a:lnTo>
                <a:lnTo>
                  <a:pt x="8669338" y="654226"/>
                </a:lnTo>
                <a:lnTo>
                  <a:pt x="8685705" y="668146"/>
                </a:lnTo>
                <a:lnTo>
                  <a:pt x="8702072" y="713617"/>
                </a:lnTo>
                <a:lnTo>
                  <a:pt x="8718439" y="725681"/>
                </a:lnTo>
                <a:lnTo>
                  <a:pt x="8734806" y="773935"/>
                </a:lnTo>
                <a:lnTo>
                  <a:pt x="8751173" y="784143"/>
                </a:lnTo>
                <a:lnTo>
                  <a:pt x="8767540" y="827758"/>
                </a:lnTo>
                <a:lnTo>
                  <a:pt x="8783907" y="837038"/>
                </a:lnTo>
                <a:lnTo>
                  <a:pt x="8800275" y="840750"/>
                </a:lnTo>
                <a:lnTo>
                  <a:pt x="8816642" y="849102"/>
                </a:lnTo>
                <a:lnTo>
                  <a:pt x="8833009" y="788783"/>
                </a:lnTo>
                <a:lnTo>
                  <a:pt x="8849376" y="775791"/>
                </a:lnTo>
                <a:lnTo>
                  <a:pt x="8865743" y="539156"/>
                </a:lnTo>
                <a:lnTo>
                  <a:pt x="8882110" y="448214"/>
                </a:lnTo>
                <a:lnTo>
                  <a:pt x="8898477" y="321081"/>
                </a:lnTo>
                <a:lnTo>
                  <a:pt x="8914844" y="282106"/>
                </a:lnTo>
                <a:lnTo>
                  <a:pt x="8931212" y="257978"/>
                </a:lnTo>
                <a:lnTo>
                  <a:pt x="8947579" y="254267"/>
                </a:lnTo>
                <a:lnTo>
                  <a:pt x="8963946" y="282106"/>
                </a:lnTo>
                <a:lnTo>
                  <a:pt x="8980313" y="296954"/>
                </a:lnTo>
                <a:lnTo>
                  <a:pt x="8996680" y="393464"/>
                </a:lnTo>
                <a:lnTo>
                  <a:pt x="9013047" y="416663"/>
                </a:lnTo>
                <a:lnTo>
                  <a:pt x="9029414" y="465846"/>
                </a:lnTo>
                <a:lnTo>
                  <a:pt x="9045781" y="489974"/>
                </a:lnTo>
                <a:lnTo>
                  <a:pt x="9062149" y="554932"/>
                </a:lnTo>
                <a:lnTo>
                  <a:pt x="9078516" y="576276"/>
                </a:lnTo>
                <a:lnTo>
                  <a:pt x="9094883" y="590195"/>
                </a:lnTo>
                <a:lnTo>
                  <a:pt x="9111250" y="583700"/>
                </a:lnTo>
                <a:lnTo>
                  <a:pt x="9127617" y="584628"/>
                </a:lnTo>
                <a:lnTo>
                  <a:pt x="9143984" y="588339"/>
                </a:lnTo>
                <a:lnTo>
                  <a:pt x="9160351" y="618035"/>
                </a:lnTo>
                <a:lnTo>
                  <a:pt x="9176718" y="632882"/>
                </a:lnTo>
                <a:lnTo>
                  <a:pt x="9193086" y="666290"/>
                </a:lnTo>
                <a:lnTo>
                  <a:pt x="9209453" y="679282"/>
                </a:lnTo>
                <a:lnTo>
                  <a:pt x="9225820" y="730320"/>
                </a:lnTo>
                <a:lnTo>
                  <a:pt x="9242187" y="743312"/>
                </a:lnTo>
                <a:lnTo>
                  <a:pt x="9258554" y="760016"/>
                </a:lnTo>
                <a:lnTo>
                  <a:pt x="9274921" y="768368"/>
                </a:lnTo>
                <a:lnTo>
                  <a:pt x="9291288" y="631027"/>
                </a:lnTo>
                <a:lnTo>
                  <a:pt x="9307655" y="560500"/>
                </a:lnTo>
                <a:lnTo>
                  <a:pt x="9324023" y="411095"/>
                </a:lnTo>
                <a:lnTo>
                  <a:pt x="9340390" y="381400"/>
                </a:lnTo>
                <a:lnTo>
                  <a:pt x="9356757" y="341497"/>
                </a:lnTo>
                <a:lnTo>
                  <a:pt x="9373124" y="342425"/>
                </a:lnTo>
                <a:lnTo>
                  <a:pt x="9389491" y="363768"/>
                </a:lnTo>
                <a:lnTo>
                  <a:pt x="9405858" y="379544"/>
                </a:lnTo>
                <a:lnTo>
                  <a:pt x="9422225" y="393464"/>
                </a:lnTo>
                <a:lnTo>
                  <a:pt x="9438592" y="413879"/>
                </a:lnTo>
                <a:lnTo>
                  <a:pt x="9454960" y="467702"/>
                </a:lnTo>
                <a:lnTo>
                  <a:pt x="9471327" y="488118"/>
                </a:lnTo>
                <a:lnTo>
                  <a:pt x="9487694" y="554004"/>
                </a:lnTo>
                <a:lnTo>
                  <a:pt x="9504061" y="571636"/>
                </a:lnTo>
                <a:lnTo>
                  <a:pt x="9520428" y="666290"/>
                </a:lnTo>
                <a:lnTo>
                  <a:pt x="9536795" y="680209"/>
                </a:lnTo>
                <a:lnTo>
                  <a:pt x="9553162" y="712689"/>
                </a:lnTo>
                <a:lnTo>
                  <a:pt x="9569529" y="724753"/>
                </a:lnTo>
                <a:lnTo>
                  <a:pt x="9585897" y="747952"/>
                </a:lnTo>
                <a:lnTo>
                  <a:pt x="9602264" y="758160"/>
                </a:lnTo>
                <a:lnTo>
                  <a:pt x="9618631" y="792495"/>
                </a:lnTo>
                <a:lnTo>
                  <a:pt x="9634998" y="800847"/>
                </a:lnTo>
                <a:lnTo>
                  <a:pt x="9651365" y="841678"/>
                </a:lnTo>
                <a:lnTo>
                  <a:pt x="9667732" y="848174"/>
                </a:lnTo>
                <a:lnTo>
                  <a:pt x="9684099" y="839822"/>
                </a:lnTo>
                <a:lnTo>
                  <a:pt x="9700466" y="844462"/>
                </a:lnTo>
                <a:lnTo>
                  <a:pt x="9716834" y="879725"/>
                </a:lnTo>
                <a:lnTo>
                  <a:pt x="9733201" y="883437"/>
                </a:lnTo>
                <a:lnTo>
                  <a:pt x="9749568" y="890861"/>
                </a:lnTo>
                <a:lnTo>
                  <a:pt x="9765935" y="893645"/>
                </a:lnTo>
                <a:lnTo>
                  <a:pt x="9782302" y="889933"/>
                </a:lnTo>
                <a:lnTo>
                  <a:pt x="9798669" y="892717"/>
                </a:lnTo>
                <a:lnTo>
                  <a:pt x="9815036" y="904781"/>
                </a:lnTo>
                <a:lnTo>
                  <a:pt x="9831403" y="906637"/>
                </a:lnTo>
                <a:lnTo>
                  <a:pt x="9847771" y="926124"/>
                </a:lnTo>
                <a:lnTo>
                  <a:pt x="9864138" y="927980"/>
                </a:lnTo>
                <a:lnTo>
                  <a:pt x="9880505" y="913133"/>
                </a:lnTo>
                <a:lnTo>
                  <a:pt x="9896872" y="914988"/>
                </a:lnTo>
                <a:lnTo>
                  <a:pt x="9913239" y="921484"/>
                </a:lnTo>
                <a:lnTo>
                  <a:pt x="9929606" y="922412"/>
                </a:lnTo>
                <a:lnTo>
                  <a:pt x="9945973" y="930764"/>
                </a:lnTo>
                <a:lnTo>
                  <a:pt x="9962340" y="931692"/>
                </a:lnTo>
                <a:lnTo>
                  <a:pt x="9978708" y="928908"/>
                </a:lnTo>
                <a:lnTo>
                  <a:pt x="9995075" y="929836"/>
                </a:lnTo>
                <a:lnTo>
                  <a:pt x="10011442" y="931692"/>
                </a:lnTo>
                <a:lnTo>
                  <a:pt x="10027809" y="930764"/>
                </a:lnTo>
                <a:lnTo>
                  <a:pt x="10044176" y="810127"/>
                </a:lnTo>
                <a:lnTo>
                  <a:pt x="10060543" y="748880"/>
                </a:lnTo>
                <a:lnTo>
                  <a:pt x="10076910" y="610611"/>
                </a:lnTo>
                <a:lnTo>
                  <a:pt x="10093277" y="579060"/>
                </a:lnTo>
                <a:lnTo>
                  <a:pt x="10109645" y="505749"/>
                </a:lnTo>
                <a:lnTo>
                  <a:pt x="10126012" y="498325"/>
                </a:lnTo>
                <a:lnTo>
                  <a:pt x="10142379" y="506677"/>
                </a:lnTo>
                <a:lnTo>
                  <a:pt x="10158746" y="512245"/>
                </a:lnTo>
                <a:lnTo>
                  <a:pt x="10175113" y="527093"/>
                </a:lnTo>
                <a:lnTo>
                  <a:pt x="10191480" y="540084"/>
                </a:lnTo>
                <a:lnTo>
                  <a:pt x="10207847" y="560500"/>
                </a:lnTo>
                <a:lnTo>
                  <a:pt x="10224214" y="575348"/>
                </a:lnTo>
                <a:lnTo>
                  <a:pt x="10240582" y="634738"/>
                </a:lnTo>
                <a:lnTo>
                  <a:pt x="10256949" y="648658"/>
                </a:lnTo>
                <a:lnTo>
                  <a:pt x="10273316" y="695057"/>
                </a:lnTo>
                <a:lnTo>
                  <a:pt x="10289683" y="708977"/>
                </a:lnTo>
                <a:lnTo>
                  <a:pt x="10306050" y="757232"/>
                </a:lnTo>
                <a:lnTo>
                  <a:pt x="10322417" y="769296"/>
                </a:lnTo>
                <a:lnTo>
                  <a:pt x="10338784" y="813839"/>
                </a:lnTo>
                <a:lnTo>
                  <a:pt x="10355151" y="824046"/>
                </a:lnTo>
                <a:lnTo>
                  <a:pt x="10371519" y="829614"/>
                </a:lnTo>
                <a:lnTo>
                  <a:pt x="10387886" y="837966"/>
                </a:lnTo>
                <a:lnTo>
                  <a:pt x="10404253" y="779503"/>
                </a:lnTo>
                <a:lnTo>
                  <a:pt x="10420620" y="767440"/>
                </a:lnTo>
                <a:lnTo>
                  <a:pt x="10436987" y="531733"/>
                </a:lnTo>
                <a:lnTo>
                  <a:pt x="10453354" y="443575"/>
                </a:lnTo>
                <a:lnTo>
                  <a:pt x="10469721" y="320153"/>
                </a:lnTo>
                <a:lnTo>
                  <a:pt x="10486088" y="284890"/>
                </a:lnTo>
                <a:lnTo>
                  <a:pt x="10502456" y="264474"/>
                </a:lnTo>
                <a:lnTo>
                  <a:pt x="10518823" y="264474"/>
                </a:lnTo>
                <a:lnTo>
                  <a:pt x="10535190" y="295098"/>
                </a:lnTo>
                <a:lnTo>
                  <a:pt x="10551557" y="312729"/>
                </a:lnTo>
                <a:lnTo>
                  <a:pt x="10567924" y="411095"/>
                </a:lnTo>
                <a:lnTo>
                  <a:pt x="10584291" y="434295"/>
                </a:lnTo>
                <a:lnTo>
                  <a:pt x="10600658" y="483478"/>
                </a:lnTo>
                <a:lnTo>
                  <a:pt x="10617025" y="507605"/>
                </a:lnTo>
                <a:lnTo>
                  <a:pt x="10633393" y="565140"/>
                </a:lnTo>
                <a:lnTo>
                  <a:pt x="10649760" y="558644"/>
                </a:lnTo>
                <a:lnTo>
                  <a:pt x="10666127" y="564212"/>
                </a:lnTo>
                <a:lnTo>
                  <a:pt x="10682494" y="563284"/>
                </a:lnTo>
                <a:lnTo>
                  <a:pt x="10698861" y="571636"/>
                </a:lnTo>
                <a:lnTo>
                  <a:pt x="10715228" y="582772"/>
                </a:lnTo>
                <a:lnTo>
                  <a:pt x="10731595" y="618963"/>
                </a:lnTo>
                <a:lnTo>
                  <a:pt x="10747962" y="638450"/>
                </a:lnTo>
                <a:lnTo>
                  <a:pt x="10764330" y="675570"/>
                </a:lnTo>
                <a:lnTo>
                  <a:pt x="10780697" y="691345"/>
                </a:lnTo>
                <a:lnTo>
                  <a:pt x="10797064" y="745168"/>
                </a:lnTo>
                <a:lnTo>
                  <a:pt x="10813431" y="759088"/>
                </a:lnTo>
                <a:lnTo>
                  <a:pt x="10829798" y="776719"/>
                </a:lnTo>
                <a:lnTo>
                  <a:pt x="10846165" y="785071"/>
                </a:lnTo>
                <a:lnTo>
                  <a:pt x="10862532" y="631027"/>
                </a:lnTo>
                <a:lnTo>
                  <a:pt x="10878899" y="541012"/>
                </a:lnTo>
                <a:lnTo>
                  <a:pt x="10895267" y="374904"/>
                </a:lnTo>
                <a:lnTo>
                  <a:pt x="10911634" y="334073"/>
                </a:lnTo>
                <a:lnTo>
                  <a:pt x="10928001" y="287674"/>
                </a:lnTo>
                <a:lnTo>
                  <a:pt x="10944368" y="284890"/>
                </a:lnTo>
                <a:lnTo>
                  <a:pt x="10960735" y="306233"/>
                </a:lnTo>
                <a:lnTo>
                  <a:pt x="10977102" y="322937"/>
                </a:lnTo>
                <a:lnTo>
                  <a:pt x="10993469" y="340569"/>
                </a:lnTo>
                <a:lnTo>
                  <a:pt x="11009836" y="363768"/>
                </a:lnTo>
                <a:lnTo>
                  <a:pt x="11026204" y="422231"/>
                </a:lnTo>
                <a:lnTo>
                  <a:pt x="11042571" y="446358"/>
                </a:lnTo>
                <a:lnTo>
                  <a:pt x="11058938" y="515957"/>
                </a:lnTo>
                <a:lnTo>
                  <a:pt x="11075305" y="537301"/>
                </a:lnTo>
              </a:path>
            </a:pathLst>
          </a:custGeom>
          <a:ln w="31750">
            <a:solidFill>
              <a:schemeClr val="accent6"/>
            </a:solidFill>
            <a:prstDash val="solid"/>
          </a:ln>
        </p:spPr>
      </p:sp>
      <p:sp>
        <p:nvSpPr>
          <p:cNvPr id="21" name="Meal tick"/>
          <p:cNvSpPr/>
          <p:nvPr/>
        </p:nvSpPr>
        <p:spPr>
          <a:xfrm>
            <a:off x="2698406" y="5660136"/>
            <a:ext cx="0" cy="128016"/>
          </a:xfrm>
          <a:prstGeom prst="line">
            <a:avLst/>
          </a:prstGeom>
          <a:noFill/>
          <a:ln w="15875">
            <a:solidFill>
              <a:schemeClr val="bg1"/>
            </a:solidFill>
            <a:prstDash val="solid"/>
          </a:ln>
        </p:spPr>
      </p:sp>
      <p:sp>
        <p:nvSpPr>
          <p:cNvPr id="22" name="Meal tick"/>
          <p:cNvSpPr/>
          <p:nvPr/>
        </p:nvSpPr>
        <p:spPr>
          <a:xfrm>
            <a:off x="3074850" y="5660136"/>
            <a:ext cx="0" cy="128016"/>
          </a:xfrm>
          <a:prstGeom prst="line">
            <a:avLst/>
          </a:prstGeom>
          <a:noFill/>
          <a:ln w="15875">
            <a:solidFill>
              <a:schemeClr val="bg1"/>
            </a:solidFill>
            <a:prstDash val="solid"/>
          </a:ln>
        </p:spPr>
      </p:sp>
      <p:sp>
        <p:nvSpPr>
          <p:cNvPr id="23" name="Meal tick"/>
          <p:cNvSpPr/>
          <p:nvPr/>
        </p:nvSpPr>
        <p:spPr>
          <a:xfrm>
            <a:off x="3303990" y="5660136"/>
            <a:ext cx="0" cy="128016"/>
          </a:xfrm>
          <a:prstGeom prst="line">
            <a:avLst/>
          </a:prstGeom>
          <a:noFill/>
          <a:ln w="15875">
            <a:solidFill>
              <a:schemeClr val="bg1"/>
            </a:solidFill>
            <a:prstDash val="solid"/>
          </a:ln>
        </p:spPr>
      </p:sp>
      <p:sp>
        <p:nvSpPr>
          <p:cNvPr id="24" name="Meal tick"/>
          <p:cNvSpPr/>
          <p:nvPr/>
        </p:nvSpPr>
        <p:spPr>
          <a:xfrm>
            <a:off x="3516762" y="5660136"/>
            <a:ext cx="0" cy="128016"/>
          </a:xfrm>
          <a:prstGeom prst="line">
            <a:avLst/>
          </a:prstGeom>
          <a:noFill/>
          <a:ln w="15875">
            <a:solidFill>
              <a:schemeClr val="bg1"/>
            </a:solidFill>
            <a:prstDash val="solid"/>
          </a:ln>
        </p:spPr>
      </p:sp>
      <p:sp>
        <p:nvSpPr>
          <p:cNvPr id="25" name="Fingerstick"/>
          <p:cNvSpPr/>
          <p:nvPr/>
        </p:nvSpPr>
        <p:spPr>
          <a:xfrm>
            <a:off x="2616264" y="4647551"/>
            <a:ext cx="109728" cy="109728"/>
          </a:xfrm>
          <a:prstGeom prst="diamond">
            <a:avLst/>
          </a:prstGeom>
          <a:solidFill>
            <a:srgbClr val="FF5C93"/>
          </a:solidFill>
          <a:ln w="12700">
            <a:solidFill>
              <a:srgbClr val="FF5C93"/>
            </a:solidFill>
            <a:prstDash val="solid"/>
          </a:ln>
        </p:spPr>
      </p:sp>
      <p:sp>
        <p:nvSpPr>
          <p:cNvPr id="26" name="Fingerstick"/>
          <p:cNvSpPr/>
          <p:nvPr/>
        </p:nvSpPr>
        <p:spPr>
          <a:xfrm>
            <a:off x="2790846" y="4072203"/>
            <a:ext cx="109728" cy="109728"/>
          </a:xfrm>
          <a:prstGeom prst="diamond">
            <a:avLst/>
          </a:prstGeom>
          <a:solidFill>
            <a:srgbClr val="FF5C93"/>
          </a:solidFill>
          <a:ln w="12700">
            <a:solidFill>
              <a:srgbClr val="FF5C93"/>
            </a:solidFill>
            <a:prstDash val="solid"/>
          </a:ln>
        </p:spPr>
      </p:sp>
      <p:sp>
        <p:nvSpPr>
          <p:cNvPr id="27" name="Fingerstick"/>
          <p:cNvSpPr/>
          <p:nvPr/>
        </p:nvSpPr>
        <p:spPr>
          <a:xfrm>
            <a:off x="2987252" y="4471235"/>
            <a:ext cx="109728" cy="109728"/>
          </a:xfrm>
          <a:prstGeom prst="diamond">
            <a:avLst/>
          </a:prstGeom>
          <a:solidFill>
            <a:srgbClr val="FF5C93"/>
          </a:solidFill>
          <a:ln w="12700">
            <a:solidFill>
              <a:srgbClr val="FF5C93"/>
            </a:solidFill>
            <a:prstDash val="solid"/>
          </a:ln>
        </p:spPr>
      </p:sp>
      <p:sp>
        <p:nvSpPr>
          <p:cNvPr id="28" name="Fingerstick"/>
          <p:cNvSpPr/>
          <p:nvPr/>
        </p:nvSpPr>
        <p:spPr>
          <a:xfrm>
            <a:off x="3145467" y="4053644"/>
            <a:ext cx="109728" cy="109728"/>
          </a:xfrm>
          <a:prstGeom prst="diamond">
            <a:avLst/>
          </a:prstGeom>
          <a:solidFill>
            <a:srgbClr val="FF5C93"/>
          </a:solidFill>
          <a:ln w="12700">
            <a:solidFill>
              <a:srgbClr val="FF5C93"/>
            </a:solidFill>
            <a:prstDash val="solid"/>
          </a:ln>
        </p:spPr>
      </p:sp>
      <p:sp>
        <p:nvSpPr>
          <p:cNvPr id="29" name="Fingerstick"/>
          <p:cNvSpPr/>
          <p:nvPr/>
        </p:nvSpPr>
        <p:spPr>
          <a:xfrm>
            <a:off x="3445531" y="4378437"/>
            <a:ext cx="109728" cy="109728"/>
          </a:xfrm>
          <a:prstGeom prst="diamond">
            <a:avLst/>
          </a:prstGeom>
          <a:solidFill>
            <a:srgbClr val="FF5C93"/>
          </a:solidFill>
          <a:ln w="12700">
            <a:solidFill>
              <a:srgbClr val="FF5C93"/>
            </a:solidFill>
            <a:prstDash val="solid"/>
          </a:ln>
        </p:spPr>
      </p:sp>
      <p:sp>
        <p:nvSpPr>
          <p:cNvPr id="30" name="Fingerstick"/>
          <p:cNvSpPr/>
          <p:nvPr/>
        </p:nvSpPr>
        <p:spPr>
          <a:xfrm>
            <a:off x="3603747" y="3979405"/>
            <a:ext cx="109728" cy="109728"/>
          </a:xfrm>
          <a:prstGeom prst="diamond">
            <a:avLst/>
          </a:prstGeom>
          <a:solidFill>
            <a:srgbClr val="FF5C93"/>
          </a:solidFill>
          <a:ln w="12700">
            <a:solidFill>
              <a:srgbClr val="FF5C93"/>
            </a:solidFill>
            <a:prstDash val="solid"/>
          </a:ln>
        </p:spPr>
      </p:sp>
      <p:sp>
        <p:nvSpPr>
          <p:cNvPr id="31" name="Text 29"/>
          <p:cNvSpPr txBox="1"/>
          <p:nvPr/>
        </p:nvSpPr>
        <p:spPr>
          <a:xfrm>
            <a:off x="2212848" y="5852160"/>
            <a:ext cx="1571244" cy="219456"/>
          </a:xfrm>
          <a:prstGeom prst="rect">
            <a:avLst/>
          </a:prstGeom>
          <a:noFill/>
          <a:ln/>
        </p:spPr>
        <p:txBody>
          <a:bodyPr wrap="square" lIns="0" tIns="0" rIns="0" bIns="0" rtlCol="0" anchor="t"/>
          <a:lstStyle/>
          <a:p>
            <a:pPr algn="ctr" indent="0" marL="0">
              <a:buNone/>
            </a:pPr>
            <a:r>
              <a:rPr lang="en-US" sz="1000" dirty="0">
                <a:solidFill>
                  <a:srgbClr val="A9A4D6"/>
                </a:solidFill>
              </a:rPr>
              <a:t>DAY 1</a:t>
            </a:r>
            <a:endParaRPr lang="en-US" sz="1000" dirty="0"/>
          </a:p>
        </p:txBody>
      </p:sp>
      <p:sp>
        <p:nvSpPr>
          <p:cNvPr id="32" name="Meal tick"/>
          <p:cNvSpPr/>
          <p:nvPr/>
        </p:nvSpPr>
        <p:spPr>
          <a:xfrm>
            <a:off x="4291473" y="5660136"/>
            <a:ext cx="0" cy="128016"/>
          </a:xfrm>
          <a:prstGeom prst="line">
            <a:avLst/>
          </a:prstGeom>
          <a:noFill/>
          <a:ln w="15875">
            <a:solidFill>
              <a:schemeClr val="bg1"/>
            </a:solidFill>
            <a:prstDash val="solid"/>
          </a:ln>
        </p:spPr>
      </p:sp>
      <p:sp>
        <p:nvSpPr>
          <p:cNvPr id="33" name="Meal tick"/>
          <p:cNvSpPr/>
          <p:nvPr/>
        </p:nvSpPr>
        <p:spPr>
          <a:xfrm>
            <a:off x="4640638" y="5660136"/>
            <a:ext cx="0" cy="128016"/>
          </a:xfrm>
          <a:prstGeom prst="line">
            <a:avLst/>
          </a:prstGeom>
          <a:noFill/>
          <a:ln w="15875">
            <a:solidFill>
              <a:schemeClr val="bg1"/>
            </a:solidFill>
            <a:prstDash val="solid"/>
          </a:ln>
        </p:spPr>
      </p:sp>
      <p:sp>
        <p:nvSpPr>
          <p:cNvPr id="34" name="Meal tick"/>
          <p:cNvSpPr/>
          <p:nvPr/>
        </p:nvSpPr>
        <p:spPr>
          <a:xfrm>
            <a:off x="4864322" y="5660136"/>
            <a:ext cx="0" cy="128016"/>
          </a:xfrm>
          <a:prstGeom prst="line">
            <a:avLst/>
          </a:prstGeom>
          <a:noFill/>
          <a:ln w="15875">
            <a:solidFill>
              <a:schemeClr val="bg1"/>
            </a:solidFill>
            <a:prstDash val="solid"/>
          </a:ln>
        </p:spPr>
      </p:sp>
      <p:sp>
        <p:nvSpPr>
          <p:cNvPr id="35" name="Meal tick"/>
          <p:cNvSpPr/>
          <p:nvPr/>
        </p:nvSpPr>
        <p:spPr>
          <a:xfrm>
            <a:off x="5098918" y="5660136"/>
            <a:ext cx="0" cy="128016"/>
          </a:xfrm>
          <a:prstGeom prst="line">
            <a:avLst/>
          </a:prstGeom>
          <a:noFill/>
          <a:ln w="15875">
            <a:solidFill>
              <a:schemeClr val="bg1"/>
            </a:solidFill>
            <a:prstDash val="solid"/>
          </a:ln>
        </p:spPr>
      </p:sp>
      <p:sp>
        <p:nvSpPr>
          <p:cNvPr id="36" name="Fingerstick"/>
          <p:cNvSpPr/>
          <p:nvPr/>
        </p:nvSpPr>
        <p:spPr>
          <a:xfrm>
            <a:off x="4192963" y="4656831"/>
            <a:ext cx="109728" cy="109728"/>
          </a:xfrm>
          <a:prstGeom prst="diamond">
            <a:avLst/>
          </a:prstGeom>
          <a:solidFill>
            <a:srgbClr val="FF5C93"/>
          </a:solidFill>
          <a:ln w="12700">
            <a:solidFill>
              <a:srgbClr val="FF5C93"/>
            </a:solidFill>
            <a:prstDash val="solid"/>
          </a:ln>
        </p:spPr>
      </p:sp>
      <p:sp>
        <p:nvSpPr>
          <p:cNvPr id="37" name="Fingerstick"/>
          <p:cNvSpPr/>
          <p:nvPr/>
        </p:nvSpPr>
        <p:spPr>
          <a:xfrm>
            <a:off x="4378457" y="4044364"/>
            <a:ext cx="109728" cy="109728"/>
          </a:xfrm>
          <a:prstGeom prst="diamond">
            <a:avLst/>
          </a:prstGeom>
          <a:solidFill>
            <a:srgbClr val="FF5C93"/>
          </a:solidFill>
          <a:ln w="12700">
            <a:solidFill>
              <a:srgbClr val="FF5C93"/>
            </a:solidFill>
            <a:prstDash val="solid"/>
          </a:ln>
        </p:spPr>
      </p:sp>
      <p:sp>
        <p:nvSpPr>
          <p:cNvPr id="38" name="Fingerstick"/>
          <p:cNvSpPr/>
          <p:nvPr/>
        </p:nvSpPr>
        <p:spPr>
          <a:xfrm>
            <a:off x="4558496" y="4480515"/>
            <a:ext cx="109728" cy="109728"/>
          </a:xfrm>
          <a:prstGeom prst="diamond">
            <a:avLst/>
          </a:prstGeom>
          <a:solidFill>
            <a:srgbClr val="FF5C93"/>
          </a:solidFill>
          <a:ln w="12700">
            <a:solidFill>
              <a:srgbClr val="FF5C93"/>
            </a:solidFill>
            <a:prstDash val="solid"/>
          </a:ln>
        </p:spPr>
      </p:sp>
      <p:sp>
        <p:nvSpPr>
          <p:cNvPr id="39" name="Fingerstick"/>
          <p:cNvSpPr/>
          <p:nvPr/>
        </p:nvSpPr>
        <p:spPr>
          <a:xfrm>
            <a:off x="4716711" y="3951566"/>
            <a:ext cx="109728" cy="109728"/>
          </a:xfrm>
          <a:prstGeom prst="diamond">
            <a:avLst/>
          </a:prstGeom>
          <a:solidFill>
            <a:srgbClr val="FF5C93"/>
          </a:solidFill>
          <a:ln w="12700">
            <a:solidFill>
              <a:srgbClr val="FF5C93"/>
            </a:solidFill>
            <a:prstDash val="solid"/>
          </a:ln>
        </p:spPr>
      </p:sp>
      <p:sp>
        <p:nvSpPr>
          <p:cNvPr id="40" name="Fingerstick"/>
          <p:cNvSpPr/>
          <p:nvPr/>
        </p:nvSpPr>
        <p:spPr>
          <a:xfrm>
            <a:off x="5022231" y="4359877"/>
            <a:ext cx="109728" cy="109728"/>
          </a:xfrm>
          <a:prstGeom prst="diamond">
            <a:avLst/>
          </a:prstGeom>
          <a:solidFill>
            <a:srgbClr val="FF5C93"/>
          </a:solidFill>
          <a:ln w="12700">
            <a:solidFill>
              <a:srgbClr val="FF5C93"/>
            </a:solidFill>
            <a:prstDash val="solid"/>
          </a:ln>
        </p:spPr>
      </p:sp>
      <p:sp>
        <p:nvSpPr>
          <p:cNvPr id="41" name="Fingerstick"/>
          <p:cNvSpPr/>
          <p:nvPr/>
        </p:nvSpPr>
        <p:spPr>
          <a:xfrm>
            <a:off x="5169535" y="4053644"/>
            <a:ext cx="109728" cy="109728"/>
          </a:xfrm>
          <a:prstGeom prst="diamond">
            <a:avLst/>
          </a:prstGeom>
          <a:solidFill>
            <a:srgbClr val="FF5C93"/>
          </a:solidFill>
          <a:ln w="12700">
            <a:solidFill>
              <a:srgbClr val="FF5C93"/>
            </a:solidFill>
            <a:prstDash val="solid"/>
          </a:ln>
        </p:spPr>
      </p:sp>
      <p:sp>
        <p:nvSpPr>
          <p:cNvPr id="42" name="Text 40"/>
          <p:cNvSpPr txBox="1"/>
          <p:nvPr/>
        </p:nvSpPr>
        <p:spPr>
          <a:xfrm>
            <a:off x="3784092" y="5852160"/>
            <a:ext cx="1571244" cy="219456"/>
          </a:xfrm>
          <a:prstGeom prst="rect">
            <a:avLst/>
          </a:prstGeom>
          <a:noFill/>
          <a:ln/>
        </p:spPr>
        <p:txBody>
          <a:bodyPr wrap="square" lIns="0" tIns="0" rIns="0" bIns="0" rtlCol="0" anchor="t"/>
          <a:lstStyle/>
          <a:p>
            <a:pPr algn="ctr" indent="0" marL="0">
              <a:buNone/>
            </a:pPr>
            <a:r>
              <a:rPr lang="en-US" sz="1000" dirty="0">
                <a:solidFill>
                  <a:srgbClr val="A9A4D6"/>
                </a:solidFill>
              </a:rPr>
              <a:t>DAY 2</a:t>
            </a:r>
            <a:endParaRPr lang="en-US" sz="1000" dirty="0"/>
          </a:p>
        </p:txBody>
      </p:sp>
      <p:sp>
        <p:nvSpPr>
          <p:cNvPr id="43" name="Meal tick"/>
          <p:cNvSpPr/>
          <p:nvPr/>
        </p:nvSpPr>
        <p:spPr>
          <a:xfrm>
            <a:off x="5851805" y="5660136"/>
            <a:ext cx="0" cy="128016"/>
          </a:xfrm>
          <a:prstGeom prst="line">
            <a:avLst/>
          </a:prstGeom>
          <a:noFill/>
          <a:ln w="15875">
            <a:solidFill>
              <a:schemeClr val="bg1"/>
            </a:solidFill>
            <a:prstDash val="solid"/>
          </a:ln>
        </p:spPr>
      </p:sp>
      <p:sp>
        <p:nvSpPr>
          <p:cNvPr id="44" name="Meal tick"/>
          <p:cNvSpPr/>
          <p:nvPr/>
        </p:nvSpPr>
        <p:spPr>
          <a:xfrm>
            <a:off x="6222794" y="5660136"/>
            <a:ext cx="0" cy="128016"/>
          </a:xfrm>
          <a:prstGeom prst="line">
            <a:avLst/>
          </a:prstGeom>
          <a:noFill/>
          <a:ln w="15875">
            <a:solidFill>
              <a:schemeClr val="bg1"/>
            </a:solidFill>
            <a:prstDash val="solid"/>
          </a:ln>
        </p:spPr>
      </p:sp>
      <p:sp>
        <p:nvSpPr>
          <p:cNvPr id="45" name="Meal tick"/>
          <p:cNvSpPr/>
          <p:nvPr/>
        </p:nvSpPr>
        <p:spPr>
          <a:xfrm>
            <a:off x="6457389" y="5660136"/>
            <a:ext cx="0" cy="128016"/>
          </a:xfrm>
          <a:prstGeom prst="line">
            <a:avLst/>
          </a:prstGeom>
          <a:noFill/>
          <a:ln w="15875">
            <a:solidFill>
              <a:schemeClr val="bg1"/>
            </a:solidFill>
            <a:prstDash val="solid"/>
          </a:ln>
        </p:spPr>
      </p:sp>
      <p:sp>
        <p:nvSpPr>
          <p:cNvPr id="46" name="Meal tick"/>
          <p:cNvSpPr/>
          <p:nvPr/>
        </p:nvSpPr>
        <p:spPr>
          <a:xfrm>
            <a:off x="6664706" y="5660136"/>
            <a:ext cx="0" cy="128016"/>
          </a:xfrm>
          <a:prstGeom prst="line">
            <a:avLst/>
          </a:prstGeom>
          <a:noFill/>
          <a:ln w="15875">
            <a:solidFill>
              <a:schemeClr val="bg1"/>
            </a:solidFill>
            <a:prstDash val="solid"/>
          </a:ln>
        </p:spPr>
      </p:sp>
      <p:sp>
        <p:nvSpPr>
          <p:cNvPr id="47" name="Fingerstick"/>
          <p:cNvSpPr/>
          <p:nvPr/>
        </p:nvSpPr>
        <p:spPr>
          <a:xfrm>
            <a:off x="5753296" y="4721790"/>
            <a:ext cx="109728" cy="109728"/>
          </a:xfrm>
          <a:prstGeom prst="diamond">
            <a:avLst/>
          </a:prstGeom>
          <a:solidFill>
            <a:srgbClr val="FF5C93"/>
          </a:solidFill>
          <a:ln w="12700">
            <a:solidFill>
              <a:srgbClr val="FF5C93"/>
            </a:solidFill>
            <a:prstDash val="solid"/>
          </a:ln>
        </p:spPr>
      </p:sp>
      <p:sp>
        <p:nvSpPr>
          <p:cNvPr id="48" name="Fingerstick"/>
          <p:cNvSpPr/>
          <p:nvPr/>
        </p:nvSpPr>
        <p:spPr>
          <a:xfrm>
            <a:off x="5927878" y="4155722"/>
            <a:ext cx="109728" cy="109728"/>
          </a:xfrm>
          <a:prstGeom prst="diamond">
            <a:avLst/>
          </a:prstGeom>
          <a:solidFill>
            <a:srgbClr val="FF5C93"/>
          </a:solidFill>
          <a:ln w="12700">
            <a:solidFill>
              <a:srgbClr val="FF5C93"/>
            </a:solidFill>
            <a:prstDash val="solid"/>
          </a:ln>
        </p:spPr>
      </p:sp>
      <p:sp>
        <p:nvSpPr>
          <p:cNvPr id="49" name="Fingerstick"/>
          <p:cNvSpPr/>
          <p:nvPr/>
        </p:nvSpPr>
        <p:spPr>
          <a:xfrm>
            <a:off x="6151563" y="4749629"/>
            <a:ext cx="109728" cy="109728"/>
          </a:xfrm>
          <a:prstGeom prst="diamond">
            <a:avLst/>
          </a:prstGeom>
          <a:solidFill>
            <a:srgbClr val="FF5C93"/>
          </a:solidFill>
          <a:ln w="12700">
            <a:solidFill>
              <a:srgbClr val="FF5C93"/>
            </a:solidFill>
            <a:prstDash val="solid"/>
          </a:ln>
        </p:spPr>
      </p:sp>
      <p:sp>
        <p:nvSpPr>
          <p:cNvPr id="50" name="Fingerstick"/>
          <p:cNvSpPr/>
          <p:nvPr/>
        </p:nvSpPr>
        <p:spPr>
          <a:xfrm>
            <a:off x="6304322" y="4035084"/>
            <a:ext cx="109728" cy="109728"/>
          </a:xfrm>
          <a:prstGeom prst="diamond">
            <a:avLst/>
          </a:prstGeom>
          <a:solidFill>
            <a:srgbClr val="FF5C93"/>
          </a:solidFill>
          <a:ln w="12700">
            <a:solidFill>
              <a:srgbClr val="FF5C93"/>
            </a:solidFill>
            <a:prstDash val="solid"/>
          </a:ln>
        </p:spPr>
      </p:sp>
      <p:sp>
        <p:nvSpPr>
          <p:cNvPr id="51" name="Fingerstick"/>
          <p:cNvSpPr/>
          <p:nvPr/>
        </p:nvSpPr>
        <p:spPr>
          <a:xfrm>
            <a:off x="6609842" y="4703230"/>
            <a:ext cx="109728" cy="109728"/>
          </a:xfrm>
          <a:prstGeom prst="diamond">
            <a:avLst/>
          </a:prstGeom>
          <a:solidFill>
            <a:srgbClr val="FF5C93"/>
          </a:solidFill>
          <a:ln w="12700">
            <a:solidFill>
              <a:srgbClr val="FF5C93"/>
            </a:solidFill>
            <a:prstDash val="solid"/>
          </a:ln>
        </p:spPr>
      </p:sp>
      <p:sp>
        <p:nvSpPr>
          <p:cNvPr id="52" name="Fingerstick"/>
          <p:cNvSpPr/>
          <p:nvPr/>
        </p:nvSpPr>
        <p:spPr>
          <a:xfrm>
            <a:off x="6740779" y="4267079"/>
            <a:ext cx="109728" cy="109728"/>
          </a:xfrm>
          <a:prstGeom prst="diamond">
            <a:avLst/>
          </a:prstGeom>
          <a:solidFill>
            <a:srgbClr val="FF5C93"/>
          </a:solidFill>
          <a:ln w="12700">
            <a:solidFill>
              <a:srgbClr val="FF5C93"/>
            </a:solidFill>
            <a:prstDash val="solid"/>
          </a:ln>
        </p:spPr>
      </p:sp>
      <p:sp>
        <p:nvSpPr>
          <p:cNvPr id="53" name="Text 51"/>
          <p:cNvSpPr txBox="1"/>
          <p:nvPr/>
        </p:nvSpPr>
        <p:spPr>
          <a:xfrm>
            <a:off x="5355336" y="5852160"/>
            <a:ext cx="1571244" cy="219456"/>
          </a:xfrm>
          <a:prstGeom prst="rect">
            <a:avLst/>
          </a:prstGeom>
          <a:noFill/>
          <a:ln/>
        </p:spPr>
        <p:txBody>
          <a:bodyPr wrap="square" lIns="0" tIns="0" rIns="0" bIns="0" rtlCol="0" anchor="t"/>
          <a:lstStyle/>
          <a:p>
            <a:pPr algn="ctr" indent="0" marL="0">
              <a:buNone/>
            </a:pPr>
            <a:r>
              <a:rPr lang="en-US" sz="1000" dirty="0">
                <a:solidFill>
                  <a:srgbClr val="A9A4D6"/>
                </a:solidFill>
              </a:rPr>
              <a:t>DAY 3</a:t>
            </a:r>
            <a:endParaRPr lang="en-US" sz="1000" dirty="0"/>
          </a:p>
        </p:txBody>
      </p:sp>
      <p:sp>
        <p:nvSpPr>
          <p:cNvPr id="54" name="Meal tick"/>
          <p:cNvSpPr/>
          <p:nvPr/>
        </p:nvSpPr>
        <p:spPr>
          <a:xfrm>
            <a:off x="7412138" y="5660136"/>
            <a:ext cx="0" cy="128016"/>
          </a:xfrm>
          <a:prstGeom prst="line">
            <a:avLst/>
          </a:prstGeom>
          <a:noFill/>
          <a:ln w="15875">
            <a:solidFill>
              <a:schemeClr val="bg1"/>
            </a:solidFill>
            <a:prstDash val="solid"/>
          </a:ln>
        </p:spPr>
      </p:sp>
      <p:sp>
        <p:nvSpPr>
          <p:cNvPr id="55" name="Meal tick"/>
          <p:cNvSpPr/>
          <p:nvPr/>
        </p:nvSpPr>
        <p:spPr>
          <a:xfrm>
            <a:off x="7777671" y="5660136"/>
            <a:ext cx="0" cy="128016"/>
          </a:xfrm>
          <a:prstGeom prst="line">
            <a:avLst/>
          </a:prstGeom>
          <a:noFill/>
          <a:ln w="15875">
            <a:solidFill>
              <a:schemeClr val="bg1"/>
            </a:solidFill>
            <a:prstDash val="solid"/>
          </a:ln>
        </p:spPr>
      </p:sp>
      <p:sp>
        <p:nvSpPr>
          <p:cNvPr id="56" name="Meal tick"/>
          <p:cNvSpPr/>
          <p:nvPr/>
        </p:nvSpPr>
        <p:spPr>
          <a:xfrm>
            <a:off x="8006810" y="5660136"/>
            <a:ext cx="0" cy="128016"/>
          </a:xfrm>
          <a:prstGeom prst="line">
            <a:avLst/>
          </a:prstGeom>
          <a:noFill/>
          <a:ln w="15875">
            <a:solidFill>
              <a:schemeClr val="bg1"/>
            </a:solidFill>
            <a:prstDash val="solid"/>
          </a:ln>
        </p:spPr>
      </p:sp>
      <p:sp>
        <p:nvSpPr>
          <p:cNvPr id="57" name="Meal tick"/>
          <p:cNvSpPr/>
          <p:nvPr/>
        </p:nvSpPr>
        <p:spPr>
          <a:xfrm>
            <a:off x="8246861" y="5660136"/>
            <a:ext cx="0" cy="128016"/>
          </a:xfrm>
          <a:prstGeom prst="line">
            <a:avLst/>
          </a:prstGeom>
          <a:noFill/>
          <a:ln w="15875">
            <a:solidFill>
              <a:schemeClr val="bg1"/>
            </a:solidFill>
            <a:prstDash val="solid"/>
          </a:ln>
        </p:spPr>
      </p:sp>
      <p:sp>
        <p:nvSpPr>
          <p:cNvPr id="58" name="Fingerstick"/>
          <p:cNvSpPr/>
          <p:nvPr/>
        </p:nvSpPr>
        <p:spPr>
          <a:xfrm>
            <a:off x="7324540" y="4898106"/>
            <a:ext cx="109728" cy="109728"/>
          </a:xfrm>
          <a:prstGeom prst="diamond">
            <a:avLst/>
          </a:prstGeom>
          <a:solidFill>
            <a:srgbClr val="FF5C93"/>
          </a:solidFill>
          <a:ln w="12700">
            <a:solidFill>
              <a:srgbClr val="FF5C93"/>
            </a:solidFill>
            <a:prstDash val="solid"/>
          </a:ln>
        </p:spPr>
      </p:sp>
      <p:sp>
        <p:nvSpPr>
          <p:cNvPr id="59" name="Fingerstick"/>
          <p:cNvSpPr/>
          <p:nvPr/>
        </p:nvSpPr>
        <p:spPr>
          <a:xfrm>
            <a:off x="7515490" y="4313478"/>
            <a:ext cx="109728" cy="109728"/>
          </a:xfrm>
          <a:prstGeom prst="diamond">
            <a:avLst/>
          </a:prstGeom>
          <a:solidFill>
            <a:srgbClr val="FF5C93"/>
          </a:solidFill>
          <a:ln w="12700">
            <a:solidFill>
              <a:srgbClr val="FF5C93"/>
            </a:solidFill>
            <a:prstDash val="solid"/>
          </a:ln>
        </p:spPr>
      </p:sp>
      <p:sp>
        <p:nvSpPr>
          <p:cNvPr id="60" name="Fingerstick"/>
          <p:cNvSpPr/>
          <p:nvPr/>
        </p:nvSpPr>
        <p:spPr>
          <a:xfrm>
            <a:off x="7700984" y="4768189"/>
            <a:ext cx="109728" cy="109728"/>
          </a:xfrm>
          <a:prstGeom prst="diamond">
            <a:avLst/>
          </a:prstGeom>
          <a:solidFill>
            <a:srgbClr val="FF5C93"/>
          </a:solidFill>
          <a:ln w="12700">
            <a:solidFill>
              <a:srgbClr val="FF5C93"/>
            </a:solidFill>
            <a:prstDash val="solid"/>
          </a:ln>
        </p:spPr>
      </p:sp>
      <p:sp>
        <p:nvSpPr>
          <p:cNvPr id="61" name="Fingerstick"/>
          <p:cNvSpPr/>
          <p:nvPr/>
        </p:nvSpPr>
        <p:spPr>
          <a:xfrm>
            <a:off x="7881022" y="4090763"/>
            <a:ext cx="109728" cy="109728"/>
          </a:xfrm>
          <a:prstGeom prst="diamond">
            <a:avLst/>
          </a:prstGeom>
          <a:solidFill>
            <a:srgbClr val="FF5C93"/>
          </a:solidFill>
          <a:ln w="12700">
            <a:solidFill>
              <a:srgbClr val="FF5C93"/>
            </a:solidFill>
            <a:prstDash val="solid"/>
          </a:ln>
        </p:spPr>
      </p:sp>
      <p:sp>
        <p:nvSpPr>
          <p:cNvPr id="62" name="Fingerstick"/>
          <p:cNvSpPr/>
          <p:nvPr/>
        </p:nvSpPr>
        <p:spPr>
          <a:xfrm>
            <a:off x="8164719" y="4684670"/>
            <a:ext cx="109728" cy="109728"/>
          </a:xfrm>
          <a:prstGeom prst="diamond">
            <a:avLst/>
          </a:prstGeom>
          <a:solidFill>
            <a:srgbClr val="FF5C93"/>
          </a:solidFill>
          <a:ln w="12700">
            <a:solidFill>
              <a:srgbClr val="FF5C93"/>
            </a:solidFill>
            <a:prstDash val="solid"/>
          </a:ln>
        </p:spPr>
      </p:sp>
      <p:sp>
        <p:nvSpPr>
          <p:cNvPr id="63" name="Fingerstick"/>
          <p:cNvSpPr/>
          <p:nvPr/>
        </p:nvSpPr>
        <p:spPr>
          <a:xfrm>
            <a:off x="8333846" y="4192841"/>
            <a:ext cx="109728" cy="109728"/>
          </a:xfrm>
          <a:prstGeom prst="diamond">
            <a:avLst/>
          </a:prstGeom>
          <a:solidFill>
            <a:srgbClr val="FF5C93"/>
          </a:solidFill>
          <a:ln w="12700">
            <a:solidFill>
              <a:srgbClr val="FF5C93"/>
            </a:solidFill>
            <a:prstDash val="solid"/>
          </a:ln>
        </p:spPr>
      </p:sp>
      <p:sp>
        <p:nvSpPr>
          <p:cNvPr id="64" name="Text 62"/>
          <p:cNvSpPr txBox="1"/>
          <p:nvPr/>
        </p:nvSpPr>
        <p:spPr>
          <a:xfrm>
            <a:off x="6926580" y="5852160"/>
            <a:ext cx="1571244" cy="219456"/>
          </a:xfrm>
          <a:prstGeom prst="rect">
            <a:avLst/>
          </a:prstGeom>
          <a:noFill/>
          <a:ln/>
        </p:spPr>
        <p:txBody>
          <a:bodyPr wrap="square" lIns="0" tIns="0" rIns="0" bIns="0" rtlCol="0" anchor="t"/>
          <a:lstStyle/>
          <a:p>
            <a:pPr algn="ctr" indent="0" marL="0">
              <a:buNone/>
            </a:pPr>
            <a:r>
              <a:rPr lang="en-US" sz="1000" dirty="0">
                <a:solidFill>
                  <a:srgbClr val="A9A4D6"/>
                </a:solidFill>
              </a:rPr>
              <a:t>DAY 4</a:t>
            </a:r>
            <a:endParaRPr lang="en-US" sz="1000" dirty="0"/>
          </a:p>
        </p:txBody>
      </p:sp>
      <p:sp>
        <p:nvSpPr>
          <p:cNvPr id="65" name="Meal tick"/>
          <p:cNvSpPr/>
          <p:nvPr/>
        </p:nvSpPr>
        <p:spPr>
          <a:xfrm>
            <a:off x="8983382" y="5660136"/>
            <a:ext cx="0" cy="128016"/>
          </a:xfrm>
          <a:prstGeom prst="line">
            <a:avLst/>
          </a:prstGeom>
          <a:noFill/>
          <a:ln w="15875">
            <a:solidFill>
              <a:schemeClr val="bg1"/>
            </a:solidFill>
            <a:prstDash val="solid"/>
          </a:ln>
        </p:spPr>
      </p:sp>
      <p:sp>
        <p:nvSpPr>
          <p:cNvPr id="66" name="Meal tick"/>
          <p:cNvSpPr/>
          <p:nvPr/>
        </p:nvSpPr>
        <p:spPr>
          <a:xfrm>
            <a:off x="9370737" y="5660136"/>
            <a:ext cx="0" cy="128016"/>
          </a:xfrm>
          <a:prstGeom prst="line">
            <a:avLst/>
          </a:prstGeom>
          <a:noFill/>
          <a:ln w="15875">
            <a:solidFill>
              <a:schemeClr val="bg1"/>
            </a:solidFill>
            <a:prstDash val="solid"/>
          </a:ln>
        </p:spPr>
      </p:sp>
      <p:sp>
        <p:nvSpPr>
          <p:cNvPr id="67" name="Meal tick"/>
          <p:cNvSpPr/>
          <p:nvPr/>
        </p:nvSpPr>
        <p:spPr>
          <a:xfrm>
            <a:off x="9605333" y="5660136"/>
            <a:ext cx="0" cy="128016"/>
          </a:xfrm>
          <a:prstGeom prst="line">
            <a:avLst/>
          </a:prstGeom>
          <a:noFill/>
          <a:ln w="15875">
            <a:solidFill>
              <a:schemeClr val="bg1"/>
            </a:solidFill>
            <a:prstDash val="solid"/>
          </a:ln>
        </p:spPr>
      </p:sp>
      <p:sp>
        <p:nvSpPr>
          <p:cNvPr id="68" name="Meal tick"/>
          <p:cNvSpPr/>
          <p:nvPr/>
        </p:nvSpPr>
        <p:spPr>
          <a:xfrm>
            <a:off x="9801738" y="5660136"/>
            <a:ext cx="0" cy="128016"/>
          </a:xfrm>
          <a:prstGeom prst="line">
            <a:avLst/>
          </a:prstGeom>
          <a:noFill/>
          <a:ln w="15875">
            <a:solidFill>
              <a:schemeClr val="bg1"/>
            </a:solidFill>
            <a:prstDash val="solid"/>
          </a:ln>
        </p:spPr>
      </p:sp>
      <p:sp>
        <p:nvSpPr>
          <p:cNvPr id="69" name="Fingerstick"/>
          <p:cNvSpPr/>
          <p:nvPr/>
        </p:nvSpPr>
        <p:spPr>
          <a:xfrm>
            <a:off x="8906695" y="4879546"/>
            <a:ext cx="109728" cy="109728"/>
          </a:xfrm>
          <a:prstGeom prst="diamond">
            <a:avLst/>
          </a:prstGeom>
          <a:solidFill>
            <a:srgbClr val="FF5C93"/>
          </a:solidFill>
          <a:ln w="12700">
            <a:solidFill>
              <a:srgbClr val="FF5C93"/>
            </a:solidFill>
            <a:prstDash val="solid"/>
          </a:ln>
        </p:spPr>
      </p:sp>
      <p:sp>
        <p:nvSpPr>
          <p:cNvPr id="70" name="Fingerstick"/>
          <p:cNvSpPr/>
          <p:nvPr/>
        </p:nvSpPr>
        <p:spPr>
          <a:xfrm>
            <a:off x="9075822" y="4387717"/>
            <a:ext cx="109728" cy="109728"/>
          </a:xfrm>
          <a:prstGeom prst="diamond">
            <a:avLst/>
          </a:prstGeom>
          <a:solidFill>
            <a:srgbClr val="FF5C93"/>
          </a:solidFill>
          <a:ln w="12700">
            <a:solidFill>
              <a:srgbClr val="FF5C93"/>
            </a:solidFill>
            <a:prstDash val="solid"/>
          </a:ln>
        </p:spPr>
      </p:sp>
      <p:sp>
        <p:nvSpPr>
          <p:cNvPr id="71" name="Fingerstick"/>
          <p:cNvSpPr/>
          <p:nvPr/>
        </p:nvSpPr>
        <p:spPr>
          <a:xfrm>
            <a:off x="9277683" y="4693950"/>
            <a:ext cx="109728" cy="109728"/>
          </a:xfrm>
          <a:prstGeom prst="diamond">
            <a:avLst/>
          </a:prstGeom>
          <a:solidFill>
            <a:srgbClr val="FF5C93"/>
          </a:solidFill>
          <a:ln w="12700">
            <a:solidFill>
              <a:srgbClr val="FF5C93"/>
            </a:solidFill>
            <a:prstDash val="solid"/>
          </a:ln>
        </p:spPr>
      </p:sp>
      <p:sp>
        <p:nvSpPr>
          <p:cNvPr id="72" name="Fingerstick"/>
          <p:cNvSpPr/>
          <p:nvPr/>
        </p:nvSpPr>
        <p:spPr>
          <a:xfrm>
            <a:off x="9452266" y="3970126"/>
            <a:ext cx="109728" cy="109728"/>
          </a:xfrm>
          <a:prstGeom prst="diamond">
            <a:avLst/>
          </a:prstGeom>
          <a:solidFill>
            <a:srgbClr val="FF5C93"/>
          </a:solidFill>
          <a:ln w="12700">
            <a:solidFill>
              <a:srgbClr val="FF5C93"/>
            </a:solidFill>
            <a:prstDash val="solid"/>
          </a:ln>
        </p:spPr>
      </p:sp>
      <p:sp>
        <p:nvSpPr>
          <p:cNvPr id="73" name="Fingerstick"/>
          <p:cNvSpPr/>
          <p:nvPr/>
        </p:nvSpPr>
        <p:spPr>
          <a:xfrm>
            <a:off x="9735963" y="4666111"/>
            <a:ext cx="109728" cy="109728"/>
          </a:xfrm>
          <a:prstGeom prst="diamond">
            <a:avLst/>
          </a:prstGeom>
          <a:solidFill>
            <a:srgbClr val="FF5C93"/>
          </a:solidFill>
          <a:ln w="12700">
            <a:solidFill>
              <a:srgbClr val="FF5C93"/>
            </a:solidFill>
            <a:prstDash val="solid"/>
          </a:ln>
        </p:spPr>
      </p:sp>
      <p:sp>
        <p:nvSpPr>
          <p:cNvPr id="74" name="Fingerstick"/>
          <p:cNvSpPr/>
          <p:nvPr/>
        </p:nvSpPr>
        <p:spPr>
          <a:xfrm>
            <a:off x="9905090" y="4220680"/>
            <a:ext cx="109728" cy="109728"/>
          </a:xfrm>
          <a:prstGeom prst="diamond">
            <a:avLst/>
          </a:prstGeom>
          <a:solidFill>
            <a:srgbClr val="FF5C93"/>
          </a:solidFill>
          <a:ln w="12700">
            <a:solidFill>
              <a:srgbClr val="FF5C93"/>
            </a:solidFill>
            <a:prstDash val="solid"/>
          </a:ln>
        </p:spPr>
      </p:sp>
      <p:sp>
        <p:nvSpPr>
          <p:cNvPr id="75" name="Text 73"/>
          <p:cNvSpPr txBox="1"/>
          <p:nvPr/>
        </p:nvSpPr>
        <p:spPr>
          <a:xfrm>
            <a:off x="8497824" y="5852160"/>
            <a:ext cx="1571244" cy="219456"/>
          </a:xfrm>
          <a:prstGeom prst="rect">
            <a:avLst/>
          </a:prstGeom>
          <a:noFill/>
          <a:ln/>
        </p:spPr>
        <p:txBody>
          <a:bodyPr wrap="square" lIns="0" tIns="0" rIns="0" bIns="0" rtlCol="0" anchor="t"/>
          <a:lstStyle/>
          <a:p>
            <a:pPr algn="ctr" indent="0" marL="0">
              <a:buNone/>
            </a:pPr>
            <a:r>
              <a:rPr lang="en-US" sz="1000" dirty="0">
                <a:solidFill>
                  <a:srgbClr val="A9A4D6"/>
                </a:solidFill>
              </a:rPr>
              <a:t>DAY 5</a:t>
            </a:r>
            <a:endParaRPr lang="en-US" sz="1000" dirty="0"/>
          </a:p>
        </p:txBody>
      </p:sp>
      <p:sp>
        <p:nvSpPr>
          <p:cNvPr id="76" name="Meal tick"/>
          <p:cNvSpPr/>
          <p:nvPr/>
        </p:nvSpPr>
        <p:spPr>
          <a:xfrm>
            <a:off x="10554626" y="5660136"/>
            <a:ext cx="0" cy="128016"/>
          </a:xfrm>
          <a:prstGeom prst="line">
            <a:avLst/>
          </a:prstGeom>
          <a:noFill/>
          <a:ln w="15875">
            <a:solidFill>
              <a:schemeClr val="bg1"/>
            </a:solidFill>
            <a:prstDash val="solid"/>
          </a:ln>
        </p:spPr>
      </p:sp>
      <p:sp>
        <p:nvSpPr>
          <p:cNvPr id="77" name="Meal tick"/>
          <p:cNvSpPr/>
          <p:nvPr/>
        </p:nvSpPr>
        <p:spPr>
          <a:xfrm>
            <a:off x="10941981" y="5660136"/>
            <a:ext cx="0" cy="128016"/>
          </a:xfrm>
          <a:prstGeom prst="line">
            <a:avLst/>
          </a:prstGeom>
          <a:noFill/>
          <a:ln w="15875">
            <a:solidFill>
              <a:schemeClr val="bg1"/>
            </a:solidFill>
            <a:prstDash val="solid"/>
          </a:ln>
        </p:spPr>
      </p:sp>
      <p:sp>
        <p:nvSpPr>
          <p:cNvPr id="78" name="Meal tick"/>
          <p:cNvSpPr/>
          <p:nvPr/>
        </p:nvSpPr>
        <p:spPr>
          <a:xfrm>
            <a:off x="11154754" y="5660136"/>
            <a:ext cx="0" cy="128016"/>
          </a:xfrm>
          <a:prstGeom prst="line">
            <a:avLst/>
          </a:prstGeom>
          <a:noFill/>
          <a:ln w="15875">
            <a:solidFill>
              <a:schemeClr val="bg1"/>
            </a:solidFill>
            <a:prstDash val="solid"/>
          </a:ln>
        </p:spPr>
      </p:sp>
      <p:sp>
        <p:nvSpPr>
          <p:cNvPr id="79" name="Meal tick"/>
          <p:cNvSpPr/>
          <p:nvPr/>
        </p:nvSpPr>
        <p:spPr>
          <a:xfrm>
            <a:off x="11372982" y="5660136"/>
            <a:ext cx="0" cy="128016"/>
          </a:xfrm>
          <a:prstGeom prst="line">
            <a:avLst/>
          </a:prstGeom>
          <a:noFill/>
          <a:ln w="15875">
            <a:solidFill>
              <a:schemeClr val="bg1"/>
            </a:solidFill>
            <a:prstDash val="solid"/>
          </a:ln>
        </p:spPr>
      </p:sp>
      <p:sp>
        <p:nvSpPr>
          <p:cNvPr id="80" name="Fingerstick"/>
          <p:cNvSpPr/>
          <p:nvPr/>
        </p:nvSpPr>
        <p:spPr>
          <a:xfrm>
            <a:off x="10467028" y="4823867"/>
            <a:ext cx="109728" cy="109728"/>
          </a:xfrm>
          <a:prstGeom prst="diamond">
            <a:avLst/>
          </a:prstGeom>
          <a:solidFill>
            <a:srgbClr val="FF5C93"/>
          </a:solidFill>
          <a:ln w="12700">
            <a:solidFill>
              <a:srgbClr val="FF5C93"/>
            </a:solidFill>
            <a:prstDash val="solid"/>
          </a:ln>
        </p:spPr>
      </p:sp>
      <p:sp>
        <p:nvSpPr>
          <p:cNvPr id="81" name="Fingerstick"/>
          <p:cNvSpPr/>
          <p:nvPr/>
        </p:nvSpPr>
        <p:spPr>
          <a:xfrm>
            <a:off x="10657978" y="4536194"/>
            <a:ext cx="109728" cy="109728"/>
          </a:xfrm>
          <a:prstGeom prst="diamond">
            <a:avLst/>
          </a:prstGeom>
          <a:solidFill>
            <a:srgbClr val="FF5C93"/>
          </a:solidFill>
          <a:ln w="12700">
            <a:solidFill>
              <a:srgbClr val="FF5C93"/>
            </a:solidFill>
            <a:prstDash val="solid"/>
          </a:ln>
        </p:spPr>
      </p:sp>
      <p:sp>
        <p:nvSpPr>
          <p:cNvPr id="82" name="Fingerstick"/>
          <p:cNvSpPr/>
          <p:nvPr/>
        </p:nvSpPr>
        <p:spPr>
          <a:xfrm>
            <a:off x="10865295" y="4823867"/>
            <a:ext cx="109728" cy="109728"/>
          </a:xfrm>
          <a:prstGeom prst="diamond">
            <a:avLst/>
          </a:prstGeom>
          <a:solidFill>
            <a:srgbClr val="FF5C93"/>
          </a:solidFill>
          <a:ln w="12700">
            <a:solidFill>
              <a:srgbClr val="FF5C93"/>
            </a:solidFill>
            <a:prstDash val="solid"/>
          </a:ln>
        </p:spPr>
      </p:sp>
      <p:sp>
        <p:nvSpPr>
          <p:cNvPr id="83" name="Fingerstick"/>
          <p:cNvSpPr/>
          <p:nvPr/>
        </p:nvSpPr>
        <p:spPr>
          <a:xfrm>
            <a:off x="11007143" y="4257799"/>
            <a:ext cx="109728" cy="109728"/>
          </a:xfrm>
          <a:prstGeom prst="diamond">
            <a:avLst/>
          </a:prstGeom>
          <a:solidFill>
            <a:srgbClr val="FF5C93"/>
          </a:solidFill>
          <a:ln w="12700">
            <a:solidFill>
              <a:srgbClr val="FF5C93"/>
            </a:solidFill>
            <a:prstDash val="solid"/>
          </a:ln>
        </p:spPr>
      </p:sp>
      <p:sp>
        <p:nvSpPr>
          <p:cNvPr id="84" name="Fingerstick"/>
          <p:cNvSpPr/>
          <p:nvPr/>
        </p:nvSpPr>
        <p:spPr>
          <a:xfrm>
            <a:off x="11323574" y="4749629"/>
            <a:ext cx="109728" cy="109728"/>
          </a:xfrm>
          <a:prstGeom prst="diamond">
            <a:avLst/>
          </a:prstGeom>
          <a:solidFill>
            <a:srgbClr val="FF5C93"/>
          </a:solidFill>
          <a:ln w="12700">
            <a:solidFill>
              <a:srgbClr val="FF5C93"/>
            </a:solidFill>
            <a:prstDash val="solid"/>
          </a:ln>
        </p:spPr>
      </p:sp>
      <p:sp>
        <p:nvSpPr>
          <p:cNvPr id="85" name="Fingerstick"/>
          <p:cNvSpPr/>
          <p:nvPr/>
        </p:nvSpPr>
        <p:spPr>
          <a:xfrm>
            <a:off x="11465422" y="4229960"/>
            <a:ext cx="109728" cy="109728"/>
          </a:xfrm>
          <a:prstGeom prst="diamond">
            <a:avLst/>
          </a:prstGeom>
          <a:solidFill>
            <a:srgbClr val="FF5C93"/>
          </a:solidFill>
          <a:ln w="12700">
            <a:solidFill>
              <a:srgbClr val="FF5C93"/>
            </a:solidFill>
            <a:prstDash val="solid"/>
          </a:ln>
        </p:spPr>
      </p:sp>
      <p:sp>
        <p:nvSpPr>
          <p:cNvPr id="86" name="Text 84"/>
          <p:cNvSpPr txBox="1"/>
          <p:nvPr/>
        </p:nvSpPr>
        <p:spPr>
          <a:xfrm>
            <a:off x="10069068" y="5852160"/>
            <a:ext cx="1571244" cy="219456"/>
          </a:xfrm>
          <a:prstGeom prst="rect">
            <a:avLst/>
          </a:prstGeom>
          <a:noFill/>
          <a:ln/>
        </p:spPr>
        <p:txBody>
          <a:bodyPr wrap="square" lIns="0" tIns="0" rIns="0" bIns="0" rtlCol="0" anchor="t"/>
          <a:lstStyle/>
          <a:p>
            <a:pPr algn="ctr" indent="0" marL="0">
              <a:buNone/>
            </a:pPr>
            <a:r>
              <a:rPr lang="en-US" sz="1000" dirty="0">
                <a:solidFill>
                  <a:srgbClr val="A9A4D6"/>
                </a:solidFill>
              </a:rPr>
              <a:t>DAY 6</a:t>
            </a:r>
            <a:endParaRPr lang="en-US" sz="1000" dirty="0"/>
          </a:p>
        </p:txBody>
      </p:sp>
      <p:sp>
        <p:nvSpPr>
          <p:cNvPr id="87" name="Text 85"/>
          <p:cNvSpPr txBox="1"/>
          <p:nvPr/>
        </p:nvSpPr>
        <p:spPr>
          <a:xfrm>
            <a:off x="548640" y="5852160"/>
            <a:ext cx="1554480" cy="219456"/>
          </a:xfrm>
          <a:prstGeom prst="rect">
            <a:avLst/>
          </a:prstGeom>
          <a:noFill/>
          <a:ln/>
        </p:spPr>
        <p:txBody>
          <a:bodyPr wrap="square" lIns="0" tIns="0" rIns="0" bIns="0" rtlCol="0" anchor="t"/>
          <a:lstStyle/>
          <a:p>
            <a:pPr algn="ctr" indent="0" marL="0">
              <a:buNone/>
            </a:pPr>
            <a:r>
              <a:rPr lang="en-US" sz="1000" dirty="0">
                <a:solidFill>
                  <a:srgbClr val="A9A4D6"/>
                </a:solidFill>
              </a:rPr>
              <a:t>typical day, 5 days folded</a:t>
            </a:r>
            <a:endParaRPr lang="en-US" sz="1000" dirty="0"/>
          </a:p>
        </p:txBody>
      </p:sp>
      <p:sp>
        <p:nvSpPr>
          <p:cNvPr id="88" name="Text 86"/>
          <p:cNvSpPr txBox="1"/>
          <p:nvPr/>
        </p:nvSpPr>
        <p:spPr>
          <a:xfrm>
            <a:off x="640080" y="3584448"/>
            <a:ext cx="1463040" cy="237744"/>
          </a:xfrm>
          <a:prstGeom prst="rect">
            <a:avLst/>
          </a:prstGeom>
          <a:noFill/>
          <a:ln/>
        </p:spPr>
        <p:txBody>
          <a:bodyPr wrap="square" lIns="0" tIns="0" rIns="0" bIns="0" rtlCol="0" anchor="t"/>
          <a:lstStyle/>
          <a:p>
            <a:pPr indent="0" marL="0">
              <a:buNone/>
            </a:pPr>
            <a:r>
              <a:rPr lang="en-US" sz="1100" b="1" spc="150" kern="0" dirty="0">
                <a:solidFill>
                  <a:srgbClr val="5FD3DD"/>
                </a:solidFill>
              </a:rPr>
              <a:t>SENSOR ON</a:t>
            </a:r>
            <a:endParaRPr lang="en-US" sz="1100" dirty="0"/>
          </a:p>
        </p:txBody>
      </p:sp>
      <p:sp>
        <p:nvSpPr>
          <p:cNvPr id="89" name="Text 87"/>
          <p:cNvSpPr txBox="1"/>
          <p:nvPr/>
        </p:nvSpPr>
        <p:spPr>
          <a:xfrm>
            <a:off x="2304288" y="3584448"/>
            <a:ext cx="2926080" cy="237744"/>
          </a:xfrm>
          <a:prstGeom prst="rect">
            <a:avLst/>
          </a:prstGeom>
          <a:noFill/>
          <a:ln/>
        </p:spPr>
        <p:txBody>
          <a:bodyPr wrap="square" lIns="0" tIns="0" rIns="0" bIns="0" rtlCol="0" anchor="t"/>
          <a:lstStyle/>
          <a:p>
            <a:pPr indent="0" marL="0">
              <a:buNone/>
            </a:pPr>
            <a:r>
              <a:rPr lang="en-US" sz="1100" b="1" spc="150" kern="0" dirty="0">
                <a:solidFill>
                  <a:schemeClr val="accent6"/>
                </a:solidFill>
              </a:rPr>
              <a:t>THE SHADOW, ESTIMATED</a:t>
            </a:r>
            <a:endParaRPr lang="en-US" sz="1100" dirty="0"/>
          </a:p>
        </p:txBody>
      </p:sp>
      <p:sp>
        <p:nvSpPr>
          <p:cNvPr id="90" name="Text 88"/>
          <p:cNvSpPr txBox="1"/>
          <p:nvPr/>
        </p:nvSpPr>
        <p:spPr>
          <a:xfrm>
            <a:off x="5961888" y="3584448"/>
            <a:ext cx="3474720" cy="237744"/>
          </a:xfrm>
          <a:prstGeom prst="rect">
            <a:avLst/>
          </a:prstGeom>
          <a:noFill/>
          <a:ln/>
        </p:spPr>
        <p:txBody>
          <a:bodyPr wrap="square" lIns="0" tIns="0" rIns="0" bIns="0" rtlCol="0" anchor="t"/>
          <a:lstStyle/>
          <a:p>
            <a:pPr indent="0" marL="0">
              <a:buNone/>
            </a:pPr>
            <a:r>
              <a:rPr lang="en-US" sz="1100" b="1" spc="150" kern="0" dirty="0">
                <a:solidFill>
                  <a:srgbClr val="5FD3DD"/>
                </a:solidFill>
              </a:rPr>
              <a:t>THE SENSOR, REVEALED (SIMULATED)</a:t>
            </a:r>
            <a:endParaRPr lang="en-US" sz="1100" dirty="0"/>
          </a:p>
        </p:txBody>
      </p:sp>
      <p:sp>
        <p:nvSpPr>
          <p:cNvPr id="91" name="Text 89"/>
          <p:cNvSpPr txBox="1"/>
          <p:nvPr/>
        </p:nvSpPr>
        <p:spPr>
          <a:xfrm>
            <a:off x="9985248" y="3584448"/>
            <a:ext cx="1828800" cy="237744"/>
          </a:xfrm>
          <a:prstGeom prst="rect">
            <a:avLst/>
          </a:prstGeom>
          <a:noFill/>
          <a:ln/>
        </p:spPr>
        <p:txBody>
          <a:bodyPr wrap="square" lIns="0" tIns="0" rIns="0" bIns="0" rtlCol="0" anchor="t"/>
          <a:lstStyle/>
          <a:p>
            <a:pPr indent="0" marL="0">
              <a:buNone/>
            </a:pPr>
            <a:r>
              <a:rPr lang="en-US" sz="1100" b="1" spc="150" kern="0" dirty="0">
                <a:solidFill>
                  <a:schemeClr val="accent6"/>
                </a:solidFill>
              </a:rPr>
              <a:t>PROMPT ON DAY 6</a:t>
            </a:r>
            <a:endParaRPr lang="en-US" sz="1100" dirty="0"/>
          </a:p>
        </p:txBody>
      </p:sp>
      <p:sp>
        <p:nvSpPr>
          <p:cNvPr id="92" name="Text 90"/>
          <p:cNvSpPr txBox="1"/>
          <p:nvPr/>
        </p:nvSpPr>
        <p:spPr>
          <a:xfrm>
            <a:off x="10634472" y="4353178"/>
            <a:ext cx="1005840" cy="201168"/>
          </a:xfrm>
          <a:prstGeom prst="rect">
            <a:avLst/>
          </a:prstGeom>
          <a:noFill/>
          <a:ln/>
        </p:spPr>
        <p:txBody>
          <a:bodyPr wrap="square" lIns="0" tIns="0" rIns="0" bIns="0" rtlCol="0" anchor="t"/>
          <a:lstStyle/>
          <a:p>
            <a:pPr algn="r" indent="0" marL="0">
              <a:buNone/>
            </a:pPr>
            <a:r>
              <a:rPr lang="en-US" sz="1000" dirty="0">
                <a:solidFill>
                  <a:srgbClr val="A9A4D6"/>
                </a:solidFill>
              </a:rPr>
              <a:t>180 mg/dL</a:t>
            </a:r>
            <a:endParaRPr lang="en-US" sz="1000" dirty="0"/>
          </a:p>
        </p:txBody>
      </p:sp>
      <p:sp>
        <p:nvSpPr>
          <p:cNvPr id="93" name="Text 91"/>
          <p:cNvSpPr txBox="1"/>
          <p:nvPr/>
        </p:nvSpPr>
        <p:spPr>
          <a:xfrm>
            <a:off x="10634472" y="5373956"/>
            <a:ext cx="1005840" cy="201168"/>
          </a:xfrm>
          <a:prstGeom prst="rect">
            <a:avLst/>
          </a:prstGeom>
          <a:noFill/>
          <a:ln/>
        </p:spPr>
        <p:txBody>
          <a:bodyPr wrap="square" lIns="0" tIns="0" rIns="0" bIns="0" rtlCol="0" anchor="t"/>
          <a:lstStyle/>
          <a:p>
            <a:pPr algn="r" indent="0" marL="0">
              <a:buNone/>
            </a:pPr>
            <a:r>
              <a:rPr lang="en-US" sz="1000" dirty="0">
                <a:solidFill>
                  <a:srgbClr val="A9A4D6"/>
                </a:solidFill>
              </a:rPr>
              <a:t>70</a:t>
            </a:r>
            <a:endParaRPr lang="en-US" sz="1000" dirty="0"/>
          </a:p>
        </p:txBody>
      </p:sp>
      <p:sp>
        <p:nvSpPr>
          <p:cNvPr id="94" name="Legend estimate"/>
          <p:cNvSpPr/>
          <p:nvPr/>
        </p:nvSpPr>
        <p:spPr>
          <a:xfrm>
            <a:off x="2212848" y="6199632"/>
            <a:ext cx="320040" cy="0"/>
          </a:xfrm>
          <a:prstGeom prst="line">
            <a:avLst/>
          </a:prstGeom>
          <a:noFill/>
          <a:ln w="31750">
            <a:solidFill>
              <a:schemeClr val="accent6"/>
            </a:solidFill>
            <a:prstDash val="solid"/>
          </a:ln>
        </p:spPr>
      </p:sp>
      <p:sp>
        <p:nvSpPr>
          <p:cNvPr id="95" name="Text 93"/>
          <p:cNvSpPr txBox="1"/>
          <p:nvPr/>
        </p:nvSpPr>
        <p:spPr>
          <a:xfrm>
            <a:off x="2624328" y="6108192"/>
            <a:ext cx="1645920" cy="219456"/>
          </a:xfrm>
          <a:prstGeom prst="rect">
            <a:avLst/>
          </a:prstGeom>
          <a:noFill/>
          <a:ln/>
        </p:spPr>
        <p:txBody>
          <a:bodyPr wrap="square" lIns="0" tIns="0" rIns="0" bIns="0" rtlCol="0" anchor="t"/>
          <a:lstStyle/>
          <a:p>
            <a:pPr indent="0" marL="0">
              <a:buNone/>
            </a:pPr>
            <a:r>
              <a:rPr lang="en-US" sz="1050" dirty="0">
                <a:solidFill>
                  <a:srgbClr val="D8D4F0"/>
                </a:solidFill>
              </a:rPr>
              <a:t>estimate (the shadow)</a:t>
            </a:r>
            <a:endParaRPr lang="en-US" sz="1050" dirty="0"/>
          </a:p>
        </p:txBody>
      </p:sp>
      <p:sp>
        <p:nvSpPr>
          <p:cNvPr id="96" name="Legend band"/>
          <p:cNvSpPr/>
          <p:nvPr/>
        </p:nvSpPr>
        <p:spPr>
          <a:xfrm>
            <a:off x="4407408" y="6126480"/>
            <a:ext cx="320040" cy="146304"/>
          </a:xfrm>
          <a:prstGeom prst="rect">
            <a:avLst/>
          </a:prstGeom>
          <a:solidFill>
            <a:schemeClr val="accent6">
              <a:alpha val="26000"/>
            </a:schemeClr>
          </a:solidFill>
          <a:ln w="12700">
            <a:solidFill>
              <a:schemeClr val="accent6"/>
            </a:solidFill>
            <a:prstDash val="solid"/>
          </a:ln>
        </p:spPr>
      </p:sp>
      <p:sp>
        <p:nvSpPr>
          <p:cNvPr id="97" name="Text 95"/>
          <p:cNvSpPr txBox="1"/>
          <p:nvPr/>
        </p:nvSpPr>
        <p:spPr>
          <a:xfrm>
            <a:off x="4818888" y="6108192"/>
            <a:ext cx="914400" cy="219456"/>
          </a:xfrm>
          <a:prstGeom prst="rect">
            <a:avLst/>
          </a:prstGeom>
          <a:noFill/>
          <a:ln/>
        </p:spPr>
        <p:txBody>
          <a:bodyPr wrap="square" lIns="0" tIns="0" rIns="0" bIns="0" rtlCol="0" anchor="t"/>
          <a:lstStyle/>
          <a:p>
            <a:pPr indent="0" marL="0">
              <a:buNone/>
            </a:pPr>
            <a:r>
              <a:rPr lang="en-US" sz="1050" dirty="0">
                <a:solidFill>
                  <a:srgbClr val="D8D4F0"/>
                </a:solidFill>
              </a:rPr>
              <a:t>80 % band</a:t>
            </a:r>
            <a:endParaRPr lang="en-US" sz="1050" dirty="0"/>
          </a:p>
        </p:txBody>
      </p:sp>
      <p:sp>
        <p:nvSpPr>
          <p:cNvPr id="98" name="Legend sensor"/>
          <p:cNvSpPr/>
          <p:nvPr/>
        </p:nvSpPr>
        <p:spPr>
          <a:xfrm>
            <a:off x="5824728" y="6199632"/>
            <a:ext cx="320040" cy="0"/>
          </a:xfrm>
          <a:prstGeom prst="line">
            <a:avLst/>
          </a:prstGeom>
          <a:noFill/>
          <a:ln w="19050">
            <a:solidFill>
              <a:schemeClr val="accent2"/>
            </a:solidFill>
            <a:prstDash val="solid"/>
          </a:ln>
        </p:spPr>
      </p:sp>
      <p:sp>
        <p:nvSpPr>
          <p:cNvPr id="99" name="Text 97"/>
          <p:cNvSpPr txBox="1"/>
          <p:nvPr/>
        </p:nvSpPr>
        <p:spPr>
          <a:xfrm>
            <a:off x="6236208" y="6108192"/>
            <a:ext cx="1280160" cy="219456"/>
          </a:xfrm>
          <a:prstGeom prst="rect">
            <a:avLst/>
          </a:prstGeom>
          <a:noFill/>
          <a:ln/>
        </p:spPr>
        <p:txBody>
          <a:bodyPr wrap="square" lIns="0" tIns="0" rIns="0" bIns="0" rtlCol="0" anchor="t"/>
          <a:lstStyle/>
          <a:p>
            <a:pPr indent="0" marL="0">
              <a:buNone/>
            </a:pPr>
            <a:r>
              <a:rPr lang="en-US" sz="1050" dirty="0">
                <a:solidFill>
                  <a:srgbClr val="D8D4F0"/>
                </a:solidFill>
              </a:rPr>
              <a:t>sensor, revealed</a:t>
            </a:r>
            <a:endParaRPr lang="en-US" sz="1050" dirty="0"/>
          </a:p>
        </p:txBody>
      </p:sp>
      <p:sp>
        <p:nvSpPr>
          <p:cNvPr id="100" name="Legend fingerstick"/>
          <p:cNvSpPr/>
          <p:nvPr/>
        </p:nvSpPr>
        <p:spPr>
          <a:xfrm>
            <a:off x="7607808" y="6144768"/>
            <a:ext cx="118872" cy="118872"/>
          </a:xfrm>
          <a:prstGeom prst="diamond">
            <a:avLst/>
          </a:prstGeom>
          <a:solidFill>
            <a:srgbClr val="FF5C93"/>
          </a:solidFill>
          <a:ln w="12700">
            <a:solidFill>
              <a:srgbClr val="FF5C93"/>
            </a:solidFill>
            <a:prstDash val="solid"/>
          </a:ln>
        </p:spPr>
      </p:sp>
      <p:sp>
        <p:nvSpPr>
          <p:cNvPr id="101" name="Text 99"/>
          <p:cNvSpPr txBox="1"/>
          <p:nvPr/>
        </p:nvSpPr>
        <p:spPr>
          <a:xfrm>
            <a:off x="7836408" y="6108192"/>
            <a:ext cx="1005840" cy="219456"/>
          </a:xfrm>
          <a:prstGeom prst="rect">
            <a:avLst/>
          </a:prstGeom>
          <a:noFill/>
          <a:ln/>
        </p:spPr>
        <p:txBody>
          <a:bodyPr wrap="square" lIns="0" tIns="0" rIns="0" bIns="0" rtlCol="0" anchor="t"/>
          <a:lstStyle/>
          <a:p>
            <a:pPr indent="0" marL="0">
              <a:buNone/>
            </a:pPr>
            <a:r>
              <a:rPr lang="en-US" sz="1050" dirty="0">
                <a:solidFill>
                  <a:srgbClr val="D8D4F0"/>
                </a:solidFill>
              </a:rPr>
              <a:t>fingerstick</a:t>
            </a:r>
            <a:endParaRPr lang="en-US" sz="1050" dirty="0"/>
          </a:p>
        </p:txBody>
      </p:sp>
      <p:sp>
        <p:nvSpPr>
          <p:cNvPr id="102" name="Legend meal"/>
          <p:cNvSpPr/>
          <p:nvPr/>
        </p:nvSpPr>
        <p:spPr>
          <a:xfrm>
            <a:off x="8933688" y="6126480"/>
            <a:ext cx="0" cy="164592"/>
          </a:xfrm>
          <a:prstGeom prst="line">
            <a:avLst/>
          </a:prstGeom>
          <a:noFill/>
          <a:ln w="15875">
            <a:solidFill>
              <a:schemeClr val="bg1"/>
            </a:solidFill>
            <a:prstDash val="solid"/>
          </a:ln>
        </p:spPr>
      </p:sp>
      <p:sp>
        <p:nvSpPr>
          <p:cNvPr id="103" name="Text 101"/>
          <p:cNvSpPr txBox="1"/>
          <p:nvPr/>
        </p:nvSpPr>
        <p:spPr>
          <a:xfrm>
            <a:off x="9116568" y="6108192"/>
            <a:ext cx="731520" cy="219456"/>
          </a:xfrm>
          <a:prstGeom prst="rect">
            <a:avLst/>
          </a:prstGeom>
          <a:noFill/>
          <a:ln/>
        </p:spPr>
        <p:txBody>
          <a:bodyPr wrap="square" lIns="0" tIns="0" rIns="0" bIns="0" rtlCol="0" anchor="t"/>
          <a:lstStyle/>
          <a:p>
            <a:pPr indent="0" marL="0">
              <a:buNone/>
            </a:pPr>
            <a:r>
              <a:rPr lang="en-US" sz="1050" dirty="0">
                <a:solidFill>
                  <a:srgbClr val="D8D4F0"/>
                </a:solidFill>
              </a:rPr>
              <a:t>meal</a:t>
            </a:r>
            <a:endParaRPr lang="en-US" sz="1050" dirty="0"/>
          </a:p>
        </p:txBody>
      </p:sp>
      <p:sp>
        <p:nvSpPr>
          <p:cNvPr id="104" name="Text 102"/>
          <p:cNvSpPr txBox="1"/>
          <p:nvPr/>
        </p:nvSpPr>
        <p:spPr>
          <a:xfrm>
            <a:off x="548640" y="6437376"/>
            <a:ext cx="10515600" cy="256032"/>
          </a:xfrm>
          <a:prstGeom prst="rect">
            <a:avLst/>
          </a:prstGeom>
          <a:noFill/>
          <a:ln/>
        </p:spPr>
        <p:txBody>
          <a:bodyPr wrap="square" lIns="0" tIns="0" rIns="0" bIns="0" rtlCol="0" anchor="t"/>
          <a:lstStyle/>
          <a:p>
            <a:pPr indent="0" marL="0">
              <a:buNone/>
            </a:pPr>
            <a:r>
              <a:rPr lang="en-US" sz="1050" dirty="0">
                <a:solidFill>
                  <a:srgbClr val="A9A4D6"/>
                </a:solidFill>
              </a:rPr>
              <a:t>Mrs. R. is a synthetic demo patient and the sensor shown is simulated. Research prototype, not a medical device.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200" b="1" dirty="0">
                <a:solidFill>
                  <a:schemeClr val="tx1"/>
                </a:solidFill>
              </a:rPr>
              <a:t>One sensor wear, then months of decisions on an ageing report</a:t>
            </a:r>
            <a:endParaRPr lang="en-US" sz="3200" dirty="0"/>
          </a:p>
        </p:txBody>
      </p:sp>
      <p:sp>
        <p:nvSpPr>
          <p:cNvPr id="3" name="Stat card 1"/>
          <p:cNvSpPr/>
          <p:nvPr/>
        </p:nvSpPr>
        <p:spPr>
          <a:xfrm>
            <a:off x="548640" y="1572768"/>
            <a:ext cx="3520440" cy="1828800"/>
          </a:xfrm>
          <a:prstGeom prst="rect">
            <a:avLst/>
          </a:prstGeom>
          <a:solidFill>
            <a:schemeClr val="bg2"/>
          </a:solidFill>
          <a:ln w="12700">
            <a:solidFill>
              <a:schemeClr val="bg2"/>
            </a:solidFill>
            <a:prstDash val="solid"/>
          </a:ln>
        </p:spPr>
      </p:sp>
      <p:sp>
        <p:nvSpPr>
          <p:cNvPr id="4" name="Text 2"/>
          <p:cNvSpPr txBox="1"/>
          <p:nvPr/>
        </p:nvSpPr>
        <p:spPr>
          <a:xfrm>
            <a:off x="804672" y="1737360"/>
            <a:ext cx="3017520" cy="73152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101 million</a:t>
            </a:r>
            <a:endParaRPr lang="en-US" sz="3800" dirty="0"/>
          </a:p>
        </p:txBody>
      </p:sp>
      <p:sp>
        <p:nvSpPr>
          <p:cNvPr id="5" name="Text 3"/>
          <p:cNvSpPr txBox="1"/>
          <p:nvPr/>
        </p:nvSpPr>
        <p:spPr>
          <a:xfrm>
            <a:off x="804672" y="2542032"/>
            <a:ext cx="3063240" cy="502920"/>
          </a:xfrm>
          <a:prstGeom prst="rect">
            <a:avLst/>
          </a:prstGeom>
          <a:noFill/>
          <a:ln/>
        </p:spPr>
        <p:txBody>
          <a:bodyPr wrap="square" lIns="0" tIns="0" rIns="0" bIns="0" rtlCol="0" anchor="t"/>
          <a:lstStyle/>
          <a:p>
            <a:pPr indent="0" marL="0">
              <a:buNone/>
            </a:pPr>
            <a:r>
              <a:rPr lang="en-US" sz="1600" dirty="0">
                <a:solidFill>
                  <a:schemeClr val="tx1"/>
                </a:solidFill>
              </a:rPr>
              <a:t>people in India live with diabetes</a:t>
            </a:r>
            <a:endParaRPr lang="en-US" sz="1600" dirty="0"/>
          </a:p>
        </p:txBody>
      </p:sp>
      <p:sp>
        <p:nvSpPr>
          <p:cNvPr id="6" name="Text 4"/>
          <p:cNvSpPr txBox="1"/>
          <p:nvPr/>
        </p:nvSpPr>
        <p:spPr>
          <a:xfrm>
            <a:off x="804672" y="3072384"/>
            <a:ext cx="3017520" cy="237744"/>
          </a:xfrm>
          <a:prstGeom prst="rect">
            <a:avLst/>
          </a:prstGeom>
          <a:noFill/>
          <a:ln/>
        </p:spPr>
        <p:txBody>
          <a:bodyPr wrap="square" lIns="0" tIns="0" rIns="0" bIns="0" rtlCol="0" anchor="t"/>
          <a:lstStyle/>
          <a:p>
            <a:pPr indent="0" marL="0">
              <a:buNone/>
            </a:pPr>
            <a:r>
              <a:rPr lang="en-US" sz="1100" dirty="0">
                <a:solidFill>
                  <a:srgbClr val="6B6A80"/>
                </a:solidFill>
              </a:rPr>
              <a:t>ICMR-INDIAB national study, 2023</a:t>
            </a:r>
            <a:endParaRPr lang="en-US" sz="1100" dirty="0"/>
          </a:p>
        </p:txBody>
      </p:sp>
      <p:sp>
        <p:nvSpPr>
          <p:cNvPr id="7" name="Stat card 2"/>
          <p:cNvSpPr/>
          <p:nvPr/>
        </p:nvSpPr>
        <p:spPr>
          <a:xfrm>
            <a:off x="4334256" y="1572768"/>
            <a:ext cx="3520440" cy="1828800"/>
          </a:xfrm>
          <a:prstGeom prst="rect">
            <a:avLst/>
          </a:prstGeom>
          <a:solidFill>
            <a:schemeClr val="bg2"/>
          </a:solidFill>
          <a:ln w="12700">
            <a:solidFill>
              <a:schemeClr val="bg2"/>
            </a:solidFill>
            <a:prstDash val="solid"/>
          </a:ln>
        </p:spPr>
      </p:sp>
      <p:sp>
        <p:nvSpPr>
          <p:cNvPr id="8" name="Text 6"/>
          <p:cNvSpPr txBox="1"/>
          <p:nvPr/>
        </p:nvSpPr>
        <p:spPr>
          <a:xfrm>
            <a:off x="4590288" y="1737360"/>
            <a:ext cx="3017520" cy="73152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₹4,400–5,100</a:t>
            </a:r>
            <a:endParaRPr lang="en-US" sz="3800" dirty="0"/>
          </a:p>
        </p:txBody>
      </p:sp>
      <p:sp>
        <p:nvSpPr>
          <p:cNvPr id="9" name="Text 7"/>
          <p:cNvSpPr txBox="1"/>
          <p:nvPr/>
        </p:nvSpPr>
        <p:spPr>
          <a:xfrm>
            <a:off x="4590288" y="2542032"/>
            <a:ext cx="3063240" cy="502920"/>
          </a:xfrm>
          <a:prstGeom prst="rect">
            <a:avLst/>
          </a:prstGeom>
          <a:noFill/>
          <a:ln/>
        </p:spPr>
        <p:txBody>
          <a:bodyPr wrap="square" lIns="0" tIns="0" rIns="0" bIns="0" rtlCol="0" anchor="t"/>
          <a:lstStyle/>
          <a:p>
            <a:pPr indent="0" marL="0">
              <a:buNone/>
            </a:pPr>
            <a:r>
              <a:rPr lang="en-US" sz="1600" dirty="0">
                <a:solidFill>
                  <a:schemeClr val="tx1"/>
                </a:solidFill>
              </a:rPr>
              <a:t>for one 14-day glucose-sensor wear</a:t>
            </a:r>
            <a:endParaRPr lang="en-US" sz="1600" dirty="0"/>
          </a:p>
        </p:txBody>
      </p:sp>
      <p:sp>
        <p:nvSpPr>
          <p:cNvPr id="10" name="Text 8"/>
          <p:cNvSpPr txBox="1"/>
          <p:nvPr/>
        </p:nvSpPr>
        <p:spPr>
          <a:xfrm>
            <a:off x="4590288" y="3072384"/>
            <a:ext cx="3017520" cy="237744"/>
          </a:xfrm>
          <a:prstGeom prst="rect">
            <a:avLst/>
          </a:prstGeom>
          <a:noFill/>
          <a:ln/>
        </p:spPr>
        <p:txBody>
          <a:bodyPr wrap="square" lIns="0" tIns="0" rIns="0" bIns="0" rtlCol="0" anchor="t"/>
          <a:lstStyle/>
          <a:p>
            <a:pPr indent="0" marL="0">
              <a:buNone/>
            </a:pPr>
            <a:r>
              <a:rPr lang="en-US" sz="1100" dirty="0">
                <a:solidFill>
                  <a:srgbClr val="6B6A80"/>
                </a:solidFill>
              </a:rPr>
              <a:t>Indian retail listings, October 2026</a:t>
            </a:r>
            <a:endParaRPr lang="en-US" sz="1100" dirty="0"/>
          </a:p>
        </p:txBody>
      </p:sp>
      <p:sp>
        <p:nvSpPr>
          <p:cNvPr id="11" name="Stat card 3"/>
          <p:cNvSpPr/>
          <p:nvPr/>
        </p:nvSpPr>
        <p:spPr>
          <a:xfrm>
            <a:off x="8119872" y="1572768"/>
            <a:ext cx="3520440" cy="1828800"/>
          </a:xfrm>
          <a:prstGeom prst="rect">
            <a:avLst/>
          </a:prstGeom>
          <a:solidFill>
            <a:schemeClr val="bg2"/>
          </a:solidFill>
          <a:ln w="12700">
            <a:solidFill>
              <a:schemeClr val="bg2"/>
            </a:solidFill>
            <a:prstDash val="solid"/>
          </a:ln>
        </p:spPr>
      </p:sp>
      <p:sp>
        <p:nvSpPr>
          <p:cNvPr id="12" name="Text 10"/>
          <p:cNvSpPr txBox="1"/>
          <p:nvPr/>
        </p:nvSpPr>
        <p:spPr>
          <a:xfrm>
            <a:off x="8375904" y="1737360"/>
            <a:ext cx="3017520" cy="731520"/>
          </a:xfrm>
          <a:prstGeom prst="rect">
            <a:avLst/>
          </a:prstGeom>
          <a:noFill/>
          <a:ln/>
        </p:spPr>
        <p:txBody>
          <a:bodyPr wrap="square" lIns="0" tIns="0" rIns="0" bIns="0" rtlCol="0" anchor="t"/>
          <a:lstStyle/>
          <a:p>
            <a:pPr indent="0" marL="0">
              <a:buNone/>
            </a:pPr>
            <a:r>
              <a:rPr lang="en-US" sz="3800" b="1" dirty="0">
                <a:solidFill>
                  <a:schemeClr val="accent1"/>
                </a:solidFill>
                <a:latin typeface="Cambria" pitchFamily="34" charset="0"/>
                <a:ea typeface="Cambria" pitchFamily="34" charset="-122"/>
                <a:cs typeface="Cambria" pitchFamily="34" charset="-120"/>
              </a:rPr>
              <a:t>26 sensors</a:t>
            </a:r>
            <a:endParaRPr lang="en-US" sz="3800" dirty="0"/>
          </a:p>
        </p:txBody>
      </p:sp>
      <p:sp>
        <p:nvSpPr>
          <p:cNvPr id="13" name="Text 11"/>
          <p:cNvSpPr txBox="1"/>
          <p:nvPr/>
        </p:nvSpPr>
        <p:spPr>
          <a:xfrm>
            <a:off x="8375904" y="2542032"/>
            <a:ext cx="3063240" cy="502920"/>
          </a:xfrm>
          <a:prstGeom prst="rect">
            <a:avLst/>
          </a:prstGeom>
          <a:noFill/>
          <a:ln/>
        </p:spPr>
        <p:txBody>
          <a:bodyPr wrap="square" lIns="0" tIns="0" rIns="0" bIns="0" rtlCol="0" anchor="t"/>
          <a:lstStyle/>
          <a:p>
            <a:pPr indent="0" marL="0">
              <a:buNone/>
            </a:pPr>
            <a:r>
              <a:rPr lang="en-US" sz="1600" dirty="0">
                <a:solidFill>
                  <a:schemeClr val="tx1"/>
                </a:solidFill>
              </a:rPr>
              <a:t>a year to wear one continuously: over ₹1.1 lakh</a:t>
            </a:r>
            <a:endParaRPr lang="en-US" sz="1600" dirty="0"/>
          </a:p>
        </p:txBody>
      </p:sp>
      <p:sp>
        <p:nvSpPr>
          <p:cNvPr id="14" name="Text 12"/>
          <p:cNvSpPr txBox="1"/>
          <p:nvPr/>
        </p:nvSpPr>
        <p:spPr>
          <a:xfrm>
            <a:off x="8375904" y="3072384"/>
            <a:ext cx="3017520" cy="237744"/>
          </a:xfrm>
          <a:prstGeom prst="rect">
            <a:avLst/>
          </a:prstGeom>
          <a:noFill/>
          <a:ln/>
        </p:spPr>
        <p:txBody>
          <a:bodyPr wrap="square" lIns="0" tIns="0" rIns="0" bIns="0" rtlCol="0" anchor="t"/>
          <a:lstStyle/>
          <a:p>
            <a:pPr indent="0" marL="0">
              <a:buNone/>
            </a:pPr>
            <a:r>
              <a:rPr lang="en-US" sz="1100" dirty="0">
                <a:solidFill>
                  <a:srgbClr val="6B6A80"/>
                </a:solidFill>
              </a:rPr>
              <a:t>26 times the lowest listed price</a:t>
            </a:r>
            <a:endParaRPr lang="en-US" sz="1100" dirty="0"/>
          </a:p>
        </p:txBody>
      </p:sp>
      <p:sp>
        <p:nvSpPr>
          <p:cNvPr id="15" name="Text 13"/>
          <p:cNvSpPr txBox="1"/>
          <p:nvPr/>
        </p:nvSpPr>
        <p:spPr>
          <a:xfrm>
            <a:off x="548640" y="3749040"/>
            <a:ext cx="27432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THE SCENARIO</a:t>
            </a:r>
            <a:endParaRPr lang="en-US" sz="1100" dirty="0"/>
          </a:p>
        </p:txBody>
      </p:sp>
      <p:sp>
        <p:nvSpPr>
          <p:cNvPr id="16" name="Wear bar"/>
          <p:cNvSpPr/>
          <p:nvPr/>
        </p:nvSpPr>
        <p:spPr>
          <a:xfrm>
            <a:off x="548640" y="4114800"/>
            <a:ext cx="1737360" cy="713232"/>
          </a:xfrm>
          <a:prstGeom prst="roundRect">
            <a:avLst>
              <a:gd name="adj" fmla="val 10256"/>
            </a:avLst>
          </a:prstGeom>
          <a:solidFill>
            <a:schemeClr val="accent2"/>
          </a:solidFill>
          <a:ln w="12700">
            <a:solidFill>
              <a:schemeClr val="accent2"/>
            </a:solidFill>
            <a:prstDash val="solid"/>
          </a:ln>
        </p:spPr>
      </p:sp>
      <p:sp>
        <p:nvSpPr>
          <p:cNvPr id="17" name="Text 15"/>
          <p:cNvSpPr txBox="1"/>
          <p:nvPr/>
        </p:nvSpPr>
        <p:spPr>
          <a:xfrm>
            <a:off x="658368" y="4114800"/>
            <a:ext cx="1554480" cy="713232"/>
          </a:xfrm>
          <a:prstGeom prst="rect">
            <a:avLst/>
          </a:prstGeom>
          <a:noFill/>
          <a:ln/>
        </p:spPr>
        <p:txBody>
          <a:bodyPr wrap="square" lIns="0" tIns="0" rIns="0" bIns="0" rtlCol="0" anchor="ctr"/>
          <a:lstStyle/>
          <a:p>
            <a:pPr algn="ctr" indent="0" marL="0">
              <a:buNone/>
            </a:pPr>
            <a:r>
              <a:rPr lang="en-US" sz="1400" b="1" dirty="0">
                <a:solidFill>
                  <a:schemeClr val="bg1"/>
                </a:solidFill>
              </a:rPr>
              <a:t>14 days of sensor data</a:t>
            </a:r>
            <a:endParaRPr lang="en-US" sz="1400" dirty="0"/>
          </a:p>
        </p:txBody>
      </p:sp>
      <p:sp>
        <p:nvSpPr>
          <p:cNvPr id="18" name="Decision bar"/>
          <p:cNvSpPr/>
          <p:nvPr/>
        </p:nvSpPr>
        <p:spPr>
          <a:xfrm>
            <a:off x="2468880" y="4114800"/>
            <a:ext cx="7498080" cy="713232"/>
          </a:xfrm>
          <a:prstGeom prst="roundRect">
            <a:avLst>
              <a:gd name="adj" fmla="val 10256"/>
            </a:avLst>
          </a:prstGeom>
          <a:solidFill>
            <a:srgbClr val="E7E7EF"/>
          </a:solidFill>
          <a:ln w="12700">
            <a:solidFill>
              <a:srgbClr val="E7E7EF"/>
            </a:solidFill>
            <a:prstDash val="solid"/>
          </a:ln>
        </p:spPr>
      </p:sp>
      <p:sp>
        <p:nvSpPr>
          <p:cNvPr id="19" name="Text 17"/>
          <p:cNvSpPr txBox="1"/>
          <p:nvPr/>
        </p:nvSpPr>
        <p:spPr>
          <a:xfrm>
            <a:off x="2651760" y="4114800"/>
            <a:ext cx="7132320" cy="713232"/>
          </a:xfrm>
          <a:prstGeom prst="rect">
            <a:avLst/>
          </a:prstGeom>
          <a:noFill/>
          <a:ln/>
        </p:spPr>
        <p:txBody>
          <a:bodyPr wrap="square" lIns="0" tIns="0" rIns="0" bIns="0" rtlCol="0" anchor="ctr"/>
          <a:lstStyle/>
          <a:p>
            <a:pPr indent="0" marL="0">
              <a:buNone/>
            </a:pPr>
            <a:r>
              <a:rPr lang="en-US" sz="1600" dirty="0">
                <a:solidFill>
                  <a:schemeClr val="tx1"/>
                </a:solidFill>
              </a:rPr>
              <a:t>Months of treatment decisions made from that one report</a:t>
            </a:r>
            <a:endParaRPr lang="en-US" sz="1600" dirty="0"/>
          </a:p>
        </p:txBody>
      </p:sp>
      <p:sp>
        <p:nvSpPr>
          <p:cNvPr id="20" name="Text 18"/>
          <p:cNvSpPr txBox="1"/>
          <p:nvPr/>
        </p:nvSpPr>
        <p:spPr>
          <a:xfrm>
            <a:off x="10195560" y="4005072"/>
            <a:ext cx="1097280" cy="914400"/>
          </a:xfrm>
          <a:prstGeom prst="rect">
            <a:avLst/>
          </a:prstGeom>
          <a:noFill/>
          <a:ln/>
        </p:spPr>
        <p:txBody>
          <a:bodyPr wrap="square" lIns="0" tIns="0" rIns="0" bIns="0" rtlCol="0" anchor="ctr"/>
          <a:lstStyle/>
          <a:p>
            <a:pPr algn="ctr" indent="0" marL="0">
              <a:buNone/>
            </a:pPr>
            <a:r>
              <a:rPr lang="en-US" sz="6000" b="1" dirty="0">
                <a:solidFill>
                  <a:schemeClr val="accent1"/>
                </a:solidFill>
                <a:latin typeface="Cambria" pitchFamily="34" charset="0"/>
                <a:ea typeface="Cambria" pitchFamily="34" charset="-122"/>
                <a:cs typeface="Cambria" pitchFamily="34" charset="-120"/>
              </a:rPr>
              <a:t>?</a:t>
            </a:r>
            <a:endParaRPr lang="en-US" sz="6000" dirty="0"/>
          </a:p>
        </p:txBody>
      </p:sp>
      <p:sp>
        <p:nvSpPr>
          <p:cNvPr id="21" name="Text 19"/>
          <p:cNvSpPr txBox="1"/>
          <p:nvPr/>
        </p:nvSpPr>
        <p:spPr>
          <a:xfrm>
            <a:off x="548640" y="5120640"/>
            <a:ext cx="11091672" cy="548640"/>
          </a:xfrm>
          <a:prstGeom prst="rect">
            <a:avLst/>
          </a:prstGeom>
          <a:noFill/>
          <a:ln/>
        </p:spPr>
        <p:txBody>
          <a:bodyPr wrap="square" lIns="0" tIns="0" rIns="0" bIns="0" rtlCol="0" anchor="t"/>
          <a:lstStyle/>
          <a:p>
            <a:pPr indent="0" marL="0">
              <a:buNone/>
            </a:pPr>
            <a:r>
              <a:rPr lang="en-US" sz="2600" b="1" dirty="0">
                <a:solidFill>
                  <a:schemeClr val="accent1"/>
                </a:solidFill>
                <a:latin typeface="Cambria" pitchFamily="34" charset="0"/>
                <a:ea typeface="Cambria" pitchFamily="34" charset="-122"/>
                <a:cs typeface="Cambria" pitchFamily="34" charset="-120"/>
              </a:rPr>
              <a:t>Nobody tells the doctor how old that report has become.</a:t>
            </a:r>
            <a:endParaRPr lang="en-US" sz="2600" dirty="0"/>
          </a:p>
        </p:txBody>
      </p:sp>
      <p:sp>
        <p:nvSpPr>
          <p:cNvPr id="22" name="Text 20"/>
          <p:cNvSpPr txBox="1"/>
          <p:nvPr/>
        </p:nvSpPr>
        <p:spPr>
          <a:xfrm>
            <a:off x="548640" y="5897880"/>
            <a:ext cx="11091672" cy="457200"/>
          </a:xfrm>
          <a:prstGeom prst="rect">
            <a:avLst/>
          </a:prstGeom>
          <a:noFill/>
          <a:ln/>
        </p:spPr>
        <p:txBody>
          <a:bodyPr wrap="square" lIns="0" tIns="0" rIns="0" bIns="0" rtlCol="0" anchor="t"/>
          <a:lstStyle/>
          <a:p>
            <a:pPr indent="0" marL="0">
              <a:buNone/>
            </a:pPr>
            <a:r>
              <a:rPr lang="en-US" sz="1050" dirty="0">
                <a:solidFill>
                  <a:srgbClr val="6B6A80"/>
                </a:solidFill>
              </a:rPr>
              <a:t>Sources: ICMR-INDIAB national cross-sectional study, The Lancet Diabetes &amp; Endocrinology, 2023 (101 million, 11.4 %). Retail listings checked on 11 October 2026 (Truemeds; Amazon India price history); prices vary by model and seller.</a:t>
            </a:r>
            <a:endParaRPr lang="en-US" sz="1050" dirty="0"/>
          </a:p>
        </p:txBody>
      </p:sp>
      <p:sp>
        <p:nvSpPr>
          <p:cNvPr id="25" name="Slide Number Placeholder 0"/>
          <p:cNvSpPr>
            <a:spLocks noGrp="1"/>
          </p:cNvSpPr>
          <p:nvPr>
            <p:ph type="sldNum" sz="quarter" idx="4294967295"/>
          </p:nvPr>
        </p:nvSpPr>
        <p:spPr>
          <a:xfrm>
            <a:off x="10972800" y="6437376"/>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6A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200" b="1" dirty="0">
                <a:solidFill>
                  <a:schemeClr val="tx1"/>
                </a:solidFill>
              </a:rPr>
              <a:t>Two streams fused into one personal twin, checked against the brief</a:t>
            </a:r>
            <a:endParaRPr lang="en-US" sz="3200" dirty="0"/>
          </a:p>
        </p:txBody>
      </p:sp>
      <p:sp>
        <p:nvSpPr>
          <p:cNvPr id="3" name="Node Health record"/>
          <p:cNvSpPr/>
          <p:nvPr/>
        </p:nvSpPr>
        <p:spPr>
          <a:xfrm>
            <a:off x="548640" y="1572768"/>
            <a:ext cx="1874520" cy="1143000"/>
          </a:xfrm>
          <a:prstGeom prst="roundRect">
            <a:avLst>
              <a:gd name="adj" fmla="val 6400"/>
            </a:avLst>
          </a:prstGeom>
          <a:solidFill>
            <a:schemeClr val="tx2"/>
          </a:solidFill>
          <a:ln w="12700">
            <a:solidFill>
              <a:schemeClr val="tx2"/>
            </a:solidFill>
            <a:prstDash val="solid"/>
          </a:ln>
        </p:spPr>
      </p:sp>
      <p:sp>
        <p:nvSpPr>
          <p:cNvPr id="4" name="Text 2"/>
          <p:cNvSpPr txBox="1"/>
          <p:nvPr/>
        </p:nvSpPr>
        <p:spPr>
          <a:xfrm>
            <a:off x="658368" y="1682496"/>
            <a:ext cx="1655064" cy="548640"/>
          </a:xfrm>
          <a:prstGeom prst="rect">
            <a:avLst/>
          </a:prstGeom>
          <a:noFill/>
          <a:ln/>
        </p:spPr>
        <p:txBody>
          <a:bodyPr wrap="square" lIns="0" tIns="0" rIns="0" bIns="0" rtlCol="0" anchor="ctr"/>
          <a:lstStyle/>
          <a:p>
            <a:pPr algn="ctr" indent="0" marL="0">
              <a:buNone/>
            </a:pPr>
            <a:r>
              <a:rPr lang="en-US" sz="1500" b="1" dirty="0">
                <a:solidFill>
                  <a:schemeClr val="bg1"/>
                </a:solidFill>
              </a:rPr>
              <a:t>Health record</a:t>
            </a:r>
            <a:endParaRPr lang="en-US" sz="1500" dirty="0"/>
          </a:p>
        </p:txBody>
      </p:sp>
      <p:sp>
        <p:nvSpPr>
          <p:cNvPr id="5" name="Text 3"/>
          <p:cNvSpPr txBox="1"/>
          <p:nvPr/>
        </p:nvSpPr>
        <p:spPr>
          <a:xfrm>
            <a:off x="658368" y="2286000"/>
            <a:ext cx="1655064" cy="320040"/>
          </a:xfrm>
          <a:prstGeom prst="rect">
            <a:avLst/>
          </a:prstGeom>
          <a:noFill/>
          <a:ln/>
        </p:spPr>
        <p:txBody>
          <a:bodyPr wrap="square" lIns="0" tIns="0" rIns="0" bIns="0" rtlCol="0" anchor="t"/>
          <a:lstStyle/>
          <a:p>
            <a:pPr algn="ctr" indent="0" marL="0">
              <a:buNone/>
            </a:pPr>
            <a:r>
              <a:rPr lang="en-US" sz="1200" dirty="0">
                <a:solidFill>
                  <a:schemeClr val="bg1"/>
                </a:solidFill>
              </a:rPr>
              <a:t>static · FHIR-shaped</a:t>
            </a:r>
            <a:endParaRPr lang="en-US" sz="1200" dirty="0"/>
          </a:p>
        </p:txBody>
      </p:sp>
      <p:sp>
        <p:nvSpPr>
          <p:cNvPr id="6" name="Text 4"/>
          <p:cNvSpPr txBox="1"/>
          <p:nvPr/>
        </p:nvSpPr>
        <p:spPr>
          <a:xfrm>
            <a:off x="2423160" y="1755648"/>
            <a:ext cx="429768" cy="731520"/>
          </a:xfrm>
          <a:prstGeom prst="rect">
            <a:avLst/>
          </a:prstGeom>
          <a:noFill/>
          <a:ln/>
        </p:spPr>
        <p:txBody>
          <a:bodyPr wrap="square" lIns="0" tIns="0" rIns="0" bIns="0" rtlCol="0" anchor="ctr"/>
          <a:lstStyle/>
          <a:p>
            <a:pPr algn="ctr" indent="0" marL="0">
              <a:buNone/>
            </a:pPr>
            <a:r>
              <a:rPr lang="en-US" sz="2800" b="1" dirty="0">
                <a:solidFill>
                  <a:schemeClr val="tx2"/>
                </a:solidFill>
              </a:rPr>
              <a:t>+</a:t>
            </a:r>
            <a:endParaRPr lang="en-US" sz="2800" dirty="0"/>
          </a:p>
        </p:txBody>
      </p:sp>
      <p:sp>
        <p:nvSpPr>
          <p:cNvPr id="7" name="Node Sensor, meals, band, fingersticks"/>
          <p:cNvSpPr/>
          <p:nvPr/>
        </p:nvSpPr>
        <p:spPr>
          <a:xfrm>
            <a:off x="2852928" y="1572768"/>
            <a:ext cx="1874520" cy="1143000"/>
          </a:xfrm>
          <a:prstGeom prst="roundRect">
            <a:avLst>
              <a:gd name="adj" fmla="val 6400"/>
            </a:avLst>
          </a:prstGeom>
          <a:solidFill>
            <a:schemeClr val="accent2"/>
          </a:solidFill>
          <a:ln w="12700">
            <a:solidFill>
              <a:schemeClr val="accent2"/>
            </a:solidFill>
            <a:prstDash val="solid"/>
          </a:ln>
        </p:spPr>
      </p:sp>
      <p:sp>
        <p:nvSpPr>
          <p:cNvPr id="8" name="Text 6"/>
          <p:cNvSpPr txBox="1"/>
          <p:nvPr/>
        </p:nvSpPr>
        <p:spPr>
          <a:xfrm>
            <a:off x="2962656" y="1682496"/>
            <a:ext cx="1655064" cy="548640"/>
          </a:xfrm>
          <a:prstGeom prst="rect">
            <a:avLst/>
          </a:prstGeom>
          <a:noFill/>
          <a:ln/>
        </p:spPr>
        <p:txBody>
          <a:bodyPr wrap="square" lIns="0" tIns="0" rIns="0" bIns="0" rtlCol="0" anchor="ctr"/>
          <a:lstStyle/>
          <a:p>
            <a:pPr algn="ctr" indent="0" marL="0">
              <a:buNone/>
            </a:pPr>
            <a:r>
              <a:rPr lang="en-US" sz="1500" b="1" dirty="0">
                <a:solidFill>
                  <a:schemeClr val="bg1"/>
                </a:solidFill>
              </a:rPr>
              <a:t>Sensor, meals, band, fingersticks</a:t>
            </a:r>
            <a:endParaRPr lang="en-US" sz="1500" dirty="0"/>
          </a:p>
        </p:txBody>
      </p:sp>
      <p:sp>
        <p:nvSpPr>
          <p:cNvPr id="9" name="Text 7"/>
          <p:cNvSpPr txBox="1"/>
          <p:nvPr/>
        </p:nvSpPr>
        <p:spPr>
          <a:xfrm>
            <a:off x="2962656" y="2286000"/>
            <a:ext cx="1655064" cy="320040"/>
          </a:xfrm>
          <a:prstGeom prst="rect">
            <a:avLst/>
          </a:prstGeom>
          <a:noFill/>
          <a:ln/>
        </p:spPr>
        <p:txBody>
          <a:bodyPr wrap="square" lIns="0" tIns="0" rIns="0" bIns="0" rtlCol="0" anchor="t"/>
          <a:lstStyle/>
          <a:p>
            <a:pPr algn="ctr" indent="0" marL="0">
              <a:buNone/>
            </a:pPr>
            <a:r>
              <a:rPr lang="en-US" sz="1200" dirty="0">
                <a:solidFill>
                  <a:schemeClr val="bg1"/>
                </a:solidFill>
              </a:rPr>
              <a:t>dynamic</a:t>
            </a:r>
            <a:endParaRPr lang="en-US" sz="1200" dirty="0"/>
          </a:p>
        </p:txBody>
      </p:sp>
      <p:sp>
        <p:nvSpPr>
          <p:cNvPr id="10" name="Text 8"/>
          <p:cNvSpPr txBox="1"/>
          <p:nvPr/>
        </p:nvSpPr>
        <p:spPr>
          <a:xfrm>
            <a:off x="4727448" y="1755648"/>
            <a:ext cx="429768" cy="731520"/>
          </a:xfrm>
          <a:prstGeom prst="rect">
            <a:avLst/>
          </a:prstGeom>
          <a:noFill/>
          <a:ln/>
        </p:spPr>
        <p:txBody>
          <a:bodyPr wrap="square" lIns="0" tIns="0" rIns="0" bIns="0" rtlCol="0" anchor="ctr"/>
          <a:lstStyle/>
          <a:p>
            <a:pPr algn="ctr" indent="0" marL="0">
              <a:buNone/>
            </a:pPr>
            <a:r>
              <a:rPr lang="en-US" sz="2800" b="1" dirty="0">
                <a:solidFill>
                  <a:schemeClr val="tx2"/>
                </a:solidFill>
              </a:rPr>
              <a:t>→</a:t>
            </a:r>
            <a:endParaRPr lang="en-US" sz="2800" dirty="0"/>
          </a:p>
        </p:txBody>
      </p:sp>
      <p:sp>
        <p:nvSpPr>
          <p:cNvPr id="11" name="Node Twin"/>
          <p:cNvSpPr/>
          <p:nvPr/>
        </p:nvSpPr>
        <p:spPr>
          <a:xfrm>
            <a:off x="5157216" y="1572768"/>
            <a:ext cx="1874520" cy="1143000"/>
          </a:xfrm>
          <a:prstGeom prst="roundRect">
            <a:avLst>
              <a:gd name="adj" fmla="val 6400"/>
            </a:avLst>
          </a:prstGeom>
          <a:solidFill>
            <a:schemeClr val="accent1"/>
          </a:solidFill>
          <a:ln w="12700">
            <a:solidFill>
              <a:schemeClr val="accent1"/>
            </a:solidFill>
            <a:prstDash val="solid"/>
          </a:ln>
        </p:spPr>
      </p:sp>
      <p:sp>
        <p:nvSpPr>
          <p:cNvPr id="12" name="Text 10"/>
          <p:cNvSpPr txBox="1"/>
          <p:nvPr/>
        </p:nvSpPr>
        <p:spPr>
          <a:xfrm>
            <a:off x="5266944" y="1682496"/>
            <a:ext cx="1655064" cy="548640"/>
          </a:xfrm>
          <a:prstGeom prst="rect">
            <a:avLst/>
          </a:prstGeom>
          <a:noFill/>
          <a:ln/>
        </p:spPr>
        <p:txBody>
          <a:bodyPr wrap="square" lIns="0" tIns="0" rIns="0" bIns="0" rtlCol="0" anchor="ctr"/>
          <a:lstStyle/>
          <a:p>
            <a:pPr algn="ctr" indent="0" marL="0">
              <a:buNone/>
            </a:pPr>
            <a:r>
              <a:rPr lang="en-US" sz="1500" b="1" dirty="0">
                <a:solidFill>
                  <a:schemeClr val="bg1"/>
                </a:solidFill>
              </a:rPr>
              <a:t>Twin</a:t>
            </a:r>
            <a:endParaRPr lang="en-US" sz="1500" dirty="0"/>
          </a:p>
        </p:txBody>
      </p:sp>
      <p:sp>
        <p:nvSpPr>
          <p:cNvPr id="13" name="Text 11"/>
          <p:cNvSpPr txBox="1"/>
          <p:nvPr/>
        </p:nvSpPr>
        <p:spPr>
          <a:xfrm>
            <a:off x="5266944" y="2286000"/>
            <a:ext cx="1655064" cy="320040"/>
          </a:xfrm>
          <a:prstGeom prst="rect">
            <a:avLst/>
          </a:prstGeom>
          <a:noFill/>
          <a:ln/>
        </p:spPr>
        <p:txBody>
          <a:bodyPr wrap="square" lIns="0" tIns="0" rIns="0" bIns="0" rtlCol="0" anchor="t"/>
          <a:lstStyle/>
          <a:p>
            <a:pPr algn="ctr" indent="0" marL="0">
              <a:buNone/>
            </a:pPr>
            <a:r>
              <a:rPr lang="en-US" sz="1200" dirty="0">
                <a:solidFill>
                  <a:schemeClr val="bg1"/>
                </a:solidFill>
              </a:rPr>
              <a:t>shadow with an 80 % band</a:t>
            </a:r>
            <a:endParaRPr lang="en-US" sz="1200" dirty="0"/>
          </a:p>
        </p:txBody>
      </p:sp>
      <p:sp>
        <p:nvSpPr>
          <p:cNvPr id="14" name="Text 12"/>
          <p:cNvSpPr txBox="1"/>
          <p:nvPr/>
        </p:nvSpPr>
        <p:spPr>
          <a:xfrm>
            <a:off x="7031736" y="1755648"/>
            <a:ext cx="429768" cy="731520"/>
          </a:xfrm>
          <a:prstGeom prst="rect">
            <a:avLst/>
          </a:prstGeom>
          <a:noFill/>
          <a:ln/>
        </p:spPr>
        <p:txBody>
          <a:bodyPr wrap="square" lIns="0" tIns="0" rIns="0" bIns="0" rtlCol="0" anchor="ctr"/>
          <a:lstStyle/>
          <a:p>
            <a:pPr algn="ctr" indent="0" marL="0">
              <a:buNone/>
            </a:pPr>
            <a:r>
              <a:rPr lang="en-US" sz="2800" b="1" dirty="0">
                <a:solidFill>
                  <a:schemeClr val="tx2"/>
                </a:solidFill>
              </a:rPr>
              <a:t>→</a:t>
            </a:r>
            <a:endParaRPr lang="en-US" sz="2800" dirty="0"/>
          </a:p>
        </p:txBody>
      </p:sp>
      <p:sp>
        <p:nvSpPr>
          <p:cNvPr id="15" name="Node Gate"/>
          <p:cNvSpPr/>
          <p:nvPr/>
        </p:nvSpPr>
        <p:spPr>
          <a:xfrm>
            <a:off x="7461504" y="1572768"/>
            <a:ext cx="1874520" cy="1143000"/>
          </a:xfrm>
          <a:prstGeom prst="roundRect">
            <a:avLst>
              <a:gd name="adj" fmla="val 6400"/>
            </a:avLst>
          </a:prstGeom>
          <a:solidFill>
            <a:schemeClr val="tx1"/>
          </a:solidFill>
          <a:ln w="12700">
            <a:solidFill>
              <a:schemeClr val="tx1"/>
            </a:solidFill>
            <a:prstDash val="solid"/>
          </a:ln>
        </p:spPr>
      </p:sp>
      <p:sp>
        <p:nvSpPr>
          <p:cNvPr id="16" name="Text 14"/>
          <p:cNvSpPr txBox="1"/>
          <p:nvPr/>
        </p:nvSpPr>
        <p:spPr>
          <a:xfrm>
            <a:off x="7571232" y="1682496"/>
            <a:ext cx="1655064" cy="548640"/>
          </a:xfrm>
          <a:prstGeom prst="rect">
            <a:avLst/>
          </a:prstGeom>
          <a:noFill/>
          <a:ln/>
        </p:spPr>
        <p:txBody>
          <a:bodyPr wrap="square" lIns="0" tIns="0" rIns="0" bIns="0" rtlCol="0" anchor="ctr"/>
          <a:lstStyle/>
          <a:p>
            <a:pPr algn="ctr" indent="0" marL="0">
              <a:buNone/>
            </a:pPr>
            <a:r>
              <a:rPr lang="en-US" sz="1500" b="1" dirty="0">
                <a:solidFill>
                  <a:schemeClr val="bg1"/>
                </a:solidFill>
              </a:rPr>
              <a:t>Gate</a:t>
            </a:r>
            <a:endParaRPr lang="en-US" sz="1500" dirty="0"/>
          </a:p>
        </p:txBody>
      </p:sp>
      <p:sp>
        <p:nvSpPr>
          <p:cNvPr id="17" name="Text 15"/>
          <p:cNvSpPr txBox="1"/>
          <p:nvPr/>
        </p:nvSpPr>
        <p:spPr>
          <a:xfrm>
            <a:off x="7571232" y="2286000"/>
            <a:ext cx="1655064" cy="320040"/>
          </a:xfrm>
          <a:prstGeom prst="rect">
            <a:avLst/>
          </a:prstGeom>
          <a:noFill/>
          <a:ln/>
        </p:spPr>
        <p:txBody>
          <a:bodyPr wrap="square" lIns="0" tIns="0" rIns="0" bIns="0" rtlCol="0" anchor="t"/>
          <a:lstStyle/>
          <a:p>
            <a:pPr algn="ctr" indent="0" marL="0">
              <a:buNone/>
            </a:pPr>
            <a:r>
              <a:rPr lang="en-US" sz="1200" dirty="0">
                <a:solidFill>
                  <a:schemeClr val="bg1"/>
                </a:solidFill>
              </a:rPr>
              <a:t>scored once, unseen patients</a:t>
            </a:r>
            <a:endParaRPr lang="en-US" sz="1200" dirty="0"/>
          </a:p>
        </p:txBody>
      </p:sp>
      <p:sp>
        <p:nvSpPr>
          <p:cNvPr id="18" name="Text 16"/>
          <p:cNvSpPr txBox="1"/>
          <p:nvPr/>
        </p:nvSpPr>
        <p:spPr>
          <a:xfrm>
            <a:off x="9336024" y="1755648"/>
            <a:ext cx="429768" cy="731520"/>
          </a:xfrm>
          <a:prstGeom prst="rect">
            <a:avLst/>
          </a:prstGeom>
          <a:noFill/>
          <a:ln/>
        </p:spPr>
        <p:txBody>
          <a:bodyPr wrap="square" lIns="0" tIns="0" rIns="0" bIns="0" rtlCol="0" anchor="ctr"/>
          <a:lstStyle/>
          <a:p>
            <a:pPr algn="ctr" indent="0" marL="0">
              <a:buNone/>
            </a:pPr>
            <a:r>
              <a:rPr lang="en-US" sz="2800" b="1" dirty="0">
                <a:solidFill>
                  <a:schemeClr val="tx2"/>
                </a:solidFill>
              </a:rPr>
              <a:t>→</a:t>
            </a:r>
            <a:endParaRPr lang="en-US" sz="2800" dirty="0"/>
          </a:p>
        </p:txBody>
      </p:sp>
      <p:sp>
        <p:nvSpPr>
          <p:cNvPr id="19" name="Node Doctor’s screen"/>
          <p:cNvSpPr/>
          <p:nvPr/>
        </p:nvSpPr>
        <p:spPr>
          <a:xfrm>
            <a:off x="9765792" y="1572768"/>
            <a:ext cx="1874520" cy="1143000"/>
          </a:xfrm>
          <a:prstGeom prst="roundRect">
            <a:avLst>
              <a:gd name="adj" fmla="val 6400"/>
            </a:avLst>
          </a:prstGeom>
          <a:solidFill>
            <a:schemeClr val="accent6"/>
          </a:solidFill>
          <a:ln w="12700">
            <a:solidFill>
              <a:schemeClr val="accent6"/>
            </a:solidFill>
            <a:prstDash val="solid"/>
          </a:ln>
        </p:spPr>
      </p:sp>
      <p:sp>
        <p:nvSpPr>
          <p:cNvPr id="20" name="Text 18"/>
          <p:cNvSpPr txBox="1"/>
          <p:nvPr/>
        </p:nvSpPr>
        <p:spPr>
          <a:xfrm>
            <a:off x="9875520" y="1682496"/>
            <a:ext cx="1655064" cy="548640"/>
          </a:xfrm>
          <a:prstGeom prst="rect">
            <a:avLst/>
          </a:prstGeom>
          <a:noFill/>
          <a:ln/>
        </p:spPr>
        <p:txBody>
          <a:bodyPr wrap="square" lIns="0" tIns="0" rIns="0" bIns="0" rtlCol="0" anchor="ctr"/>
          <a:lstStyle/>
          <a:p>
            <a:pPr algn="ctr" indent="0" marL="0">
              <a:buNone/>
            </a:pPr>
            <a:r>
              <a:rPr lang="en-US" sz="1500" b="1" dirty="0">
                <a:solidFill>
                  <a:schemeClr val="tx1"/>
                </a:solidFill>
              </a:rPr>
              <a:t>Doctor’s screen</a:t>
            </a:r>
            <a:endParaRPr lang="en-US" sz="1500" dirty="0"/>
          </a:p>
        </p:txBody>
      </p:sp>
      <p:sp>
        <p:nvSpPr>
          <p:cNvPr id="21" name="Text 19"/>
          <p:cNvSpPr txBox="1"/>
          <p:nvPr/>
        </p:nvSpPr>
        <p:spPr>
          <a:xfrm>
            <a:off x="9875520" y="2286000"/>
            <a:ext cx="1655064" cy="320040"/>
          </a:xfrm>
          <a:prstGeom prst="rect">
            <a:avLst/>
          </a:prstGeom>
          <a:noFill/>
          <a:ln/>
        </p:spPr>
        <p:txBody>
          <a:bodyPr wrap="square" lIns="0" tIns="0" rIns="0" bIns="0" rtlCol="0" anchor="t"/>
          <a:lstStyle/>
          <a:p>
            <a:pPr algn="ctr" indent="0" marL="0">
              <a:buNone/>
            </a:pPr>
            <a:r>
              <a:rPr lang="en-US" sz="1200" dirty="0">
                <a:solidFill>
                  <a:schemeClr val="tx1"/>
                </a:solidFill>
              </a:rPr>
              <a:t>three screens, offline</a:t>
            </a:r>
            <a:endParaRPr lang="en-US" sz="1200" dirty="0"/>
          </a:p>
        </p:txBody>
      </p:sp>
      <p:sp>
        <p:nvSpPr>
          <p:cNvPr id="22" name="Brief marker 1"/>
          <p:cNvSpPr/>
          <p:nvPr/>
        </p:nvSpPr>
        <p:spPr>
          <a:xfrm>
            <a:off x="548640" y="3154680"/>
            <a:ext cx="384048" cy="384048"/>
          </a:xfrm>
          <a:prstGeom prst="ellipse">
            <a:avLst/>
          </a:prstGeom>
          <a:solidFill>
            <a:schemeClr val="bg1"/>
          </a:solidFill>
          <a:ln w="19050">
            <a:solidFill>
              <a:schemeClr val="accent1"/>
            </a:solidFill>
            <a:prstDash val="solid"/>
          </a:ln>
        </p:spPr>
      </p:sp>
      <p:sp>
        <p:nvSpPr>
          <p:cNvPr id="23" name="Text 21"/>
          <p:cNvSpPr txBox="1"/>
          <p:nvPr/>
        </p:nvSpPr>
        <p:spPr>
          <a:xfrm>
            <a:off x="548640" y="315468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1</a:t>
            </a:r>
            <a:endParaRPr lang="en-US" sz="1400" dirty="0"/>
          </a:p>
        </p:txBody>
      </p:sp>
      <p:sp>
        <p:nvSpPr>
          <p:cNvPr id="24" name="Text 22"/>
          <p:cNvSpPr txBox="1"/>
          <p:nvPr/>
        </p:nvSpPr>
        <p:spPr>
          <a:xfrm>
            <a:off x="1115568" y="3127248"/>
            <a:ext cx="2834640" cy="457200"/>
          </a:xfrm>
          <a:prstGeom prst="rect">
            <a:avLst/>
          </a:prstGeom>
          <a:noFill/>
          <a:ln/>
        </p:spPr>
        <p:txBody>
          <a:bodyPr wrap="square" lIns="0" tIns="0" rIns="0" bIns="0" rtlCol="0" anchor="ctr"/>
          <a:lstStyle/>
          <a:p>
            <a:pPr indent="0" marL="0">
              <a:buNone/>
            </a:pPr>
            <a:r>
              <a:rPr lang="en-US" sz="1600" b="1" dirty="0">
                <a:solidFill>
                  <a:schemeClr val="tx1"/>
                </a:solidFill>
              </a:rPr>
              <a:t>Static stream</a:t>
            </a:r>
            <a:endParaRPr lang="en-US" sz="1600" dirty="0"/>
          </a:p>
        </p:txBody>
      </p:sp>
      <p:sp>
        <p:nvSpPr>
          <p:cNvPr id="25" name="Text 23"/>
          <p:cNvSpPr txBox="1"/>
          <p:nvPr/>
        </p:nvSpPr>
        <p:spPr>
          <a:xfrm>
            <a:off x="4023360" y="3127248"/>
            <a:ext cx="7589520" cy="457200"/>
          </a:xfrm>
          <a:prstGeom prst="rect">
            <a:avLst/>
          </a:prstGeom>
          <a:noFill/>
          <a:ln/>
        </p:spPr>
        <p:txBody>
          <a:bodyPr wrap="square" lIns="0" tIns="0" rIns="0" bIns="0" rtlCol="0" anchor="ctr"/>
          <a:lstStyle/>
          <a:p>
            <a:pPr indent="0" marL="0">
              <a:buNone/>
            </a:pPr>
            <a:r>
              <a:rPr lang="en-US" sz="1500" dirty="0">
                <a:solidFill>
                  <a:schemeClr val="tx2"/>
                </a:solidFill>
              </a:rPr>
              <a:t>A FHIR-shaped health record: diagnosis, duration, HbA1c, fasting glucose, BMI, medications.</a:t>
            </a:r>
            <a:endParaRPr lang="en-US" sz="1500" dirty="0"/>
          </a:p>
        </p:txBody>
      </p:sp>
      <p:sp>
        <p:nvSpPr>
          <p:cNvPr id="26" name="Brief marker 2"/>
          <p:cNvSpPr/>
          <p:nvPr/>
        </p:nvSpPr>
        <p:spPr>
          <a:xfrm>
            <a:off x="548640" y="3794760"/>
            <a:ext cx="384048" cy="384048"/>
          </a:xfrm>
          <a:prstGeom prst="ellipse">
            <a:avLst/>
          </a:prstGeom>
          <a:solidFill>
            <a:schemeClr val="bg1"/>
          </a:solidFill>
          <a:ln w="19050">
            <a:solidFill>
              <a:schemeClr val="accent1"/>
            </a:solidFill>
            <a:prstDash val="solid"/>
          </a:ln>
        </p:spPr>
      </p:sp>
      <p:sp>
        <p:nvSpPr>
          <p:cNvPr id="27" name="Text 25"/>
          <p:cNvSpPr txBox="1"/>
          <p:nvPr/>
        </p:nvSpPr>
        <p:spPr>
          <a:xfrm>
            <a:off x="548640" y="379476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2</a:t>
            </a:r>
            <a:endParaRPr lang="en-US" sz="1400" dirty="0"/>
          </a:p>
        </p:txBody>
      </p:sp>
      <p:sp>
        <p:nvSpPr>
          <p:cNvPr id="28" name="Text 26"/>
          <p:cNvSpPr txBox="1"/>
          <p:nvPr/>
        </p:nvSpPr>
        <p:spPr>
          <a:xfrm>
            <a:off x="1115568" y="3767328"/>
            <a:ext cx="2834640" cy="457200"/>
          </a:xfrm>
          <a:prstGeom prst="rect">
            <a:avLst/>
          </a:prstGeom>
          <a:noFill/>
          <a:ln/>
        </p:spPr>
        <p:txBody>
          <a:bodyPr wrap="square" lIns="0" tIns="0" rIns="0" bIns="0" rtlCol="0" anchor="ctr"/>
          <a:lstStyle/>
          <a:p>
            <a:pPr indent="0" marL="0">
              <a:buNone/>
            </a:pPr>
            <a:r>
              <a:rPr lang="en-US" sz="1600" b="1" dirty="0">
                <a:solidFill>
                  <a:schemeClr val="tx1"/>
                </a:solidFill>
              </a:rPr>
              <a:t>Dynamic stream</a:t>
            </a:r>
            <a:endParaRPr lang="en-US" sz="1600" dirty="0"/>
          </a:p>
        </p:txBody>
      </p:sp>
      <p:sp>
        <p:nvSpPr>
          <p:cNvPr id="29" name="Text 27"/>
          <p:cNvSpPr txBox="1"/>
          <p:nvPr/>
        </p:nvSpPr>
        <p:spPr>
          <a:xfrm>
            <a:off x="4023360" y="3767328"/>
            <a:ext cx="7589520" cy="457200"/>
          </a:xfrm>
          <a:prstGeom prst="rect">
            <a:avLst/>
          </a:prstGeom>
          <a:noFill/>
          <a:ln/>
        </p:spPr>
        <p:txBody>
          <a:bodyPr wrap="square" lIns="0" tIns="0" rIns="0" bIns="0" rtlCol="0" anchor="ctr"/>
          <a:lstStyle/>
          <a:p>
            <a:pPr indent="0" marL="0">
              <a:buNone/>
            </a:pPr>
            <a:r>
              <a:rPr lang="en-US" sz="1500" dirty="0">
                <a:solidFill>
                  <a:schemeClr val="tx2"/>
                </a:solidFill>
              </a:rPr>
              <a:t>CGM sensor wear, meal log, wrist-band activity and fingersticks.</a:t>
            </a:r>
            <a:endParaRPr lang="en-US" sz="1500" dirty="0"/>
          </a:p>
        </p:txBody>
      </p:sp>
      <p:sp>
        <p:nvSpPr>
          <p:cNvPr id="30" name="Brief marker 3"/>
          <p:cNvSpPr/>
          <p:nvPr/>
        </p:nvSpPr>
        <p:spPr>
          <a:xfrm>
            <a:off x="548640" y="4434840"/>
            <a:ext cx="384048" cy="384048"/>
          </a:xfrm>
          <a:prstGeom prst="ellipse">
            <a:avLst/>
          </a:prstGeom>
          <a:solidFill>
            <a:schemeClr val="bg1"/>
          </a:solidFill>
          <a:ln w="19050">
            <a:solidFill>
              <a:schemeClr val="accent1"/>
            </a:solidFill>
            <a:prstDash val="solid"/>
          </a:ln>
        </p:spPr>
      </p:sp>
      <p:sp>
        <p:nvSpPr>
          <p:cNvPr id="31" name="Text 29"/>
          <p:cNvSpPr txBox="1"/>
          <p:nvPr/>
        </p:nvSpPr>
        <p:spPr>
          <a:xfrm>
            <a:off x="548640" y="443484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3</a:t>
            </a:r>
            <a:endParaRPr lang="en-US" sz="1400" dirty="0"/>
          </a:p>
        </p:txBody>
      </p:sp>
      <p:sp>
        <p:nvSpPr>
          <p:cNvPr id="32" name="Text 30"/>
          <p:cNvSpPr txBox="1"/>
          <p:nvPr/>
        </p:nvSpPr>
        <p:spPr>
          <a:xfrm>
            <a:off x="1115568" y="4407408"/>
            <a:ext cx="2834640" cy="457200"/>
          </a:xfrm>
          <a:prstGeom prst="rect">
            <a:avLst/>
          </a:prstGeom>
          <a:noFill/>
          <a:ln/>
        </p:spPr>
        <p:txBody>
          <a:bodyPr wrap="square" lIns="0" tIns="0" rIns="0" bIns="0" rtlCol="0" anchor="ctr"/>
          <a:lstStyle/>
          <a:p>
            <a:pPr indent="0" marL="0">
              <a:buNone/>
            </a:pPr>
            <a:r>
              <a:rPr lang="en-US" sz="1600" b="1" dirty="0">
                <a:solidFill>
                  <a:schemeClr val="tx1"/>
                </a:solidFill>
              </a:rPr>
              <a:t>Fusion</a:t>
            </a:r>
            <a:endParaRPr lang="en-US" sz="1600" dirty="0"/>
          </a:p>
        </p:txBody>
      </p:sp>
      <p:sp>
        <p:nvSpPr>
          <p:cNvPr id="33" name="Text 31"/>
          <p:cNvSpPr txBox="1"/>
          <p:nvPr/>
        </p:nvSpPr>
        <p:spPr>
          <a:xfrm>
            <a:off x="4023360" y="4407408"/>
            <a:ext cx="7589520" cy="457200"/>
          </a:xfrm>
          <a:prstGeom prst="rect">
            <a:avLst/>
          </a:prstGeom>
          <a:noFill/>
          <a:ln/>
        </p:spPr>
        <p:txBody>
          <a:bodyPr wrap="square" lIns="0" tIns="0" rIns="0" bIns="0" rtlCol="0" anchor="ctr"/>
          <a:lstStyle/>
          <a:p>
            <a:pPr indent="0" marL="0">
              <a:buNone/>
            </a:pPr>
            <a:r>
              <a:rPr lang="en-US" sz="1500" dirty="0">
                <a:solidFill>
                  <a:schemeClr val="tx2"/>
                </a:solidFill>
              </a:rPr>
              <a:t>The record sets the prior; the sensor wear is the evidence (MAP fit, Laplace ensemble).</a:t>
            </a:r>
            <a:endParaRPr lang="en-US" sz="1500" dirty="0"/>
          </a:p>
        </p:txBody>
      </p:sp>
      <p:sp>
        <p:nvSpPr>
          <p:cNvPr id="34" name="Brief marker 4"/>
          <p:cNvSpPr/>
          <p:nvPr/>
        </p:nvSpPr>
        <p:spPr>
          <a:xfrm>
            <a:off x="548640" y="5074920"/>
            <a:ext cx="384048" cy="384048"/>
          </a:xfrm>
          <a:prstGeom prst="ellipse">
            <a:avLst/>
          </a:prstGeom>
          <a:solidFill>
            <a:schemeClr val="bg1"/>
          </a:solidFill>
          <a:ln w="19050">
            <a:solidFill>
              <a:schemeClr val="accent1"/>
            </a:solidFill>
            <a:prstDash val="solid"/>
          </a:ln>
        </p:spPr>
      </p:sp>
      <p:sp>
        <p:nvSpPr>
          <p:cNvPr id="35" name="Text 33"/>
          <p:cNvSpPr txBox="1"/>
          <p:nvPr/>
        </p:nvSpPr>
        <p:spPr>
          <a:xfrm>
            <a:off x="548640" y="507492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4</a:t>
            </a:r>
            <a:endParaRPr lang="en-US" sz="1400" dirty="0"/>
          </a:p>
        </p:txBody>
      </p:sp>
      <p:sp>
        <p:nvSpPr>
          <p:cNvPr id="36" name="Text 34"/>
          <p:cNvSpPr txBox="1"/>
          <p:nvPr/>
        </p:nvSpPr>
        <p:spPr>
          <a:xfrm>
            <a:off x="1115568" y="5047488"/>
            <a:ext cx="2834640" cy="457200"/>
          </a:xfrm>
          <a:prstGeom prst="rect">
            <a:avLst/>
          </a:prstGeom>
          <a:noFill/>
          <a:ln/>
        </p:spPr>
        <p:txBody>
          <a:bodyPr wrap="square" lIns="0" tIns="0" rIns="0" bIns="0" rtlCol="0" anchor="ctr"/>
          <a:lstStyle/>
          <a:p>
            <a:pPr indent="0" marL="0">
              <a:buNone/>
            </a:pPr>
            <a:r>
              <a:rPr lang="en-US" sz="1600" b="1" dirty="0">
                <a:solidFill>
                  <a:schemeClr val="tx1"/>
                </a:solidFill>
              </a:rPr>
              <a:t>Adverse events predicted</a:t>
            </a:r>
            <a:endParaRPr lang="en-US" sz="1600" dirty="0"/>
          </a:p>
        </p:txBody>
      </p:sp>
      <p:sp>
        <p:nvSpPr>
          <p:cNvPr id="37" name="Text 35"/>
          <p:cNvSpPr txBox="1"/>
          <p:nvPr/>
        </p:nvSpPr>
        <p:spPr>
          <a:xfrm>
            <a:off x="4023360" y="5047488"/>
            <a:ext cx="7589520" cy="457200"/>
          </a:xfrm>
          <a:prstGeom prst="rect">
            <a:avLst/>
          </a:prstGeom>
          <a:noFill/>
          <a:ln/>
        </p:spPr>
        <p:txBody>
          <a:bodyPr wrap="square" lIns="0" tIns="0" rIns="0" bIns="0" rtlCol="0" anchor="ctr"/>
          <a:lstStyle/>
          <a:p>
            <a:pPr indent="0" marL="0">
              <a:buNone/>
            </a:pPr>
            <a:r>
              <a:rPr lang="en-US" sz="1500" dirty="0">
                <a:solidFill>
                  <a:schemeClr val="tx2"/>
                </a:solidFill>
              </a:rPr>
              <a:t>Post-meal excursion (AUROC 0.82 with the sensor, 0.71 without) and a stale-report prompt (AUROC 0.82).</a:t>
            </a:r>
            <a:endParaRPr lang="en-US" sz="1500" dirty="0"/>
          </a:p>
        </p:txBody>
      </p:sp>
      <p:sp>
        <p:nvSpPr>
          <p:cNvPr id="38" name="Brief marker 5"/>
          <p:cNvSpPr/>
          <p:nvPr/>
        </p:nvSpPr>
        <p:spPr>
          <a:xfrm>
            <a:off x="548640" y="5715000"/>
            <a:ext cx="384048" cy="384048"/>
          </a:xfrm>
          <a:prstGeom prst="ellipse">
            <a:avLst/>
          </a:prstGeom>
          <a:solidFill>
            <a:schemeClr val="bg1"/>
          </a:solidFill>
          <a:ln w="19050">
            <a:solidFill>
              <a:schemeClr val="accent1"/>
            </a:solidFill>
            <a:prstDash val="solid"/>
          </a:ln>
        </p:spPr>
      </p:sp>
      <p:sp>
        <p:nvSpPr>
          <p:cNvPr id="39" name="Text 37"/>
          <p:cNvSpPr txBox="1"/>
          <p:nvPr/>
        </p:nvSpPr>
        <p:spPr>
          <a:xfrm>
            <a:off x="548640" y="571500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5</a:t>
            </a:r>
            <a:endParaRPr lang="en-US" sz="1400" dirty="0"/>
          </a:p>
        </p:txBody>
      </p:sp>
      <p:sp>
        <p:nvSpPr>
          <p:cNvPr id="40" name="Text 38"/>
          <p:cNvSpPr txBox="1"/>
          <p:nvPr/>
        </p:nvSpPr>
        <p:spPr>
          <a:xfrm>
            <a:off x="1115568" y="5687568"/>
            <a:ext cx="2834640" cy="457200"/>
          </a:xfrm>
          <a:prstGeom prst="rect">
            <a:avLst/>
          </a:prstGeom>
          <a:noFill/>
          <a:ln/>
        </p:spPr>
        <p:txBody>
          <a:bodyPr wrap="square" lIns="0" tIns="0" rIns="0" bIns="0" rtlCol="0" anchor="ctr"/>
          <a:lstStyle/>
          <a:p>
            <a:pPr indent="0" marL="0">
              <a:buNone/>
            </a:pPr>
            <a:r>
              <a:rPr lang="en-US" sz="1600" b="1" dirty="0">
                <a:solidFill>
                  <a:schemeClr val="tx1"/>
                </a:solidFill>
              </a:rPr>
              <a:t>Doctor dashboard</a:t>
            </a:r>
            <a:endParaRPr lang="en-US" sz="1600" dirty="0"/>
          </a:p>
        </p:txBody>
      </p:sp>
      <p:sp>
        <p:nvSpPr>
          <p:cNvPr id="41" name="Text 39"/>
          <p:cNvSpPr txBox="1"/>
          <p:nvPr/>
        </p:nvSpPr>
        <p:spPr>
          <a:xfrm>
            <a:off x="4023360" y="5687568"/>
            <a:ext cx="7589520" cy="457200"/>
          </a:xfrm>
          <a:prstGeom prst="rect">
            <a:avLst/>
          </a:prstGeom>
          <a:noFill/>
          <a:ln/>
        </p:spPr>
        <p:txBody>
          <a:bodyPr wrap="square" lIns="0" tIns="0" rIns="0" bIns="0" rtlCol="0" anchor="ctr"/>
          <a:lstStyle/>
          <a:p>
            <a:pPr indent="0" marL="0">
              <a:buNone/>
            </a:pPr>
            <a:r>
              <a:rPr lang="en-US" sz="1500" dirty="0">
                <a:solidFill>
                  <a:schemeClr val="tx2"/>
                </a:solidFill>
              </a:rPr>
              <a:t>One panel per stream plus the shadow; runs offline; live demo online.</a:t>
            </a:r>
            <a:endParaRPr lang="en-US" sz="1500" dirty="0"/>
          </a:p>
        </p:txBody>
      </p:sp>
      <p:sp>
        <p:nvSpPr>
          <p:cNvPr id="25" name="Slide Number Placeholder 0"/>
          <p:cNvSpPr>
            <a:spLocks noGrp="1"/>
          </p:cNvSpPr>
          <p:nvPr>
            <p:ph type="sldNum" sz="quarter" idx="4294967295"/>
          </p:nvPr>
        </p:nvSpPr>
        <p:spPr>
          <a:xfrm>
            <a:off x="10972800" y="6437376"/>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6A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200" b="1" dirty="0">
                <a:solidFill>
                  <a:schemeClr val="tx1"/>
                </a:solidFill>
              </a:rPr>
              <a:t>A physiology-based twin, fitted to one wear and always drawn with its uncertainty</a:t>
            </a:r>
            <a:endParaRPr lang="en-US" sz="3200" dirty="0"/>
          </a:p>
        </p:txBody>
      </p:sp>
      <p:sp>
        <p:nvSpPr>
          <p:cNvPr id="3" name="Step 1"/>
          <p:cNvSpPr/>
          <p:nvPr/>
        </p:nvSpPr>
        <p:spPr>
          <a:xfrm>
            <a:off x="548640" y="1572768"/>
            <a:ext cx="1691640" cy="1783080"/>
          </a:xfrm>
          <a:prstGeom prst="roundRect">
            <a:avLst>
              <a:gd name="adj" fmla="val 4324"/>
            </a:avLst>
          </a:prstGeom>
          <a:solidFill>
            <a:schemeClr val="bg2"/>
          </a:solidFill>
          <a:ln w="12700">
            <a:solidFill>
              <a:schemeClr val="bg2"/>
            </a:solidFill>
            <a:prstDash val="solid"/>
          </a:ln>
        </p:spPr>
      </p:sp>
      <p:sp>
        <p:nvSpPr>
          <p:cNvPr id="4" name="Step badge 1"/>
          <p:cNvSpPr/>
          <p:nvPr/>
        </p:nvSpPr>
        <p:spPr>
          <a:xfrm>
            <a:off x="685800" y="1709928"/>
            <a:ext cx="329184" cy="329184"/>
          </a:xfrm>
          <a:prstGeom prst="ellipse">
            <a:avLst/>
          </a:prstGeom>
          <a:solidFill>
            <a:schemeClr val="tx2"/>
          </a:solidFill>
          <a:ln w="12700">
            <a:solidFill>
              <a:schemeClr val="tx2"/>
            </a:solidFill>
            <a:prstDash val="solid"/>
          </a:ln>
        </p:spPr>
      </p:sp>
      <p:sp>
        <p:nvSpPr>
          <p:cNvPr id="5" name="Text 3"/>
          <p:cNvSpPr txBox="1"/>
          <p:nvPr/>
        </p:nvSpPr>
        <p:spPr>
          <a:xfrm>
            <a:off x="685800" y="17099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4"/>
          <p:cNvSpPr txBox="1"/>
          <p:nvPr/>
        </p:nvSpPr>
        <p:spPr>
          <a:xfrm>
            <a:off x="1078992" y="1709928"/>
            <a:ext cx="1097280" cy="329184"/>
          </a:xfrm>
          <a:prstGeom prst="rect">
            <a:avLst/>
          </a:prstGeom>
          <a:noFill/>
          <a:ln/>
        </p:spPr>
        <p:txBody>
          <a:bodyPr wrap="square" lIns="0" tIns="0" rIns="0" bIns="0" rtlCol="0" anchor="ctr"/>
          <a:lstStyle/>
          <a:p>
            <a:pPr indent="0" marL="0">
              <a:buNone/>
            </a:pPr>
            <a:r>
              <a:rPr lang="en-US" sz="1400" b="1" dirty="0">
                <a:solidFill>
                  <a:schemeClr val="tx1"/>
                </a:solidFill>
              </a:rPr>
              <a:t>Record</a:t>
            </a:r>
            <a:endParaRPr lang="en-US" sz="1400" dirty="0"/>
          </a:p>
        </p:txBody>
      </p:sp>
      <p:sp>
        <p:nvSpPr>
          <p:cNvPr id="7" name="Text 5"/>
          <p:cNvSpPr txBox="1"/>
          <p:nvPr/>
        </p:nvSpPr>
        <p:spPr>
          <a:xfrm>
            <a:off x="685800" y="2194560"/>
            <a:ext cx="1417320" cy="1005840"/>
          </a:xfrm>
          <a:prstGeom prst="rect">
            <a:avLst/>
          </a:prstGeom>
          <a:noFill/>
          <a:ln/>
        </p:spPr>
        <p:txBody>
          <a:bodyPr wrap="square" lIns="0" tIns="0" rIns="0" bIns="0" rtlCol="0" anchor="t"/>
          <a:lstStyle/>
          <a:p>
            <a:pPr indent="0" marL="0">
              <a:buNone/>
            </a:pPr>
            <a:r>
              <a:rPr lang="en-US" sz="1400" dirty="0">
                <a:solidFill>
                  <a:schemeClr val="tx2"/>
                </a:solidFill>
              </a:rPr>
              <a:t>Fasting glucose sets the prior</a:t>
            </a:r>
            <a:endParaRPr lang="en-US" sz="1400" dirty="0"/>
          </a:p>
        </p:txBody>
      </p:sp>
      <p:sp>
        <p:nvSpPr>
          <p:cNvPr id="8" name="Text 6"/>
          <p:cNvSpPr txBox="1"/>
          <p:nvPr/>
        </p:nvSpPr>
        <p:spPr>
          <a:xfrm>
            <a:off x="2240280" y="2057400"/>
            <a:ext cx="188366" cy="457200"/>
          </a:xfrm>
          <a:prstGeom prst="rect">
            <a:avLst/>
          </a:prstGeom>
          <a:noFill/>
          <a:ln/>
        </p:spPr>
        <p:txBody>
          <a:bodyPr wrap="square" lIns="0" tIns="0" rIns="0" bIns="0" rtlCol="0" anchor="ctr"/>
          <a:lstStyle/>
          <a:p>
            <a:pPr algn="ctr" indent="0" marL="0">
              <a:buNone/>
            </a:pPr>
            <a:r>
              <a:rPr lang="en-US" sz="1800" b="1" dirty="0">
                <a:solidFill>
                  <a:schemeClr val="tx2"/>
                </a:solidFill>
              </a:rPr>
              <a:t>→</a:t>
            </a:r>
            <a:endParaRPr lang="en-US" sz="1800" dirty="0"/>
          </a:p>
        </p:txBody>
      </p:sp>
      <p:sp>
        <p:nvSpPr>
          <p:cNvPr id="9" name="Step 2"/>
          <p:cNvSpPr/>
          <p:nvPr/>
        </p:nvSpPr>
        <p:spPr>
          <a:xfrm>
            <a:off x="2428646" y="1572768"/>
            <a:ext cx="1691640" cy="1783080"/>
          </a:xfrm>
          <a:prstGeom prst="roundRect">
            <a:avLst>
              <a:gd name="adj" fmla="val 4324"/>
            </a:avLst>
          </a:prstGeom>
          <a:solidFill>
            <a:schemeClr val="bg2"/>
          </a:solidFill>
          <a:ln w="12700">
            <a:solidFill>
              <a:schemeClr val="bg2"/>
            </a:solidFill>
            <a:prstDash val="solid"/>
          </a:ln>
        </p:spPr>
      </p:sp>
      <p:sp>
        <p:nvSpPr>
          <p:cNvPr id="10" name="Step badge 2"/>
          <p:cNvSpPr/>
          <p:nvPr/>
        </p:nvSpPr>
        <p:spPr>
          <a:xfrm>
            <a:off x="2565806" y="1709928"/>
            <a:ext cx="329184" cy="329184"/>
          </a:xfrm>
          <a:prstGeom prst="ellipse">
            <a:avLst/>
          </a:prstGeom>
          <a:solidFill>
            <a:schemeClr val="accent2"/>
          </a:solidFill>
          <a:ln w="12700">
            <a:solidFill>
              <a:schemeClr val="accent2"/>
            </a:solidFill>
            <a:prstDash val="solid"/>
          </a:ln>
        </p:spPr>
      </p:sp>
      <p:sp>
        <p:nvSpPr>
          <p:cNvPr id="11" name="Text 9"/>
          <p:cNvSpPr txBox="1"/>
          <p:nvPr/>
        </p:nvSpPr>
        <p:spPr>
          <a:xfrm>
            <a:off x="2565806" y="17099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2958998" y="1709928"/>
            <a:ext cx="1097280" cy="329184"/>
          </a:xfrm>
          <a:prstGeom prst="rect">
            <a:avLst/>
          </a:prstGeom>
          <a:noFill/>
          <a:ln/>
        </p:spPr>
        <p:txBody>
          <a:bodyPr wrap="square" lIns="0" tIns="0" rIns="0" bIns="0" rtlCol="0" anchor="ctr"/>
          <a:lstStyle/>
          <a:p>
            <a:pPr indent="0" marL="0">
              <a:buNone/>
            </a:pPr>
            <a:r>
              <a:rPr lang="en-US" sz="1400" b="1" dirty="0">
                <a:solidFill>
                  <a:schemeClr val="tx1"/>
                </a:solidFill>
              </a:rPr>
              <a:t>Wear</a:t>
            </a:r>
            <a:endParaRPr lang="en-US" sz="1400" dirty="0"/>
          </a:p>
        </p:txBody>
      </p:sp>
      <p:sp>
        <p:nvSpPr>
          <p:cNvPr id="13" name="Text 11"/>
          <p:cNvSpPr txBox="1"/>
          <p:nvPr/>
        </p:nvSpPr>
        <p:spPr>
          <a:xfrm>
            <a:off x="2565806" y="2194560"/>
            <a:ext cx="1417320" cy="1005840"/>
          </a:xfrm>
          <a:prstGeom prst="rect">
            <a:avLst/>
          </a:prstGeom>
          <a:noFill/>
          <a:ln/>
        </p:spPr>
        <p:txBody>
          <a:bodyPr wrap="square" lIns="0" tIns="0" rIns="0" bIns="0" rtlCol="0" anchor="t"/>
          <a:lstStyle/>
          <a:p>
            <a:pPr indent="0" marL="0">
              <a:buNone/>
            </a:pPr>
            <a:r>
              <a:rPr lang="en-US" sz="1400" dirty="0">
                <a:solidFill>
                  <a:schemeClr val="tx2"/>
                </a:solidFill>
              </a:rPr>
              <a:t>MAP fit from six starts</a:t>
            </a:r>
            <a:endParaRPr lang="en-US" sz="1400" dirty="0"/>
          </a:p>
        </p:txBody>
      </p:sp>
      <p:sp>
        <p:nvSpPr>
          <p:cNvPr id="14" name="Text 12"/>
          <p:cNvSpPr txBox="1"/>
          <p:nvPr/>
        </p:nvSpPr>
        <p:spPr>
          <a:xfrm>
            <a:off x="4120286" y="2057400"/>
            <a:ext cx="188366" cy="457200"/>
          </a:xfrm>
          <a:prstGeom prst="rect">
            <a:avLst/>
          </a:prstGeom>
          <a:noFill/>
          <a:ln/>
        </p:spPr>
        <p:txBody>
          <a:bodyPr wrap="square" lIns="0" tIns="0" rIns="0" bIns="0" rtlCol="0" anchor="ctr"/>
          <a:lstStyle/>
          <a:p>
            <a:pPr algn="ctr" indent="0" marL="0">
              <a:buNone/>
            </a:pPr>
            <a:r>
              <a:rPr lang="en-US" sz="1800" b="1" dirty="0">
                <a:solidFill>
                  <a:schemeClr val="tx2"/>
                </a:solidFill>
              </a:rPr>
              <a:t>→</a:t>
            </a:r>
            <a:endParaRPr lang="en-US" sz="1800" dirty="0"/>
          </a:p>
        </p:txBody>
      </p:sp>
      <p:sp>
        <p:nvSpPr>
          <p:cNvPr id="15" name="Step 3"/>
          <p:cNvSpPr/>
          <p:nvPr/>
        </p:nvSpPr>
        <p:spPr>
          <a:xfrm>
            <a:off x="4308653" y="1572768"/>
            <a:ext cx="1691640" cy="1783080"/>
          </a:xfrm>
          <a:prstGeom prst="roundRect">
            <a:avLst>
              <a:gd name="adj" fmla="val 4324"/>
            </a:avLst>
          </a:prstGeom>
          <a:solidFill>
            <a:schemeClr val="bg2"/>
          </a:solidFill>
          <a:ln w="12700">
            <a:solidFill>
              <a:schemeClr val="bg2"/>
            </a:solidFill>
            <a:prstDash val="solid"/>
          </a:ln>
        </p:spPr>
      </p:sp>
      <p:sp>
        <p:nvSpPr>
          <p:cNvPr id="16" name="Step badge 3"/>
          <p:cNvSpPr/>
          <p:nvPr/>
        </p:nvSpPr>
        <p:spPr>
          <a:xfrm>
            <a:off x="4445813" y="1709928"/>
            <a:ext cx="329184" cy="329184"/>
          </a:xfrm>
          <a:prstGeom prst="ellipse">
            <a:avLst/>
          </a:prstGeom>
          <a:solidFill>
            <a:schemeClr val="accent1"/>
          </a:solidFill>
          <a:ln w="12700">
            <a:solidFill>
              <a:schemeClr val="accent1"/>
            </a:solidFill>
            <a:prstDash val="solid"/>
          </a:ln>
        </p:spPr>
      </p:sp>
      <p:sp>
        <p:nvSpPr>
          <p:cNvPr id="17" name="Text 15"/>
          <p:cNvSpPr txBox="1"/>
          <p:nvPr/>
        </p:nvSpPr>
        <p:spPr>
          <a:xfrm>
            <a:off x="4445813" y="17099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Text 16"/>
          <p:cNvSpPr txBox="1"/>
          <p:nvPr/>
        </p:nvSpPr>
        <p:spPr>
          <a:xfrm>
            <a:off x="4839005" y="1709928"/>
            <a:ext cx="1097280" cy="329184"/>
          </a:xfrm>
          <a:prstGeom prst="rect">
            <a:avLst/>
          </a:prstGeom>
          <a:noFill/>
          <a:ln/>
        </p:spPr>
        <p:txBody>
          <a:bodyPr wrap="square" lIns="0" tIns="0" rIns="0" bIns="0" rtlCol="0" anchor="ctr"/>
          <a:lstStyle/>
          <a:p>
            <a:pPr indent="0" marL="0">
              <a:buNone/>
            </a:pPr>
            <a:r>
              <a:rPr lang="en-US" sz="1400" b="1" dirty="0">
                <a:solidFill>
                  <a:schemeClr val="tx1"/>
                </a:solidFill>
              </a:rPr>
              <a:t>Ensemble</a:t>
            </a:r>
            <a:endParaRPr lang="en-US" sz="1400" dirty="0"/>
          </a:p>
        </p:txBody>
      </p:sp>
      <p:sp>
        <p:nvSpPr>
          <p:cNvPr id="19" name="Text 17"/>
          <p:cNvSpPr txBox="1"/>
          <p:nvPr/>
        </p:nvSpPr>
        <p:spPr>
          <a:xfrm>
            <a:off x="4445813" y="2194560"/>
            <a:ext cx="1417320" cy="1005840"/>
          </a:xfrm>
          <a:prstGeom prst="rect">
            <a:avLst/>
          </a:prstGeom>
          <a:noFill/>
          <a:ln/>
        </p:spPr>
        <p:txBody>
          <a:bodyPr wrap="square" lIns="0" tIns="0" rIns="0" bIns="0" rtlCol="0" anchor="t"/>
          <a:lstStyle/>
          <a:p>
            <a:pPr indent="0" marL="0">
              <a:buNone/>
            </a:pPr>
            <a:r>
              <a:rPr lang="en-US" sz="1400" dirty="0">
                <a:solidFill>
                  <a:schemeClr val="tx2"/>
                </a:solidFill>
              </a:rPr>
              <a:t>Laplace posterior, 200 members</a:t>
            </a:r>
            <a:endParaRPr lang="en-US" sz="1400" dirty="0"/>
          </a:p>
        </p:txBody>
      </p:sp>
      <p:sp>
        <p:nvSpPr>
          <p:cNvPr id="20" name="Text 18"/>
          <p:cNvSpPr txBox="1"/>
          <p:nvPr/>
        </p:nvSpPr>
        <p:spPr>
          <a:xfrm>
            <a:off x="6000293" y="2057400"/>
            <a:ext cx="188366" cy="457200"/>
          </a:xfrm>
          <a:prstGeom prst="rect">
            <a:avLst/>
          </a:prstGeom>
          <a:noFill/>
          <a:ln/>
        </p:spPr>
        <p:txBody>
          <a:bodyPr wrap="square" lIns="0" tIns="0" rIns="0" bIns="0" rtlCol="0" anchor="ctr"/>
          <a:lstStyle/>
          <a:p>
            <a:pPr algn="ctr" indent="0" marL="0">
              <a:buNone/>
            </a:pPr>
            <a:r>
              <a:rPr lang="en-US" sz="1800" b="1" dirty="0">
                <a:solidFill>
                  <a:schemeClr val="tx2"/>
                </a:solidFill>
              </a:rPr>
              <a:t>→</a:t>
            </a:r>
            <a:endParaRPr lang="en-US" sz="1800" dirty="0"/>
          </a:p>
        </p:txBody>
      </p:sp>
      <p:sp>
        <p:nvSpPr>
          <p:cNvPr id="21" name="Step 4"/>
          <p:cNvSpPr/>
          <p:nvPr/>
        </p:nvSpPr>
        <p:spPr>
          <a:xfrm>
            <a:off x="6188659" y="1572768"/>
            <a:ext cx="1691640" cy="1783080"/>
          </a:xfrm>
          <a:prstGeom prst="roundRect">
            <a:avLst>
              <a:gd name="adj" fmla="val 4324"/>
            </a:avLst>
          </a:prstGeom>
          <a:solidFill>
            <a:schemeClr val="bg2"/>
          </a:solidFill>
          <a:ln w="12700">
            <a:solidFill>
              <a:schemeClr val="bg2"/>
            </a:solidFill>
            <a:prstDash val="solid"/>
          </a:ln>
        </p:spPr>
      </p:sp>
      <p:sp>
        <p:nvSpPr>
          <p:cNvPr id="22" name="Step badge 4"/>
          <p:cNvSpPr/>
          <p:nvPr/>
        </p:nvSpPr>
        <p:spPr>
          <a:xfrm>
            <a:off x="6325819" y="1709928"/>
            <a:ext cx="329184" cy="329184"/>
          </a:xfrm>
          <a:prstGeom prst="ellipse">
            <a:avLst/>
          </a:prstGeom>
          <a:solidFill>
            <a:schemeClr val="accent1"/>
          </a:solidFill>
          <a:ln w="12700">
            <a:solidFill>
              <a:schemeClr val="accent1"/>
            </a:solidFill>
            <a:prstDash val="solid"/>
          </a:ln>
        </p:spPr>
      </p:sp>
      <p:sp>
        <p:nvSpPr>
          <p:cNvPr id="23" name="Text 21"/>
          <p:cNvSpPr txBox="1"/>
          <p:nvPr/>
        </p:nvSpPr>
        <p:spPr>
          <a:xfrm>
            <a:off x="6325819" y="17099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4" name="Text 22"/>
          <p:cNvSpPr txBox="1"/>
          <p:nvPr/>
        </p:nvSpPr>
        <p:spPr>
          <a:xfrm>
            <a:off x="6719011" y="1709928"/>
            <a:ext cx="1097280" cy="329184"/>
          </a:xfrm>
          <a:prstGeom prst="rect">
            <a:avLst/>
          </a:prstGeom>
          <a:noFill/>
          <a:ln/>
        </p:spPr>
        <p:txBody>
          <a:bodyPr wrap="square" lIns="0" tIns="0" rIns="0" bIns="0" rtlCol="0" anchor="ctr"/>
          <a:lstStyle/>
          <a:p>
            <a:pPr indent="0" marL="0">
              <a:buNone/>
            </a:pPr>
            <a:r>
              <a:rPr lang="en-US" sz="1400" b="1" dirty="0">
                <a:solidFill>
                  <a:schemeClr val="tx1"/>
                </a:solidFill>
              </a:rPr>
              <a:t>Simulate</a:t>
            </a:r>
            <a:endParaRPr lang="en-US" sz="1400" dirty="0"/>
          </a:p>
        </p:txBody>
      </p:sp>
      <p:sp>
        <p:nvSpPr>
          <p:cNvPr id="25" name="Text 23"/>
          <p:cNvSpPr txBox="1"/>
          <p:nvPr/>
        </p:nvSpPr>
        <p:spPr>
          <a:xfrm>
            <a:off x="6325819" y="2194560"/>
            <a:ext cx="1417320" cy="1005840"/>
          </a:xfrm>
          <a:prstGeom prst="rect">
            <a:avLst/>
          </a:prstGeom>
          <a:noFill/>
          <a:ln/>
        </p:spPr>
        <p:txBody>
          <a:bodyPr wrap="square" lIns="0" tIns="0" rIns="0" bIns="0" rtlCol="0" anchor="t"/>
          <a:lstStyle/>
          <a:p>
            <a:pPr indent="0" marL="0">
              <a:buNone/>
            </a:pPr>
            <a:r>
              <a:rPr lang="en-US" sz="1400" dirty="0">
                <a:solidFill>
                  <a:schemeClr val="tx2"/>
                </a:solidFill>
              </a:rPr>
              <a:t>E-DES, RK4, JAX float64</a:t>
            </a:r>
            <a:endParaRPr lang="en-US" sz="1400" dirty="0"/>
          </a:p>
        </p:txBody>
      </p:sp>
      <p:sp>
        <p:nvSpPr>
          <p:cNvPr id="26" name="Text 24"/>
          <p:cNvSpPr txBox="1"/>
          <p:nvPr/>
        </p:nvSpPr>
        <p:spPr>
          <a:xfrm>
            <a:off x="7880299" y="2057400"/>
            <a:ext cx="188366" cy="457200"/>
          </a:xfrm>
          <a:prstGeom prst="rect">
            <a:avLst/>
          </a:prstGeom>
          <a:noFill/>
          <a:ln/>
        </p:spPr>
        <p:txBody>
          <a:bodyPr wrap="square" lIns="0" tIns="0" rIns="0" bIns="0" rtlCol="0" anchor="ctr"/>
          <a:lstStyle/>
          <a:p>
            <a:pPr algn="ctr" indent="0" marL="0">
              <a:buNone/>
            </a:pPr>
            <a:r>
              <a:rPr lang="en-US" sz="1800" b="1" dirty="0">
                <a:solidFill>
                  <a:schemeClr val="tx2"/>
                </a:solidFill>
              </a:rPr>
              <a:t>→</a:t>
            </a:r>
            <a:endParaRPr lang="en-US" sz="1800" dirty="0"/>
          </a:p>
        </p:txBody>
      </p:sp>
      <p:sp>
        <p:nvSpPr>
          <p:cNvPr id="27" name="Step 5"/>
          <p:cNvSpPr/>
          <p:nvPr/>
        </p:nvSpPr>
        <p:spPr>
          <a:xfrm>
            <a:off x="8068666" y="1572768"/>
            <a:ext cx="1691640" cy="1783080"/>
          </a:xfrm>
          <a:prstGeom prst="roundRect">
            <a:avLst>
              <a:gd name="adj" fmla="val 4324"/>
            </a:avLst>
          </a:prstGeom>
          <a:solidFill>
            <a:schemeClr val="bg2"/>
          </a:solidFill>
          <a:ln w="12700">
            <a:solidFill>
              <a:schemeClr val="bg2"/>
            </a:solidFill>
            <a:prstDash val="solid"/>
          </a:ln>
        </p:spPr>
      </p:sp>
      <p:sp>
        <p:nvSpPr>
          <p:cNvPr id="28" name="Step badge 5"/>
          <p:cNvSpPr/>
          <p:nvPr/>
        </p:nvSpPr>
        <p:spPr>
          <a:xfrm>
            <a:off x="8205826" y="1709928"/>
            <a:ext cx="329184" cy="329184"/>
          </a:xfrm>
          <a:prstGeom prst="ellipse">
            <a:avLst/>
          </a:prstGeom>
          <a:solidFill>
            <a:schemeClr val="accent3"/>
          </a:solidFill>
          <a:ln w="12700">
            <a:solidFill>
              <a:schemeClr val="accent3"/>
            </a:solidFill>
            <a:prstDash val="solid"/>
          </a:ln>
        </p:spPr>
      </p:sp>
      <p:sp>
        <p:nvSpPr>
          <p:cNvPr id="29" name="Text 27"/>
          <p:cNvSpPr txBox="1"/>
          <p:nvPr/>
        </p:nvSpPr>
        <p:spPr>
          <a:xfrm>
            <a:off x="8205826" y="17099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0" name="Text 28"/>
          <p:cNvSpPr txBox="1"/>
          <p:nvPr/>
        </p:nvSpPr>
        <p:spPr>
          <a:xfrm>
            <a:off x="8599018" y="1709928"/>
            <a:ext cx="1097280" cy="329184"/>
          </a:xfrm>
          <a:prstGeom prst="rect">
            <a:avLst/>
          </a:prstGeom>
          <a:noFill/>
          <a:ln/>
        </p:spPr>
        <p:txBody>
          <a:bodyPr wrap="square" lIns="0" tIns="0" rIns="0" bIns="0" rtlCol="0" anchor="ctr"/>
          <a:lstStyle/>
          <a:p>
            <a:pPr indent="0" marL="0">
              <a:buNone/>
            </a:pPr>
            <a:r>
              <a:rPr lang="en-US" sz="1400" b="1" dirty="0">
                <a:solidFill>
                  <a:schemeClr val="tx1"/>
                </a:solidFill>
              </a:rPr>
              <a:t>Blend and nudge</a:t>
            </a:r>
            <a:endParaRPr lang="en-US" sz="1400" dirty="0"/>
          </a:p>
        </p:txBody>
      </p:sp>
      <p:sp>
        <p:nvSpPr>
          <p:cNvPr id="31" name="Text 29"/>
          <p:cNvSpPr txBox="1"/>
          <p:nvPr/>
        </p:nvSpPr>
        <p:spPr>
          <a:xfrm>
            <a:off x="8205826" y="2194560"/>
            <a:ext cx="1417320" cy="1005840"/>
          </a:xfrm>
          <a:prstGeom prst="rect">
            <a:avLst/>
          </a:prstGeom>
          <a:noFill/>
          <a:ln/>
        </p:spPr>
        <p:txBody>
          <a:bodyPr wrap="square" lIns="0" tIns="0" rIns="0" bIns="0" rtlCol="0" anchor="t"/>
          <a:lstStyle/>
          <a:p>
            <a:pPr indent="0" marL="0">
              <a:buNone/>
            </a:pPr>
            <a:r>
              <a:rPr lang="en-US" sz="1400" dirty="0">
                <a:solidFill>
                  <a:schemeClr val="tx2"/>
                </a:solidFill>
              </a:rPr>
              <a:t>Half own day; fingerstick fade 120 min</a:t>
            </a:r>
            <a:endParaRPr lang="en-US" sz="1400" dirty="0"/>
          </a:p>
        </p:txBody>
      </p:sp>
      <p:sp>
        <p:nvSpPr>
          <p:cNvPr id="32" name="Text 30"/>
          <p:cNvSpPr txBox="1"/>
          <p:nvPr/>
        </p:nvSpPr>
        <p:spPr>
          <a:xfrm>
            <a:off x="9760306" y="2057400"/>
            <a:ext cx="188366" cy="457200"/>
          </a:xfrm>
          <a:prstGeom prst="rect">
            <a:avLst/>
          </a:prstGeom>
          <a:noFill/>
          <a:ln/>
        </p:spPr>
        <p:txBody>
          <a:bodyPr wrap="square" lIns="0" tIns="0" rIns="0" bIns="0" rtlCol="0" anchor="ctr"/>
          <a:lstStyle/>
          <a:p>
            <a:pPr algn="ctr" indent="0" marL="0">
              <a:buNone/>
            </a:pPr>
            <a:r>
              <a:rPr lang="en-US" sz="1800" b="1" dirty="0">
                <a:solidFill>
                  <a:schemeClr val="tx2"/>
                </a:solidFill>
              </a:rPr>
              <a:t>→</a:t>
            </a:r>
            <a:endParaRPr lang="en-US" sz="1800" dirty="0"/>
          </a:p>
        </p:txBody>
      </p:sp>
      <p:sp>
        <p:nvSpPr>
          <p:cNvPr id="33" name="Step 6"/>
          <p:cNvSpPr/>
          <p:nvPr/>
        </p:nvSpPr>
        <p:spPr>
          <a:xfrm>
            <a:off x="9948672" y="1572768"/>
            <a:ext cx="1691640" cy="1783080"/>
          </a:xfrm>
          <a:prstGeom prst="roundRect">
            <a:avLst>
              <a:gd name="adj" fmla="val 4324"/>
            </a:avLst>
          </a:prstGeom>
          <a:solidFill>
            <a:schemeClr val="bg2"/>
          </a:solidFill>
          <a:ln w="12700">
            <a:solidFill>
              <a:schemeClr val="bg2"/>
            </a:solidFill>
            <a:prstDash val="solid"/>
          </a:ln>
        </p:spPr>
      </p:sp>
      <p:sp>
        <p:nvSpPr>
          <p:cNvPr id="34" name="Step badge 6"/>
          <p:cNvSpPr/>
          <p:nvPr/>
        </p:nvSpPr>
        <p:spPr>
          <a:xfrm>
            <a:off x="10085832" y="1709928"/>
            <a:ext cx="329184" cy="329184"/>
          </a:xfrm>
          <a:prstGeom prst="ellipse">
            <a:avLst/>
          </a:prstGeom>
          <a:solidFill>
            <a:schemeClr val="tx1"/>
          </a:solidFill>
          <a:ln w="12700">
            <a:solidFill>
              <a:schemeClr val="tx1"/>
            </a:solidFill>
            <a:prstDash val="solid"/>
          </a:ln>
        </p:spPr>
      </p:sp>
      <p:sp>
        <p:nvSpPr>
          <p:cNvPr id="35" name="Text 33"/>
          <p:cNvSpPr txBox="1"/>
          <p:nvPr/>
        </p:nvSpPr>
        <p:spPr>
          <a:xfrm>
            <a:off x="10085832" y="17099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6" name="Text 34"/>
          <p:cNvSpPr txBox="1"/>
          <p:nvPr/>
        </p:nvSpPr>
        <p:spPr>
          <a:xfrm>
            <a:off x="10479024" y="1709928"/>
            <a:ext cx="1097280" cy="329184"/>
          </a:xfrm>
          <a:prstGeom prst="rect">
            <a:avLst/>
          </a:prstGeom>
          <a:noFill/>
          <a:ln/>
        </p:spPr>
        <p:txBody>
          <a:bodyPr wrap="square" lIns="0" tIns="0" rIns="0" bIns="0" rtlCol="0" anchor="ctr"/>
          <a:lstStyle/>
          <a:p>
            <a:pPr indent="0" marL="0">
              <a:buNone/>
            </a:pPr>
            <a:r>
              <a:rPr lang="en-US" sz="1400" b="1" dirty="0">
                <a:solidFill>
                  <a:schemeClr val="tx1"/>
                </a:solidFill>
              </a:rPr>
              <a:t>Output</a:t>
            </a:r>
            <a:endParaRPr lang="en-US" sz="1400" dirty="0"/>
          </a:p>
        </p:txBody>
      </p:sp>
      <p:sp>
        <p:nvSpPr>
          <p:cNvPr id="37" name="Text 35"/>
          <p:cNvSpPr txBox="1"/>
          <p:nvPr/>
        </p:nvSpPr>
        <p:spPr>
          <a:xfrm>
            <a:off x="10085832" y="2194560"/>
            <a:ext cx="1417320" cy="1005840"/>
          </a:xfrm>
          <a:prstGeom prst="rect">
            <a:avLst/>
          </a:prstGeom>
          <a:noFill/>
          <a:ln/>
        </p:spPr>
        <p:txBody>
          <a:bodyPr wrap="square" lIns="0" tIns="0" rIns="0" bIns="0" rtlCol="0" anchor="t"/>
          <a:lstStyle/>
          <a:p>
            <a:pPr indent="0" marL="0">
              <a:buNone/>
            </a:pPr>
            <a:r>
              <a:rPr lang="en-US" sz="1400" dirty="0">
                <a:solidFill>
                  <a:schemeClr val="tx2"/>
                </a:solidFill>
              </a:rPr>
              <a:t>Shadow, 80 % band, CUSUM prompt</a:t>
            </a:r>
            <a:endParaRPr lang="en-US" sz="1400" dirty="0"/>
          </a:p>
        </p:txBody>
      </p:sp>
      <p:sp>
        <p:nvSpPr>
          <p:cNvPr id="38" name="Text 36"/>
          <p:cNvSpPr txBox="1"/>
          <p:nvPr/>
        </p:nvSpPr>
        <p:spPr>
          <a:xfrm>
            <a:off x="548640" y="3657600"/>
            <a:ext cx="585216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THE PHYSIOLOGY: E-DES, MAAS ET AL. 2015</a:t>
            </a:r>
            <a:endParaRPr lang="en-US" sz="1100" dirty="0"/>
          </a:p>
        </p:txBody>
      </p:sp>
      <p:sp>
        <p:nvSpPr>
          <p:cNvPr id="39" name="Compartment Gut"/>
          <p:cNvSpPr/>
          <p:nvPr/>
        </p:nvSpPr>
        <p:spPr>
          <a:xfrm>
            <a:off x="548640" y="4297680"/>
            <a:ext cx="868680" cy="713232"/>
          </a:xfrm>
          <a:prstGeom prst="roundRect">
            <a:avLst>
              <a:gd name="adj" fmla="val 7692"/>
            </a:avLst>
          </a:prstGeom>
          <a:solidFill>
            <a:schemeClr val="bg1"/>
          </a:solidFill>
          <a:ln w="15875">
            <a:solidFill>
              <a:schemeClr val="accent1"/>
            </a:solidFill>
            <a:prstDash val="solid"/>
          </a:ln>
        </p:spPr>
      </p:sp>
      <p:sp>
        <p:nvSpPr>
          <p:cNvPr id="40" name="Text 38"/>
          <p:cNvSpPr txBox="1"/>
          <p:nvPr/>
        </p:nvSpPr>
        <p:spPr>
          <a:xfrm>
            <a:off x="594360" y="4297680"/>
            <a:ext cx="777240" cy="713232"/>
          </a:xfrm>
          <a:prstGeom prst="rect">
            <a:avLst/>
          </a:prstGeom>
          <a:noFill/>
          <a:ln/>
        </p:spPr>
        <p:txBody>
          <a:bodyPr wrap="square" lIns="0" tIns="0" rIns="0" bIns="0" rtlCol="0" anchor="ctr"/>
          <a:lstStyle/>
          <a:p>
            <a:pPr algn="ctr" indent="0" marL="0">
              <a:buNone/>
            </a:pPr>
            <a:r>
              <a:rPr lang="en-US" sz="1500" b="1" dirty="0">
                <a:solidFill>
                  <a:schemeClr val="accent1"/>
                </a:solidFill>
              </a:rPr>
              <a:t>Gut</a:t>
            </a:r>
            <a:endParaRPr lang="en-US" sz="1500" dirty="0"/>
          </a:p>
        </p:txBody>
      </p:sp>
      <p:sp>
        <p:nvSpPr>
          <p:cNvPr id="41" name="Compartment Plasma glucose"/>
          <p:cNvSpPr/>
          <p:nvPr/>
        </p:nvSpPr>
        <p:spPr>
          <a:xfrm>
            <a:off x="1965960" y="4297680"/>
            <a:ext cx="1417320" cy="713232"/>
          </a:xfrm>
          <a:prstGeom prst="roundRect">
            <a:avLst>
              <a:gd name="adj" fmla="val 7692"/>
            </a:avLst>
          </a:prstGeom>
          <a:solidFill>
            <a:schemeClr val="bg1"/>
          </a:solidFill>
          <a:ln w="15875">
            <a:solidFill>
              <a:schemeClr val="accent1"/>
            </a:solidFill>
            <a:prstDash val="solid"/>
          </a:ln>
        </p:spPr>
      </p:sp>
      <p:sp>
        <p:nvSpPr>
          <p:cNvPr id="42" name="Text 40"/>
          <p:cNvSpPr txBox="1"/>
          <p:nvPr/>
        </p:nvSpPr>
        <p:spPr>
          <a:xfrm>
            <a:off x="2011680" y="4297680"/>
            <a:ext cx="1325880" cy="713232"/>
          </a:xfrm>
          <a:prstGeom prst="rect">
            <a:avLst/>
          </a:prstGeom>
          <a:noFill/>
          <a:ln/>
        </p:spPr>
        <p:txBody>
          <a:bodyPr wrap="square" lIns="0" tIns="0" rIns="0" bIns="0" rtlCol="0" anchor="ctr"/>
          <a:lstStyle/>
          <a:p>
            <a:pPr algn="ctr" indent="0" marL="0">
              <a:buNone/>
            </a:pPr>
            <a:r>
              <a:rPr lang="en-US" sz="1500" b="1" dirty="0">
                <a:solidFill>
                  <a:schemeClr val="accent1"/>
                </a:solidFill>
              </a:rPr>
              <a:t>Plasma glucose</a:t>
            </a:r>
            <a:endParaRPr lang="en-US" sz="1500" dirty="0"/>
          </a:p>
        </p:txBody>
      </p:sp>
      <p:sp>
        <p:nvSpPr>
          <p:cNvPr id="43" name="Compartment Interstitial fluid"/>
          <p:cNvSpPr/>
          <p:nvPr/>
        </p:nvSpPr>
        <p:spPr>
          <a:xfrm>
            <a:off x="3931920" y="4297680"/>
            <a:ext cx="2103120" cy="713232"/>
          </a:xfrm>
          <a:prstGeom prst="roundRect">
            <a:avLst>
              <a:gd name="adj" fmla="val 7692"/>
            </a:avLst>
          </a:prstGeom>
          <a:solidFill>
            <a:schemeClr val="bg1"/>
          </a:solidFill>
          <a:ln w="15875">
            <a:solidFill>
              <a:schemeClr val="accent1"/>
            </a:solidFill>
            <a:prstDash val="solid"/>
          </a:ln>
        </p:spPr>
      </p:sp>
      <p:sp>
        <p:nvSpPr>
          <p:cNvPr id="44" name="Text 42"/>
          <p:cNvSpPr txBox="1"/>
          <p:nvPr/>
        </p:nvSpPr>
        <p:spPr>
          <a:xfrm>
            <a:off x="3977640" y="4297680"/>
            <a:ext cx="2011680" cy="713232"/>
          </a:xfrm>
          <a:prstGeom prst="rect">
            <a:avLst/>
          </a:prstGeom>
          <a:noFill/>
          <a:ln/>
        </p:spPr>
        <p:txBody>
          <a:bodyPr wrap="square" lIns="0" tIns="0" rIns="0" bIns="0" rtlCol="0" anchor="ctr"/>
          <a:lstStyle/>
          <a:p>
            <a:pPr algn="ctr" indent="0" marL="0">
              <a:buNone/>
            </a:pPr>
            <a:r>
              <a:rPr lang="en-US" sz="1500" b="1" dirty="0">
                <a:solidFill>
                  <a:schemeClr val="accent1"/>
                </a:solidFill>
              </a:rPr>
              <a:t>Interstitial fluid</a:t>
            </a:r>
            <a:endParaRPr lang="en-US" sz="1500" dirty="0"/>
          </a:p>
        </p:txBody>
      </p:sp>
      <p:sp>
        <p:nvSpPr>
          <p:cNvPr id="45" name="Compartment Plasma insulin"/>
          <p:cNvSpPr/>
          <p:nvPr/>
        </p:nvSpPr>
        <p:spPr>
          <a:xfrm>
            <a:off x="1965960" y="5394960"/>
            <a:ext cx="1417320" cy="713232"/>
          </a:xfrm>
          <a:prstGeom prst="roundRect">
            <a:avLst>
              <a:gd name="adj" fmla="val 7692"/>
            </a:avLst>
          </a:prstGeom>
          <a:solidFill>
            <a:schemeClr val="bg1"/>
          </a:solidFill>
          <a:ln w="15875">
            <a:solidFill>
              <a:schemeClr val="accent1"/>
            </a:solidFill>
            <a:prstDash val="solid"/>
          </a:ln>
        </p:spPr>
      </p:sp>
      <p:sp>
        <p:nvSpPr>
          <p:cNvPr id="46" name="Text 44"/>
          <p:cNvSpPr txBox="1"/>
          <p:nvPr/>
        </p:nvSpPr>
        <p:spPr>
          <a:xfrm>
            <a:off x="2011680" y="5394960"/>
            <a:ext cx="1325880" cy="713232"/>
          </a:xfrm>
          <a:prstGeom prst="rect">
            <a:avLst/>
          </a:prstGeom>
          <a:noFill/>
          <a:ln/>
        </p:spPr>
        <p:txBody>
          <a:bodyPr wrap="square" lIns="0" tIns="0" rIns="0" bIns="0" rtlCol="0" anchor="ctr"/>
          <a:lstStyle/>
          <a:p>
            <a:pPr algn="ctr" indent="0" marL="0">
              <a:buNone/>
            </a:pPr>
            <a:r>
              <a:rPr lang="en-US" sz="1500" b="1" dirty="0">
                <a:solidFill>
                  <a:schemeClr val="accent1"/>
                </a:solidFill>
              </a:rPr>
              <a:t>Plasma insulin</a:t>
            </a:r>
            <a:endParaRPr lang="en-US" sz="1500" dirty="0"/>
          </a:p>
        </p:txBody>
      </p:sp>
      <p:sp>
        <p:nvSpPr>
          <p:cNvPr id="47" name="Arrow"/>
          <p:cNvSpPr/>
          <p:nvPr/>
        </p:nvSpPr>
        <p:spPr>
          <a:xfrm>
            <a:off x="1417320" y="4654296"/>
            <a:ext cx="548640" cy="0"/>
          </a:xfrm>
          <a:prstGeom prst="line">
            <a:avLst/>
          </a:prstGeom>
          <a:noFill/>
          <a:ln w="19050">
            <a:solidFill>
              <a:schemeClr val="accent1"/>
            </a:solidFill>
            <a:prstDash val="solid"/>
            <a:tailEnd type="triangle"/>
          </a:ln>
        </p:spPr>
      </p:sp>
      <p:sp>
        <p:nvSpPr>
          <p:cNvPr id="48" name="Arrow"/>
          <p:cNvSpPr/>
          <p:nvPr/>
        </p:nvSpPr>
        <p:spPr>
          <a:xfrm>
            <a:off x="3383280" y="4654296"/>
            <a:ext cx="548640" cy="0"/>
          </a:xfrm>
          <a:prstGeom prst="line">
            <a:avLst/>
          </a:prstGeom>
          <a:noFill/>
          <a:ln w="19050">
            <a:solidFill>
              <a:schemeClr val="accent1"/>
            </a:solidFill>
            <a:prstDash val="solid"/>
            <a:tailEnd type="triangle"/>
          </a:ln>
        </p:spPr>
      </p:sp>
      <p:sp>
        <p:nvSpPr>
          <p:cNvPr id="49" name="Arrow"/>
          <p:cNvSpPr/>
          <p:nvPr/>
        </p:nvSpPr>
        <p:spPr>
          <a:xfrm>
            <a:off x="2670048" y="5010912"/>
            <a:ext cx="0" cy="384048"/>
          </a:xfrm>
          <a:prstGeom prst="line">
            <a:avLst/>
          </a:prstGeom>
          <a:noFill/>
          <a:ln w="19050">
            <a:solidFill>
              <a:schemeClr val="accent1"/>
            </a:solidFill>
            <a:prstDash val="solid"/>
            <a:tailEnd type="triangle"/>
          </a:ln>
        </p:spPr>
      </p:sp>
      <p:sp>
        <p:nvSpPr>
          <p:cNvPr id="50" name="Text 48"/>
          <p:cNvSpPr txBox="1"/>
          <p:nvPr/>
        </p:nvSpPr>
        <p:spPr>
          <a:xfrm>
            <a:off x="3931920" y="5065776"/>
            <a:ext cx="2103120" cy="256032"/>
          </a:xfrm>
          <a:prstGeom prst="rect">
            <a:avLst/>
          </a:prstGeom>
          <a:noFill/>
          <a:ln/>
        </p:spPr>
        <p:txBody>
          <a:bodyPr wrap="square" lIns="0" tIns="0" rIns="0" bIns="0" rtlCol="0" anchor="t"/>
          <a:lstStyle/>
          <a:p>
            <a:pPr algn="ctr" indent="0" marL="0">
              <a:buNone/>
            </a:pPr>
            <a:r>
              <a:rPr lang="en-US" sz="1200" dirty="0">
                <a:solidFill>
                  <a:srgbClr val="6B6A80"/>
                </a:solidFill>
              </a:rPr>
              <a:t>what the sensor reads</a:t>
            </a:r>
            <a:endParaRPr lang="en-US" sz="1200" dirty="0"/>
          </a:p>
        </p:txBody>
      </p:sp>
      <p:sp>
        <p:nvSpPr>
          <p:cNvPr id="51" name="Text 49"/>
          <p:cNvSpPr txBox="1"/>
          <p:nvPr/>
        </p:nvSpPr>
        <p:spPr>
          <a:xfrm>
            <a:off x="548640" y="3986784"/>
            <a:ext cx="868680" cy="237744"/>
          </a:xfrm>
          <a:prstGeom prst="rect">
            <a:avLst/>
          </a:prstGeom>
          <a:noFill/>
          <a:ln/>
        </p:spPr>
        <p:txBody>
          <a:bodyPr wrap="square" lIns="0" tIns="0" rIns="0" bIns="0" rtlCol="0" anchor="t"/>
          <a:lstStyle/>
          <a:p>
            <a:pPr algn="ctr" indent="0" marL="0">
              <a:buNone/>
            </a:pPr>
            <a:r>
              <a:rPr lang="en-US" sz="1200" dirty="0">
                <a:solidFill>
                  <a:srgbClr val="6B6A80"/>
                </a:solidFill>
              </a:rPr>
              <a:t>meals</a:t>
            </a:r>
            <a:endParaRPr lang="en-US" sz="1200" dirty="0"/>
          </a:p>
        </p:txBody>
      </p:sp>
      <p:sp>
        <p:nvSpPr>
          <p:cNvPr id="52" name="Text 50"/>
          <p:cNvSpPr txBox="1"/>
          <p:nvPr/>
        </p:nvSpPr>
        <p:spPr>
          <a:xfrm>
            <a:off x="1965960" y="3986784"/>
            <a:ext cx="1417320" cy="237744"/>
          </a:xfrm>
          <a:prstGeom prst="rect">
            <a:avLst/>
          </a:prstGeom>
          <a:noFill/>
          <a:ln/>
        </p:spPr>
        <p:txBody>
          <a:bodyPr wrap="square" lIns="0" tIns="0" rIns="0" bIns="0" rtlCol="0" anchor="t"/>
          <a:lstStyle/>
          <a:p>
            <a:pPr algn="ctr" indent="0" marL="0">
              <a:buNone/>
            </a:pPr>
            <a:r>
              <a:rPr lang="en-US" sz="1200" dirty="0">
                <a:solidFill>
                  <a:srgbClr val="6B6A80"/>
                </a:solidFill>
              </a:rPr>
              <a:t>circadian term</a:t>
            </a:r>
            <a:endParaRPr lang="en-US" sz="1200" dirty="0"/>
          </a:p>
        </p:txBody>
      </p:sp>
      <p:sp>
        <p:nvSpPr>
          <p:cNvPr id="53" name="Text 51"/>
          <p:cNvSpPr txBox="1"/>
          <p:nvPr/>
        </p:nvSpPr>
        <p:spPr>
          <a:xfrm>
            <a:off x="3611880" y="5468112"/>
            <a:ext cx="2651760" cy="256032"/>
          </a:xfrm>
          <a:prstGeom prst="rect">
            <a:avLst/>
          </a:prstGeom>
          <a:noFill/>
          <a:ln/>
        </p:spPr>
        <p:txBody>
          <a:bodyPr wrap="square" lIns="0" tIns="0" rIns="0" bIns="0" rtlCol="0" anchor="t"/>
          <a:lstStyle/>
          <a:p>
            <a:pPr indent="0" marL="0">
              <a:buNone/>
            </a:pPr>
            <a:r>
              <a:rPr lang="en-US" sz="1200" dirty="0">
                <a:solidFill>
                  <a:srgbClr val="6B6A80"/>
                </a:solidFill>
              </a:rPr>
              <a:t>plus an exercise term on uptake</a:t>
            </a:r>
            <a:endParaRPr lang="en-US" sz="1200" dirty="0"/>
          </a:p>
        </p:txBody>
      </p:sp>
      <p:sp>
        <p:nvSpPr>
          <p:cNvPr id="54" name="Text 52"/>
          <p:cNvSpPr txBox="1"/>
          <p:nvPr/>
        </p:nvSpPr>
        <p:spPr>
          <a:xfrm>
            <a:off x="3611880" y="5760720"/>
            <a:ext cx="2743200" cy="274320"/>
          </a:xfrm>
          <a:prstGeom prst="rect">
            <a:avLst/>
          </a:prstGeom>
          <a:noFill/>
          <a:ln/>
        </p:spPr>
        <p:txBody>
          <a:bodyPr wrap="square" lIns="0" tIns="0" rIns="0" bIns="0" rtlCol="0" anchor="t"/>
          <a:lstStyle/>
          <a:p>
            <a:pPr indent="0" marL="0">
              <a:buNone/>
            </a:pPr>
            <a:r>
              <a:rPr lang="en-US" sz="1300" b="1" dirty="0">
                <a:solidFill>
                  <a:schemeClr val="tx2"/>
                </a:solidFill>
              </a:rPr>
              <a:t>Seven personal parameters per patient</a:t>
            </a:r>
            <a:endParaRPr lang="en-US" sz="1300" dirty="0"/>
          </a:p>
        </p:txBody>
      </p:sp>
      <p:sp>
        <p:nvSpPr>
          <p:cNvPr id="55" name="Text 53"/>
          <p:cNvSpPr txBox="1"/>
          <p:nvPr/>
        </p:nvSpPr>
        <p:spPr>
          <a:xfrm>
            <a:off x="6949440" y="3657600"/>
            <a:ext cx="2743200" cy="237744"/>
          </a:xfrm>
          <a:prstGeom prst="rect">
            <a:avLst/>
          </a:prstGeom>
          <a:noFill/>
          <a:ln/>
        </p:spPr>
        <p:txBody>
          <a:bodyPr wrap="square" lIns="0" tIns="0" rIns="0" bIns="0" rtlCol="0" anchor="t"/>
          <a:lstStyle/>
          <a:p>
            <a:pPr indent="0" marL="0">
              <a:buNone/>
            </a:pPr>
            <a:r>
              <a:rPr lang="en-US" sz="1100" b="1" spc="150" kern="0" dirty="0">
                <a:solidFill>
                  <a:schemeClr val="accent1"/>
                </a:solidFill>
              </a:rPr>
              <a:t>METHOD FACTS</a:t>
            </a:r>
            <a:endParaRPr lang="en-US" sz="1100" dirty="0"/>
          </a:p>
        </p:txBody>
      </p:sp>
      <p:sp>
        <p:nvSpPr>
          <p:cNvPr id="56" name="Fact marker"/>
          <p:cNvSpPr/>
          <p:nvPr/>
        </p:nvSpPr>
        <p:spPr>
          <a:xfrm>
            <a:off x="6949440" y="4114800"/>
            <a:ext cx="91440" cy="310896"/>
          </a:xfrm>
          <a:prstGeom prst="rect">
            <a:avLst/>
          </a:prstGeom>
          <a:solidFill>
            <a:schemeClr val="accent3"/>
          </a:solidFill>
          <a:ln w="12700">
            <a:solidFill>
              <a:schemeClr val="accent3"/>
            </a:solidFill>
            <a:prstDash val="solid"/>
          </a:ln>
        </p:spPr>
      </p:sp>
      <p:sp>
        <p:nvSpPr>
          <p:cNvPr id="57" name="Text 55"/>
          <p:cNvSpPr txBox="1"/>
          <p:nvPr/>
        </p:nvSpPr>
        <p:spPr>
          <a:xfrm>
            <a:off x="7178040" y="4041648"/>
            <a:ext cx="4480560" cy="502920"/>
          </a:xfrm>
          <a:prstGeom prst="rect">
            <a:avLst/>
          </a:prstGeom>
          <a:noFill/>
          <a:ln/>
        </p:spPr>
        <p:txBody>
          <a:bodyPr wrap="square" lIns="0" tIns="0" rIns="0" bIns="0" rtlCol="0" anchor="ctr"/>
          <a:lstStyle/>
          <a:p>
            <a:pPr indent="0" marL="0">
              <a:buNone/>
            </a:pPr>
            <a:r>
              <a:rPr lang="en-US" sz="1500" b="1" dirty="0">
                <a:solidFill>
                  <a:schemeClr val="tx1"/>
                </a:solidFill>
              </a:rPr>
              <a:t>No neural network, no pretrained model, no large language model</a:t>
            </a:r>
            <a:endParaRPr lang="en-US" sz="1500" dirty="0"/>
          </a:p>
        </p:txBody>
      </p:sp>
      <p:sp>
        <p:nvSpPr>
          <p:cNvPr id="58" name="Fact marker"/>
          <p:cNvSpPr/>
          <p:nvPr/>
        </p:nvSpPr>
        <p:spPr>
          <a:xfrm>
            <a:off x="6949440" y="4681728"/>
            <a:ext cx="91440" cy="310896"/>
          </a:xfrm>
          <a:prstGeom prst="rect">
            <a:avLst/>
          </a:prstGeom>
          <a:solidFill>
            <a:schemeClr val="accent1"/>
          </a:solidFill>
          <a:ln w="12700">
            <a:solidFill>
              <a:schemeClr val="accent1"/>
            </a:solidFill>
            <a:prstDash val="solid"/>
          </a:ln>
        </p:spPr>
      </p:sp>
      <p:sp>
        <p:nvSpPr>
          <p:cNvPr id="59" name="Text 57"/>
          <p:cNvSpPr txBox="1"/>
          <p:nvPr/>
        </p:nvSpPr>
        <p:spPr>
          <a:xfrm>
            <a:off x="7178040" y="4608576"/>
            <a:ext cx="4480560" cy="502920"/>
          </a:xfrm>
          <a:prstGeom prst="rect">
            <a:avLst/>
          </a:prstGeom>
          <a:noFill/>
          <a:ln/>
        </p:spPr>
        <p:txBody>
          <a:bodyPr wrap="square" lIns="0" tIns="0" rIns="0" bIns="0" rtlCol="0" anchor="ctr"/>
          <a:lstStyle/>
          <a:p>
            <a:pPr indent="0" marL="0">
              <a:buNone/>
            </a:pPr>
            <a:r>
              <a:rPr lang="en-US" sz="1500" dirty="0">
                <a:solidFill>
                  <a:schemeClr val="tx1"/>
                </a:solidFill>
              </a:rPr>
              <a:t>Seven personal parameters fitted per patient from one wear</a:t>
            </a:r>
            <a:endParaRPr lang="en-US" sz="1500" dirty="0"/>
          </a:p>
        </p:txBody>
      </p:sp>
      <p:sp>
        <p:nvSpPr>
          <p:cNvPr id="60" name="Fact marker"/>
          <p:cNvSpPr/>
          <p:nvPr/>
        </p:nvSpPr>
        <p:spPr>
          <a:xfrm>
            <a:off x="6949440" y="5248656"/>
            <a:ext cx="91440" cy="310896"/>
          </a:xfrm>
          <a:prstGeom prst="rect">
            <a:avLst/>
          </a:prstGeom>
          <a:solidFill>
            <a:schemeClr val="accent1"/>
          </a:solidFill>
          <a:ln w="12700">
            <a:solidFill>
              <a:schemeClr val="accent1"/>
            </a:solidFill>
            <a:prstDash val="solid"/>
          </a:ln>
        </p:spPr>
      </p:sp>
      <p:sp>
        <p:nvSpPr>
          <p:cNvPr id="61" name="Text 59"/>
          <p:cNvSpPr txBox="1"/>
          <p:nvPr/>
        </p:nvSpPr>
        <p:spPr>
          <a:xfrm>
            <a:off x="7178040" y="5175504"/>
            <a:ext cx="4480560" cy="502920"/>
          </a:xfrm>
          <a:prstGeom prst="rect">
            <a:avLst/>
          </a:prstGeom>
          <a:noFill/>
          <a:ln/>
        </p:spPr>
        <p:txBody>
          <a:bodyPr wrap="square" lIns="0" tIns="0" rIns="0" bIns="0" rtlCol="0" anchor="ctr"/>
          <a:lstStyle/>
          <a:p>
            <a:pPr indent="0" marL="0">
              <a:buNone/>
            </a:pPr>
            <a:r>
              <a:rPr lang="en-US" sz="1500" dirty="0">
                <a:solidFill>
                  <a:schemeClr val="tx1"/>
                </a:solidFill>
              </a:rPr>
              <a:t>Fingerstick filter fades over 120 minutes; CUSUM raises the drift prompt</a:t>
            </a:r>
            <a:endParaRPr lang="en-US" sz="1500" dirty="0"/>
          </a:p>
        </p:txBody>
      </p:sp>
      <p:sp>
        <p:nvSpPr>
          <p:cNvPr id="62" name="Fact marker"/>
          <p:cNvSpPr/>
          <p:nvPr/>
        </p:nvSpPr>
        <p:spPr>
          <a:xfrm>
            <a:off x="6949440" y="5815584"/>
            <a:ext cx="91440" cy="310896"/>
          </a:xfrm>
          <a:prstGeom prst="rect">
            <a:avLst/>
          </a:prstGeom>
          <a:solidFill>
            <a:schemeClr val="accent1"/>
          </a:solidFill>
          <a:ln w="12700">
            <a:solidFill>
              <a:schemeClr val="accent1"/>
            </a:solidFill>
            <a:prstDash val="solid"/>
          </a:ln>
        </p:spPr>
      </p:sp>
      <p:sp>
        <p:nvSpPr>
          <p:cNvPr id="63" name="Text 61"/>
          <p:cNvSpPr txBox="1"/>
          <p:nvPr/>
        </p:nvSpPr>
        <p:spPr>
          <a:xfrm>
            <a:off x="7178040" y="5742432"/>
            <a:ext cx="4480560" cy="502920"/>
          </a:xfrm>
          <a:prstGeom prst="rect">
            <a:avLst/>
          </a:prstGeom>
          <a:noFill/>
          <a:ln/>
        </p:spPr>
        <p:txBody>
          <a:bodyPr wrap="square" lIns="0" tIns="0" rIns="0" bIns="0" rtlCol="0" anchor="ctr"/>
          <a:lstStyle/>
          <a:p>
            <a:pPr indent="0" marL="0">
              <a:buNone/>
            </a:pPr>
            <a:r>
              <a:rPr lang="en-US" sz="1500" dirty="0">
                <a:solidFill>
                  <a:schemeClr val="tx1"/>
                </a:solidFill>
              </a:rPr>
              <a:t>Python 3.12 · JAX · SciPy · scikit-learn · FHIR-shaped record</a:t>
            </a:r>
            <a:endParaRPr lang="en-US" sz="1500" dirty="0"/>
          </a:p>
        </p:txBody>
      </p:sp>
      <p:sp>
        <p:nvSpPr>
          <p:cNvPr id="25" name="Slide Number Placeholder 0"/>
          <p:cNvSpPr>
            <a:spLocks noGrp="1"/>
          </p:cNvSpPr>
          <p:nvPr>
            <p:ph type="sldNum" sz="quarter" idx="4294967295"/>
          </p:nvPr>
        </p:nvSpPr>
        <p:spPr>
          <a:xfrm>
            <a:off x="10972800" y="6437376"/>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6A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200" b="1" dirty="0">
                <a:solidFill>
                  <a:schemeClr val="tx1"/>
                </a:solidFill>
              </a:rPr>
              <a:t>The doctor sees one panel per stream, plus the shadow</a:t>
            </a:r>
            <a:endParaRPr lang="en-US" sz="3200" dirty="0"/>
          </a:p>
        </p:txBody>
      </p:sp>
      <p:sp>
        <p:nvSpPr>
          <p:cNvPr id="3" name="Patient screen frame"/>
          <p:cNvSpPr/>
          <p:nvPr/>
        </p:nvSpPr>
        <p:spPr>
          <a:xfrm>
            <a:off x="548640" y="1572768"/>
            <a:ext cx="5943600" cy="4480560"/>
          </a:xfrm>
          <a:prstGeom prst="roundRect">
            <a:avLst>
              <a:gd name="adj" fmla="val 1633"/>
            </a:avLst>
          </a:prstGeom>
          <a:solidFill>
            <a:schemeClr val="bg1"/>
          </a:solidFill>
          <a:ln w="12700">
            <a:solidFill>
              <a:srgbClr val="C9C8D6"/>
            </a:solidFill>
            <a:prstDash val="solid"/>
          </a:ln>
        </p:spPr>
      </p:sp>
      <p:sp>
        <p:nvSpPr>
          <p:cNvPr id="4" name="Text 2"/>
          <p:cNvSpPr txBox="1"/>
          <p:nvPr/>
        </p:nvSpPr>
        <p:spPr>
          <a:xfrm>
            <a:off x="777240" y="1700784"/>
            <a:ext cx="914400" cy="237744"/>
          </a:xfrm>
          <a:prstGeom prst="rect">
            <a:avLst/>
          </a:prstGeom>
          <a:noFill/>
          <a:ln/>
        </p:spPr>
        <p:txBody>
          <a:bodyPr wrap="square" lIns="0" tIns="0" rIns="0" bIns="0" rtlCol="0" anchor="t"/>
          <a:lstStyle/>
          <a:p>
            <a:pPr indent="0" marL="0">
              <a:buNone/>
            </a:pPr>
            <a:r>
              <a:rPr lang="en-US" sz="1100" dirty="0">
                <a:solidFill>
                  <a:srgbClr val="6B6A80"/>
                </a:solidFill>
              </a:rPr>
              <a:t>Clinic list</a:t>
            </a:r>
            <a:endParaRPr lang="en-US" sz="1100" dirty="0"/>
          </a:p>
        </p:txBody>
      </p:sp>
      <p:sp>
        <p:nvSpPr>
          <p:cNvPr id="5" name="Text 3"/>
          <p:cNvSpPr txBox="1"/>
          <p:nvPr/>
        </p:nvSpPr>
        <p:spPr>
          <a:xfrm>
            <a:off x="1737360" y="1700784"/>
            <a:ext cx="822960" cy="237744"/>
          </a:xfrm>
          <a:prstGeom prst="rect">
            <a:avLst/>
          </a:prstGeom>
          <a:noFill/>
          <a:ln/>
        </p:spPr>
        <p:txBody>
          <a:bodyPr wrap="square" lIns="0" tIns="0" rIns="0" bIns="0" rtlCol="0" anchor="t"/>
          <a:lstStyle/>
          <a:p>
            <a:pPr indent="0" marL="0">
              <a:buNone/>
            </a:pPr>
            <a:r>
              <a:rPr lang="en-US" sz="1100" b="1" dirty="0">
                <a:solidFill>
                  <a:schemeClr val="tx1"/>
                </a:solidFill>
              </a:rPr>
              <a:t>Patient</a:t>
            </a:r>
            <a:endParaRPr lang="en-US" sz="1100" dirty="0"/>
          </a:p>
        </p:txBody>
      </p:sp>
      <p:sp>
        <p:nvSpPr>
          <p:cNvPr id="6" name="Text 4"/>
          <p:cNvSpPr txBox="1"/>
          <p:nvPr/>
        </p:nvSpPr>
        <p:spPr>
          <a:xfrm>
            <a:off x="2468880" y="1700784"/>
            <a:ext cx="914400" cy="237744"/>
          </a:xfrm>
          <a:prstGeom prst="rect">
            <a:avLst/>
          </a:prstGeom>
          <a:noFill/>
          <a:ln/>
        </p:spPr>
        <p:txBody>
          <a:bodyPr wrap="square" lIns="0" tIns="0" rIns="0" bIns="0" rtlCol="0" anchor="t"/>
          <a:lstStyle/>
          <a:p>
            <a:pPr indent="0" marL="0">
              <a:buNone/>
            </a:pPr>
            <a:r>
              <a:rPr lang="en-US" sz="1100" dirty="0">
                <a:solidFill>
                  <a:srgbClr val="6B6A80"/>
                </a:solidFill>
              </a:rPr>
              <a:t>Evidence</a:t>
            </a:r>
            <a:endParaRPr lang="en-US" sz="1100" dirty="0"/>
          </a:p>
        </p:txBody>
      </p:sp>
      <p:sp>
        <p:nvSpPr>
          <p:cNvPr id="7" name="Text 5"/>
          <p:cNvSpPr txBox="1"/>
          <p:nvPr/>
        </p:nvSpPr>
        <p:spPr>
          <a:xfrm>
            <a:off x="3657600" y="1700784"/>
            <a:ext cx="2651760" cy="237744"/>
          </a:xfrm>
          <a:prstGeom prst="rect">
            <a:avLst/>
          </a:prstGeom>
          <a:noFill/>
          <a:ln/>
        </p:spPr>
        <p:txBody>
          <a:bodyPr wrap="square" lIns="0" tIns="0" rIns="0" bIns="0" rtlCol="0" anchor="t"/>
          <a:lstStyle/>
          <a:p>
            <a:pPr algn="r" indent="0" marL="0">
              <a:buNone/>
            </a:pPr>
            <a:r>
              <a:rPr lang="en-US" sz="1100" dirty="0">
                <a:solidFill>
                  <a:srgbClr val="6B6A80"/>
                </a:solidFill>
              </a:rPr>
              <a:t>Mrs. R. · synthetic demo patient</a:t>
            </a:r>
            <a:endParaRPr lang="en-US" sz="1100" dirty="0"/>
          </a:p>
        </p:txBody>
      </p:sp>
      <p:sp>
        <p:nvSpPr>
          <p:cNvPr id="8" name="Panel rule From the health record"/>
          <p:cNvSpPr/>
          <p:nvPr/>
        </p:nvSpPr>
        <p:spPr>
          <a:xfrm>
            <a:off x="749808" y="2103120"/>
            <a:ext cx="64008" cy="713232"/>
          </a:xfrm>
          <a:prstGeom prst="rect">
            <a:avLst/>
          </a:prstGeom>
          <a:solidFill>
            <a:schemeClr val="tx2"/>
          </a:solidFill>
          <a:ln w="12700">
            <a:solidFill>
              <a:schemeClr val="tx2"/>
            </a:solidFill>
            <a:prstDash val="solid"/>
          </a:ln>
        </p:spPr>
      </p:sp>
      <p:sp>
        <p:nvSpPr>
          <p:cNvPr id="9" name="Text 7"/>
          <p:cNvSpPr txBox="1"/>
          <p:nvPr/>
        </p:nvSpPr>
        <p:spPr>
          <a:xfrm>
            <a:off x="932688" y="2103120"/>
            <a:ext cx="3108960" cy="274320"/>
          </a:xfrm>
          <a:prstGeom prst="rect">
            <a:avLst/>
          </a:prstGeom>
          <a:noFill/>
          <a:ln/>
        </p:spPr>
        <p:txBody>
          <a:bodyPr wrap="square" lIns="0" tIns="0" rIns="0" bIns="0" rtlCol="0" anchor="t"/>
          <a:lstStyle/>
          <a:p>
            <a:pPr indent="0" marL="0">
              <a:buNone/>
            </a:pPr>
            <a:r>
              <a:rPr lang="en-US" sz="1300" b="1" dirty="0">
                <a:solidFill>
                  <a:schemeClr val="tx1"/>
                </a:solidFill>
              </a:rPr>
              <a:t>From the health record</a:t>
            </a:r>
            <a:endParaRPr lang="en-US" sz="1300" dirty="0"/>
          </a:p>
        </p:txBody>
      </p:sp>
      <p:sp>
        <p:nvSpPr>
          <p:cNvPr id="10" name="Chip record prior"/>
          <p:cNvSpPr/>
          <p:nvPr/>
        </p:nvSpPr>
        <p:spPr>
          <a:xfrm>
            <a:off x="5166360" y="2121408"/>
            <a:ext cx="1097280" cy="237744"/>
          </a:xfrm>
          <a:prstGeom prst="roundRect">
            <a:avLst>
              <a:gd name="adj" fmla="val 50000"/>
            </a:avLst>
          </a:prstGeom>
          <a:solidFill>
            <a:srgbClr val="EEEDF5"/>
          </a:solidFill>
          <a:ln w="6350">
            <a:solidFill>
              <a:srgbClr val="C9C8D6"/>
            </a:solidFill>
            <a:prstDash val="solid"/>
          </a:ln>
        </p:spPr>
      </p:sp>
      <p:sp>
        <p:nvSpPr>
          <p:cNvPr id="11" name="Text 9"/>
          <p:cNvSpPr txBox="1"/>
          <p:nvPr/>
        </p:nvSpPr>
        <p:spPr>
          <a:xfrm>
            <a:off x="5166360" y="2121408"/>
            <a:ext cx="1097280" cy="237744"/>
          </a:xfrm>
          <a:prstGeom prst="rect">
            <a:avLst/>
          </a:prstGeom>
          <a:noFill/>
          <a:ln/>
        </p:spPr>
        <p:txBody>
          <a:bodyPr wrap="square" lIns="0" tIns="0" rIns="0" bIns="0" rtlCol="0" anchor="ctr"/>
          <a:lstStyle/>
          <a:p>
            <a:pPr algn="ctr" indent="0" marL="0">
              <a:buNone/>
            </a:pPr>
            <a:r>
              <a:rPr lang="en-US" sz="1000" dirty="0">
                <a:solidFill>
                  <a:schemeClr val="tx2"/>
                </a:solidFill>
              </a:rPr>
              <a:t>record prior</a:t>
            </a:r>
            <a:endParaRPr lang="en-US" sz="1000" dirty="0"/>
          </a:p>
        </p:txBody>
      </p:sp>
      <p:sp>
        <p:nvSpPr>
          <p:cNvPr id="12" name="Text 10"/>
          <p:cNvSpPr txBox="1"/>
          <p:nvPr/>
        </p:nvSpPr>
        <p:spPr>
          <a:xfrm>
            <a:off x="932688" y="2432304"/>
            <a:ext cx="5120640" cy="237744"/>
          </a:xfrm>
          <a:prstGeom prst="rect">
            <a:avLst/>
          </a:prstGeom>
          <a:noFill/>
          <a:ln/>
        </p:spPr>
        <p:txBody>
          <a:bodyPr wrap="square" lIns="0" tIns="0" rIns="0" bIns="0" rtlCol="0" anchor="t"/>
          <a:lstStyle/>
          <a:p>
            <a:pPr indent="0" marL="0">
              <a:buNone/>
            </a:pPr>
            <a:r>
              <a:rPr lang="en-US" sz="1200" dirty="0">
                <a:solidFill>
                  <a:schemeClr val="tx2"/>
                </a:solidFill>
              </a:rPr>
              <a:t>Type 2 diabetes mellitus · duration 9 years</a:t>
            </a:r>
            <a:endParaRPr lang="en-US" sz="1200" dirty="0"/>
          </a:p>
        </p:txBody>
      </p:sp>
      <p:sp>
        <p:nvSpPr>
          <p:cNvPr id="13" name="Text 11"/>
          <p:cNvSpPr txBox="1"/>
          <p:nvPr/>
        </p:nvSpPr>
        <p:spPr>
          <a:xfrm>
            <a:off x="932688" y="2651760"/>
            <a:ext cx="5120640" cy="237744"/>
          </a:xfrm>
          <a:prstGeom prst="rect">
            <a:avLst/>
          </a:prstGeom>
          <a:noFill/>
          <a:ln/>
        </p:spPr>
        <p:txBody>
          <a:bodyPr wrap="square" lIns="0" tIns="0" rIns="0" bIns="0" rtlCol="0" anchor="t"/>
          <a:lstStyle/>
          <a:p>
            <a:pPr indent="0" marL="0">
              <a:buNone/>
            </a:pPr>
            <a:r>
              <a:rPr lang="en-US" sz="1200" dirty="0">
                <a:solidFill>
                  <a:schemeClr val="tx2"/>
                </a:solidFill>
              </a:rPr>
              <a:t>HbA1c 8.1 %  ·  fasting glucose 137 mg/dL</a:t>
            </a:r>
            <a:endParaRPr lang="en-US" sz="1200" dirty="0"/>
          </a:p>
        </p:txBody>
      </p:sp>
      <p:sp>
        <p:nvSpPr>
          <p:cNvPr id="14" name="Panel rule Today’s shadow"/>
          <p:cNvSpPr/>
          <p:nvPr/>
        </p:nvSpPr>
        <p:spPr>
          <a:xfrm>
            <a:off x="749808" y="2926080"/>
            <a:ext cx="64008" cy="932688"/>
          </a:xfrm>
          <a:prstGeom prst="rect">
            <a:avLst/>
          </a:prstGeom>
          <a:solidFill>
            <a:schemeClr val="accent1"/>
          </a:solidFill>
          <a:ln w="12700">
            <a:solidFill>
              <a:schemeClr val="accent1"/>
            </a:solidFill>
            <a:prstDash val="solid"/>
          </a:ln>
        </p:spPr>
      </p:sp>
      <p:sp>
        <p:nvSpPr>
          <p:cNvPr id="15" name="Text 13"/>
          <p:cNvSpPr txBox="1"/>
          <p:nvPr/>
        </p:nvSpPr>
        <p:spPr>
          <a:xfrm>
            <a:off x="932688" y="2926080"/>
            <a:ext cx="3108960" cy="274320"/>
          </a:xfrm>
          <a:prstGeom prst="rect">
            <a:avLst/>
          </a:prstGeom>
          <a:noFill/>
          <a:ln/>
        </p:spPr>
        <p:txBody>
          <a:bodyPr wrap="square" lIns="0" tIns="0" rIns="0" bIns="0" rtlCol="0" anchor="t"/>
          <a:lstStyle/>
          <a:p>
            <a:pPr indent="0" marL="0">
              <a:buNone/>
            </a:pPr>
            <a:r>
              <a:rPr lang="en-US" sz="1300" b="1" dirty="0">
                <a:solidFill>
                  <a:schemeClr val="tx1"/>
                </a:solidFill>
              </a:rPr>
              <a:t>Today’s shadow</a:t>
            </a:r>
            <a:endParaRPr lang="en-US" sz="1300" dirty="0"/>
          </a:p>
        </p:txBody>
      </p:sp>
      <p:sp>
        <p:nvSpPr>
          <p:cNvPr id="16" name="Chip estimated"/>
          <p:cNvSpPr/>
          <p:nvPr/>
        </p:nvSpPr>
        <p:spPr>
          <a:xfrm>
            <a:off x="5372100" y="2944368"/>
            <a:ext cx="891540" cy="237744"/>
          </a:xfrm>
          <a:prstGeom prst="roundRect">
            <a:avLst>
              <a:gd name="adj" fmla="val 50000"/>
            </a:avLst>
          </a:prstGeom>
          <a:solidFill>
            <a:srgbClr val="EEEDF5"/>
          </a:solidFill>
          <a:ln w="6350">
            <a:solidFill>
              <a:srgbClr val="C9C8D6"/>
            </a:solidFill>
            <a:prstDash val="solid"/>
          </a:ln>
        </p:spPr>
      </p:sp>
      <p:sp>
        <p:nvSpPr>
          <p:cNvPr id="17" name="Text 15"/>
          <p:cNvSpPr txBox="1"/>
          <p:nvPr/>
        </p:nvSpPr>
        <p:spPr>
          <a:xfrm>
            <a:off x="5372100" y="2944368"/>
            <a:ext cx="891540" cy="237744"/>
          </a:xfrm>
          <a:prstGeom prst="rect">
            <a:avLst/>
          </a:prstGeom>
          <a:noFill/>
          <a:ln/>
        </p:spPr>
        <p:txBody>
          <a:bodyPr wrap="square" lIns="0" tIns="0" rIns="0" bIns="0" rtlCol="0" anchor="ctr"/>
          <a:lstStyle/>
          <a:p>
            <a:pPr algn="ctr" indent="0" marL="0">
              <a:buNone/>
            </a:pPr>
            <a:r>
              <a:rPr lang="en-US" sz="1000" dirty="0">
                <a:solidFill>
                  <a:schemeClr val="tx2"/>
                </a:solidFill>
              </a:rPr>
              <a:t>estimated</a:t>
            </a:r>
            <a:endParaRPr lang="en-US" sz="1000" dirty="0"/>
          </a:p>
        </p:txBody>
      </p:sp>
      <p:sp>
        <p:nvSpPr>
          <p:cNvPr id="18" name="Shadow band"/>
          <p:cNvSpPr/>
          <p:nvPr/>
        </p:nvSpPr>
        <p:spPr>
          <a:xfrm>
            <a:off x="932688" y="3255264"/>
            <a:ext cx="5303520" cy="566928"/>
          </a:xfrm>
          <a:custGeom>
            <a:avLst/>
            <a:gdLst/>
            <a:ahLst/>
            <a:cxnLst/>
            <a:rect l="l" t="t" r="r" b="b"/>
            <a:pathLst>
              <a:path w="5303520" h="566928">
                <a:moveTo>
                  <a:pt x="0" y="237328"/>
                </a:moveTo>
                <a:lnTo>
                  <a:pt x="55827" y="241238"/>
                </a:lnTo>
                <a:lnTo>
                  <a:pt x="111653" y="238110"/>
                </a:lnTo>
                <a:lnTo>
                  <a:pt x="167480" y="255704"/>
                </a:lnTo>
                <a:lnTo>
                  <a:pt x="223306" y="261178"/>
                </a:lnTo>
                <a:lnTo>
                  <a:pt x="279133" y="264306"/>
                </a:lnTo>
                <a:lnTo>
                  <a:pt x="334959" y="287374"/>
                </a:lnTo>
                <a:lnTo>
                  <a:pt x="390786" y="288938"/>
                </a:lnTo>
                <a:lnTo>
                  <a:pt x="446612" y="302231"/>
                </a:lnTo>
                <a:lnTo>
                  <a:pt x="502439" y="298712"/>
                </a:lnTo>
                <a:lnTo>
                  <a:pt x="558265" y="307314"/>
                </a:lnTo>
                <a:lnTo>
                  <a:pt x="614092" y="310051"/>
                </a:lnTo>
                <a:lnTo>
                  <a:pt x="669918" y="323344"/>
                </a:lnTo>
                <a:lnTo>
                  <a:pt x="725745" y="320608"/>
                </a:lnTo>
                <a:lnTo>
                  <a:pt x="781571" y="323735"/>
                </a:lnTo>
                <a:lnTo>
                  <a:pt x="837398" y="322953"/>
                </a:lnTo>
                <a:lnTo>
                  <a:pt x="893224" y="326863"/>
                </a:lnTo>
                <a:lnTo>
                  <a:pt x="949051" y="314352"/>
                </a:lnTo>
                <a:lnTo>
                  <a:pt x="1004877" y="335074"/>
                </a:lnTo>
                <a:lnTo>
                  <a:pt x="1060704" y="334683"/>
                </a:lnTo>
                <a:lnTo>
                  <a:pt x="1116531" y="347976"/>
                </a:lnTo>
                <a:lnTo>
                  <a:pt x="1172357" y="338202"/>
                </a:lnTo>
                <a:lnTo>
                  <a:pt x="1228184" y="345631"/>
                </a:lnTo>
                <a:lnTo>
                  <a:pt x="1284010" y="347195"/>
                </a:lnTo>
                <a:lnTo>
                  <a:pt x="1339837" y="328427"/>
                </a:lnTo>
                <a:lnTo>
                  <a:pt x="1395663" y="333510"/>
                </a:lnTo>
                <a:lnTo>
                  <a:pt x="1451490" y="344458"/>
                </a:lnTo>
                <a:lnTo>
                  <a:pt x="1507316" y="351886"/>
                </a:lnTo>
                <a:lnTo>
                  <a:pt x="1563143" y="343676"/>
                </a:lnTo>
                <a:lnTo>
                  <a:pt x="1618969" y="340939"/>
                </a:lnTo>
                <a:lnTo>
                  <a:pt x="1674796" y="341721"/>
                </a:lnTo>
                <a:lnTo>
                  <a:pt x="1730622" y="342112"/>
                </a:lnTo>
                <a:lnTo>
                  <a:pt x="1786449" y="312006"/>
                </a:lnTo>
                <a:lnTo>
                  <a:pt x="1842275" y="301058"/>
                </a:lnTo>
                <a:lnTo>
                  <a:pt x="1898102" y="234591"/>
                </a:lnTo>
                <a:lnTo>
                  <a:pt x="1953928" y="215433"/>
                </a:lnTo>
                <a:lnTo>
                  <a:pt x="2009755" y="177116"/>
                </a:lnTo>
                <a:lnTo>
                  <a:pt x="2065581" y="166169"/>
                </a:lnTo>
                <a:lnTo>
                  <a:pt x="2121408" y="163041"/>
                </a:lnTo>
                <a:lnTo>
                  <a:pt x="2177235" y="157567"/>
                </a:lnTo>
                <a:lnTo>
                  <a:pt x="2233061" y="167342"/>
                </a:lnTo>
                <a:lnTo>
                  <a:pt x="2288888" y="162259"/>
                </a:lnTo>
                <a:lnTo>
                  <a:pt x="2344714" y="176334"/>
                </a:lnTo>
                <a:lnTo>
                  <a:pt x="2400541" y="183763"/>
                </a:lnTo>
                <a:lnTo>
                  <a:pt x="2456367" y="213478"/>
                </a:lnTo>
                <a:lnTo>
                  <a:pt x="2512194" y="217779"/>
                </a:lnTo>
                <a:lnTo>
                  <a:pt x="2568020" y="247102"/>
                </a:lnTo>
                <a:lnTo>
                  <a:pt x="2623847" y="238110"/>
                </a:lnTo>
                <a:lnTo>
                  <a:pt x="2679673" y="270171"/>
                </a:lnTo>
                <a:lnTo>
                  <a:pt x="2735500" y="271734"/>
                </a:lnTo>
                <a:lnTo>
                  <a:pt x="2791326" y="287374"/>
                </a:lnTo>
                <a:lnTo>
                  <a:pt x="2847153" y="291284"/>
                </a:lnTo>
                <a:lnTo>
                  <a:pt x="2902979" y="299885"/>
                </a:lnTo>
                <a:lnTo>
                  <a:pt x="2958806" y="309269"/>
                </a:lnTo>
                <a:lnTo>
                  <a:pt x="3014632" y="265088"/>
                </a:lnTo>
                <a:lnTo>
                  <a:pt x="3070459" y="226771"/>
                </a:lnTo>
                <a:lnTo>
                  <a:pt x="3126285" y="124333"/>
                </a:lnTo>
                <a:lnTo>
                  <a:pt x="3182112" y="112604"/>
                </a:lnTo>
                <a:lnTo>
                  <a:pt x="3237939" y="56693"/>
                </a:lnTo>
                <a:lnTo>
                  <a:pt x="3293765" y="57084"/>
                </a:lnTo>
                <a:lnTo>
                  <a:pt x="3349592" y="55520"/>
                </a:lnTo>
                <a:lnTo>
                  <a:pt x="3405418" y="60212"/>
                </a:lnTo>
                <a:lnTo>
                  <a:pt x="3461245" y="79370"/>
                </a:lnTo>
                <a:lnTo>
                  <a:pt x="3517071" y="80152"/>
                </a:lnTo>
                <a:lnTo>
                  <a:pt x="3572898" y="122378"/>
                </a:lnTo>
                <a:lnTo>
                  <a:pt x="3628724" y="130589"/>
                </a:lnTo>
                <a:lnTo>
                  <a:pt x="3684551" y="165778"/>
                </a:lnTo>
                <a:lnTo>
                  <a:pt x="3740377" y="172815"/>
                </a:lnTo>
                <a:lnTo>
                  <a:pt x="3796204" y="182199"/>
                </a:lnTo>
                <a:lnTo>
                  <a:pt x="3852030" y="182590"/>
                </a:lnTo>
                <a:lnTo>
                  <a:pt x="3907857" y="179462"/>
                </a:lnTo>
                <a:lnTo>
                  <a:pt x="3963683" y="172033"/>
                </a:lnTo>
                <a:lnTo>
                  <a:pt x="4019510" y="187282"/>
                </a:lnTo>
                <a:lnTo>
                  <a:pt x="4075336" y="200184"/>
                </a:lnTo>
                <a:lnTo>
                  <a:pt x="4131163" y="202139"/>
                </a:lnTo>
                <a:lnTo>
                  <a:pt x="4186989" y="216606"/>
                </a:lnTo>
                <a:lnTo>
                  <a:pt x="4242816" y="233027"/>
                </a:lnTo>
                <a:lnTo>
                  <a:pt x="4298643" y="240847"/>
                </a:lnTo>
                <a:lnTo>
                  <a:pt x="4354469" y="259223"/>
                </a:lnTo>
                <a:lnTo>
                  <a:pt x="4410296" y="270562"/>
                </a:lnTo>
                <a:lnTo>
                  <a:pt x="4466122" y="281118"/>
                </a:lnTo>
                <a:lnTo>
                  <a:pt x="4521949" y="283073"/>
                </a:lnTo>
                <a:lnTo>
                  <a:pt x="4577775" y="248666"/>
                </a:lnTo>
                <a:lnTo>
                  <a:pt x="4633602" y="220906"/>
                </a:lnTo>
                <a:lnTo>
                  <a:pt x="4689428" y="141927"/>
                </a:lnTo>
                <a:lnTo>
                  <a:pt x="4745255" y="123160"/>
                </a:lnTo>
                <a:lnTo>
                  <a:pt x="4801081" y="91099"/>
                </a:lnTo>
                <a:lnTo>
                  <a:pt x="4856908" y="95009"/>
                </a:lnTo>
                <a:lnTo>
                  <a:pt x="4912734" y="98137"/>
                </a:lnTo>
                <a:lnTo>
                  <a:pt x="4968561" y="100092"/>
                </a:lnTo>
                <a:lnTo>
                  <a:pt x="5024387" y="114168"/>
                </a:lnTo>
                <a:lnTo>
                  <a:pt x="5080214" y="116513"/>
                </a:lnTo>
                <a:lnTo>
                  <a:pt x="5136040" y="135281"/>
                </a:lnTo>
                <a:lnTo>
                  <a:pt x="5191867" y="152093"/>
                </a:lnTo>
                <a:lnTo>
                  <a:pt x="5247693" y="173597"/>
                </a:lnTo>
                <a:lnTo>
                  <a:pt x="5303520" y="189237"/>
                </a:lnTo>
                <a:lnTo>
                  <a:pt x="5303520" y="295585"/>
                </a:lnTo>
                <a:lnTo>
                  <a:pt x="5247693" y="282682"/>
                </a:lnTo>
                <a:lnTo>
                  <a:pt x="5191867" y="256486"/>
                </a:lnTo>
                <a:lnTo>
                  <a:pt x="5136040" y="252967"/>
                </a:lnTo>
                <a:lnTo>
                  <a:pt x="5080214" y="231072"/>
                </a:lnTo>
                <a:lnTo>
                  <a:pt x="5024387" y="215433"/>
                </a:lnTo>
                <a:lnTo>
                  <a:pt x="4968561" y="218952"/>
                </a:lnTo>
                <a:lnTo>
                  <a:pt x="4912734" y="211132"/>
                </a:lnTo>
                <a:lnTo>
                  <a:pt x="4856908" y="215042"/>
                </a:lnTo>
                <a:lnTo>
                  <a:pt x="4801081" y="212305"/>
                </a:lnTo>
                <a:lnTo>
                  <a:pt x="4745255" y="240065"/>
                </a:lnTo>
                <a:lnTo>
                  <a:pt x="4689428" y="251794"/>
                </a:lnTo>
                <a:lnTo>
                  <a:pt x="4633602" y="328427"/>
                </a:lnTo>
                <a:lnTo>
                  <a:pt x="4577775" y="348758"/>
                </a:lnTo>
                <a:lnTo>
                  <a:pt x="4521949" y="395677"/>
                </a:lnTo>
                <a:lnTo>
                  <a:pt x="4466122" y="381601"/>
                </a:lnTo>
                <a:lnTo>
                  <a:pt x="4410296" y="382383"/>
                </a:lnTo>
                <a:lnTo>
                  <a:pt x="4354469" y="367135"/>
                </a:lnTo>
                <a:lnTo>
                  <a:pt x="4298643" y="350713"/>
                </a:lnTo>
                <a:lnTo>
                  <a:pt x="4242816" y="345240"/>
                </a:lnTo>
                <a:lnTo>
                  <a:pt x="4186989" y="327254"/>
                </a:lnTo>
                <a:lnTo>
                  <a:pt x="4131163" y="306923"/>
                </a:lnTo>
                <a:lnTo>
                  <a:pt x="4075336" y="295194"/>
                </a:lnTo>
                <a:lnTo>
                  <a:pt x="4019510" y="290502"/>
                </a:lnTo>
                <a:lnTo>
                  <a:pt x="3963683" y="286592"/>
                </a:lnTo>
                <a:lnTo>
                  <a:pt x="3907857" y="294803"/>
                </a:lnTo>
                <a:lnTo>
                  <a:pt x="3852030" y="288547"/>
                </a:lnTo>
                <a:lnTo>
                  <a:pt x="3796204" y="295194"/>
                </a:lnTo>
                <a:lnTo>
                  <a:pt x="3740377" y="275644"/>
                </a:lnTo>
                <a:lnTo>
                  <a:pt x="3684551" y="267043"/>
                </a:lnTo>
                <a:lnTo>
                  <a:pt x="3628724" y="241629"/>
                </a:lnTo>
                <a:lnTo>
                  <a:pt x="3572898" y="232245"/>
                </a:lnTo>
                <a:lnTo>
                  <a:pt x="3517071" y="197447"/>
                </a:lnTo>
                <a:lnTo>
                  <a:pt x="3461245" y="186891"/>
                </a:lnTo>
                <a:lnTo>
                  <a:pt x="3405418" y="173597"/>
                </a:lnTo>
                <a:lnTo>
                  <a:pt x="3349592" y="178289"/>
                </a:lnTo>
                <a:lnTo>
                  <a:pt x="3293765" y="174770"/>
                </a:lnTo>
                <a:lnTo>
                  <a:pt x="3237939" y="176725"/>
                </a:lnTo>
                <a:lnTo>
                  <a:pt x="3182112" y="222470"/>
                </a:lnTo>
                <a:lnTo>
                  <a:pt x="3126285" y="241629"/>
                </a:lnTo>
                <a:lnTo>
                  <a:pt x="3070459" y="344458"/>
                </a:lnTo>
                <a:lnTo>
                  <a:pt x="3014632" y="373781"/>
                </a:lnTo>
                <a:lnTo>
                  <a:pt x="2958806" y="405451"/>
                </a:lnTo>
                <a:lnTo>
                  <a:pt x="2902979" y="406624"/>
                </a:lnTo>
                <a:lnTo>
                  <a:pt x="2847153" y="393331"/>
                </a:lnTo>
                <a:lnTo>
                  <a:pt x="2791326" y="390594"/>
                </a:lnTo>
                <a:lnTo>
                  <a:pt x="2735500" y="379255"/>
                </a:lnTo>
                <a:lnTo>
                  <a:pt x="2679673" y="364007"/>
                </a:lnTo>
                <a:lnTo>
                  <a:pt x="2623847" y="349540"/>
                </a:lnTo>
                <a:lnTo>
                  <a:pt x="2568020" y="347976"/>
                </a:lnTo>
                <a:lnTo>
                  <a:pt x="2512194" y="322953"/>
                </a:lnTo>
                <a:lnTo>
                  <a:pt x="2456367" y="326081"/>
                </a:lnTo>
                <a:lnTo>
                  <a:pt x="2400541" y="293239"/>
                </a:lnTo>
                <a:lnTo>
                  <a:pt x="2344714" y="273689"/>
                </a:lnTo>
                <a:lnTo>
                  <a:pt x="2288888" y="283073"/>
                </a:lnTo>
                <a:lnTo>
                  <a:pt x="2233061" y="269780"/>
                </a:lnTo>
                <a:lnTo>
                  <a:pt x="2177235" y="256486"/>
                </a:lnTo>
                <a:lnTo>
                  <a:pt x="2121408" y="282291"/>
                </a:lnTo>
                <a:lnTo>
                  <a:pt x="2065581" y="270562"/>
                </a:lnTo>
                <a:lnTo>
                  <a:pt x="2009755" y="279554"/>
                </a:lnTo>
                <a:lnTo>
                  <a:pt x="1953928" y="317089"/>
                </a:lnTo>
                <a:lnTo>
                  <a:pt x="1898102" y="342112"/>
                </a:lnTo>
                <a:lnTo>
                  <a:pt x="1842275" y="411707"/>
                </a:lnTo>
                <a:lnTo>
                  <a:pt x="1786449" y="420700"/>
                </a:lnTo>
                <a:lnTo>
                  <a:pt x="1730622" y="454324"/>
                </a:lnTo>
                <a:lnTo>
                  <a:pt x="1674796" y="452760"/>
                </a:lnTo>
                <a:lnTo>
                  <a:pt x="1618969" y="447287"/>
                </a:lnTo>
                <a:lnTo>
                  <a:pt x="1563143" y="443377"/>
                </a:lnTo>
                <a:lnTo>
                  <a:pt x="1507316" y="448069"/>
                </a:lnTo>
                <a:lnTo>
                  <a:pt x="1451490" y="449633"/>
                </a:lnTo>
                <a:lnTo>
                  <a:pt x="1395663" y="445332"/>
                </a:lnTo>
                <a:lnTo>
                  <a:pt x="1339837" y="448851"/>
                </a:lnTo>
                <a:lnTo>
                  <a:pt x="1284010" y="443377"/>
                </a:lnTo>
                <a:lnTo>
                  <a:pt x="1228184" y="444550"/>
                </a:lnTo>
                <a:lnTo>
                  <a:pt x="1172357" y="447678"/>
                </a:lnTo>
                <a:lnTo>
                  <a:pt x="1116531" y="448460"/>
                </a:lnTo>
                <a:lnTo>
                  <a:pt x="1060704" y="430865"/>
                </a:lnTo>
                <a:lnTo>
                  <a:pt x="1004877" y="436730"/>
                </a:lnTo>
                <a:lnTo>
                  <a:pt x="949051" y="428128"/>
                </a:lnTo>
                <a:lnTo>
                  <a:pt x="893224" y="429692"/>
                </a:lnTo>
                <a:lnTo>
                  <a:pt x="837398" y="423828"/>
                </a:lnTo>
                <a:lnTo>
                  <a:pt x="781571" y="436339"/>
                </a:lnTo>
                <a:lnTo>
                  <a:pt x="725745" y="432038"/>
                </a:lnTo>
                <a:lnTo>
                  <a:pt x="669918" y="432038"/>
                </a:lnTo>
                <a:lnTo>
                  <a:pt x="614092" y="415617"/>
                </a:lnTo>
                <a:lnTo>
                  <a:pt x="558265" y="407797"/>
                </a:lnTo>
                <a:lnTo>
                  <a:pt x="502439" y="407797"/>
                </a:lnTo>
                <a:lnTo>
                  <a:pt x="446612" y="403496"/>
                </a:lnTo>
                <a:lnTo>
                  <a:pt x="390786" y="395286"/>
                </a:lnTo>
                <a:lnTo>
                  <a:pt x="334959" y="390594"/>
                </a:lnTo>
                <a:lnTo>
                  <a:pt x="279133" y="372218"/>
                </a:lnTo>
                <a:lnTo>
                  <a:pt x="223306" y="370654"/>
                </a:lnTo>
                <a:lnTo>
                  <a:pt x="167480" y="366353"/>
                </a:lnTo>
                <a:lnTo>
                  <a:pt x="111653" y="362443"/>
                </a:lnTo>
                <a:lnTo>
                  <a:pt x="55827" y="342503"/>
                </a:lnTo>
                <a:lnTo>
                  <a:pt x="0" y="330382"/>
                </a:lnTo>
                <a:close/>
              </a:path>
            </a:pathLst>
          </a:custGeom>
          <a:solidFill>
            <a:schemeClr val="accent1">
              <a:alpha val="16000"/>
            </a:schemeClr>
          </a:solidFill>
          <a:ln w="12700">
            <a:solidFill>
              <a:schemeClr val="accent1"/>
            </a:solidFill>
            <a:prstDash val="solid"/>
          </a:ln>
        </p:spPr>
      </p:sp>
      <p:sp>
        <p:nvSpPr>
          <p:cNvPr id="19" name="Shadow estimate"/>
          <p:cNvSpPr/>
          <p:nvPr/>
        </p:nvSpPr>
        <p:spPr>
          <a:xfrm>
            <a:off x="932688" y="3255264"/>
            <a:ext cx="5303520" cy="566928"/>
          </a:xfrm>
          <a:custGeom>
            <a:avLst/>
            <a:gdLst/>
            <a:ahLst/>
            <a:cxnLst/>
            <a:rect l="l" t="t" r="r" b="b"/>
            <a:pathLst>
              <a:path w="5303520" h="566928">
                <a:moveTo>
                  <a:pt x="0" y="292848"/>
                </a:moveTo>
                <a:lnTo>
                  <a:pt x="55827" y="298712"/>
                </a:lnTo>
                <a:lnTo>
                  <a:pt x="111653" y="312006"/>
                </a:lnTo>
                <a:lnTo>
                  <a:pt x="167480" y="317089"/>
                </a:lnTo>
                <a:lnTo>
                  <a:pt x="223306" y="326863"/>
                </a:lnTo>
                <a:lnTo>
                  <a:pt x="279133" y="331164"/>
                </a:lnTo>
                <a:lnTo>
                  <a:pt x="334959" y="345631"/>
                </a:lnTo>
                <a:lnTo>
                  <a:pt x="390786" y="349149"/>
                </a:lnTo>
                <a:lnTo>
                  <a:pt x="446612" y="366353"/>
                </a:lnTo>
                <a:lnTo>
                  <a:pt x="502439" y="369090"/>
                </a:lnTo>
                <a:lnTo>
                  <a:pt x="558265" y="365571"/>
                </a:lnTo>
                <a:lnTo>
                  <a:pt x="614092" y="367526"/>
                </a:lnTo>
                <a:lnTo>
                  <a:pt x="669918" y="382383"/>
                </a:lnTo>
                <a:lnTo>
                  <a:pt x="725745" y="383947"/>
                </a:lnTo>
                <a:lnTo>
                  <a:pt x="781571" y="387075"/>
                </a:lnTo>
                <a:lnTo>
                  <a:pt x="837398" y="388248"/>
                </a:lnTo>
                <a:lnTo>
                  <a:pt x="893224" y="386684"/>
                </a:lnTo>
                <a:lnTo>
                  <a:pt x="949051" y="387857"/>
                </a:lnTo>
                <a:lnTo>
                  <a:pt x="1004877" y="392940"/>
                </a:lnTo>
                <a:lnTo>
                  <a:pt x="1060704" y="393722"/>
                </a:lnTo>
                <a:lnTo>
                  <a:pt x="1116531" y="401932"/>
                </a:lnTo>
                <a:lnTo>
                  <a:pt x="1172357" y="402714"/>
                </a:lnTo>
                <a:lnTo>
                  <a:pt x="1228184" y="396459"/>
                </a:lnTo>
                <a:lnTo>
                  <a:pt x="1284010" y="396850"/>
                </a:lnTo>
                <a:lnTo>
                  <a:pt x="1339837" y="399977"/>
                </a:lnTo>
                <a:lnTo>
                  <a:pt x="1395663" y="400368"/>
                </a:lnTo>
                <a:lnTo>
                  <a:pt x="1451490" y="403887"/>
                </a:lnTo>
                <a:lnTo>
                  <a:pt x="1507316" y="404278"/>
                </a:lnTo>
                <a:lnTo>
                  <a:pt x="1563143" y="403105"/>
                </a:lnTo>
                <a:lnTo>
                  <a:pt x="1618969" y="403496"/>
                </a:lnTo>
                <a:lnTo>
                  <a:pt x="1674796" y="404278"/>
                </a:lnTo>
                <a:lnTo>
                  <a:pt x="1730622" y="404669"/>
                </a:lnTo>
                <a:lnTo>
                  <a:pt x="1786449" y="373391"/>
                </a:lnTo>
                <a:lnTo>
                  <a:pt x="1842275" y="362052"/>
                </a:lnTo>
                <a:lnTo>
                  <a:pt x="1898102" y="298321"/>
                </a:lnTo>
                <a:lnTo>
                  <a:pt x="1953928" y="275253"/>
                </a:lnTo>
                <a:lnTo>
                  <a:pt x="2009755" y="236155"/>
                </a:lnTo>
                <a:lnTo>
                  <a:pt x="2065581" y="226771"/>
                </a:lnTo>
                <a:lnTo>
                  <a:pt x="2121408" y="225598"/>
                </a:lnTo>
                <a:lnTo>
                  <a:pt x="2177235" y="224816"/>
                </a:lnTo>
                <a:lnTo>
                  <a:pt x="2233061" y="228726"/>
                </a:lnTo>
                <a:lnTo>
                  <a:pt x="2288888" y="233027"/>
                </a:lnTo>
                <a:lnTo>
                  <a:pt x="2344714" y="240847"/>
                </a:lnTo>
                <a:lnTo>
                  <a:pt x="2400541" y="246711"/>
                </a:lnTo>
                <a:lnTo>
                  <a:pt x="2456367" y="272125"/>
                </a:lnTo>
                <a:lnTo>
                  <a:pt x="2512194" y="278381"/>
                </a:lnTo>
                <a:lnTo>
                  <a:pt x="2568020" y="297930"/>
                </a:lnTo>
                <a:lnTo>
                  <a:pt x="2623847" y="303795"/>
                </a:lnTo>
                <a:lnTo>
                  <a:pt x="2679673" y="324517"/>
                </a:lnTo>
                <a:lnTo>
                  <a:pt x="2735500" y="329991"/>
                </a:lnTo>
                <a:lnTo>
                  <a:pt x="2791326" y="349149"/>
                </a:lnTo>
                <a:lnTo>
                  <a:pt x="2847153" y="353841"/>
                </a:lnTo>
                <a:lnTo>
                  <a:pt x="2902979" y="356578"/>
                </a:lnTo>
                <a:lnTo>
                  <a:pt x="2958806" y="360879"/>
                </a:lnTo>
                <a:lnTo>
                  <a:pt x="3014632" y="328818"/>
                </a:lnTo>
                <a:lnTo>
                  <a:pt x="3070459" y="295976"/>
                </a:lnTo>
                <a:lnTo>
                  <a:pt x="3126285" y="199793"/>
                </a:lnTo>
                <a:lnTo>
                  <a:pt x="3182112" y="175552"/>
                </a:lnTo>
                <a:lnTo>
                  <a:pt x="3237939" y="134890"/>
                </a:lnTo>
                <a:lnTo>
                  <a:pt x="3293765" y="127852"/>
                </a:lnTo>
                <a:lnTo>
                  <a:pt x="3349592" y="124724"/>
                </a:lnTo>
                <a:lnTo>
                  <a:pt x="3405418" y="127852"/>
                </a:lnTo>
                <a:lnTo>
                  <a:pt x="3461245" y="142318"/>
                </a:lnTo>
                <a:lnTo>
                  <a:pt x="3517071" y="150529"/>
                </a:lnTo>
                <a:lnTo>
                  <a:pt x="3572898" y="191974"/>
                </a:lnTo>
                <a:lnTo>
                  <a:pt x="3628724" y="201748"/>
                </a:lnTo>
                <a:lnTo>
                  <a:pt x="3684551" y="221688"/>
                </a:lnTo>
                <a:lnTo>
                  <a:pt x="3740377" y="231463"/>
                </a:lnTo>
                <a:lnTo>
                  <a:pt x="3796204" y="251012"/>
                </a:lnTo>
                <a:lnTo>
                  <a:pt x="3852030" y="245929"/>
                </a:lnTo>
                <a:lnTo>
                  <a:pt x="3907857" y="247102"/>
                </a:lnTo>
                <a:lnTo>
                  <a:pt x="3963683" y="245929"/>
                </a:lnTo>
                <a:lnTo>
                  <a:pt x="4019510" y="249057"/>
                </a:lnTo>
                <a:lnTo>
                  <a:pt x="4075336" y="252967"/>
                </a:lnTo>
                <a:lnTo>
                  <a:pt x="4131163" y="267434"/>
                </a:lnTo>
                <a:lnTo>
                  <a:pt x="4186989" y="275644"/>
                </a:lnTo>
                <a:lnTo>
                  <a:pt x="4242816" y="290502"/>
                </a:lnTo>
                <a:lnTo>
                  <a:pt x="4298643" y="297148"/>
                </a:lnTo>
                <a:lnTo>
                  <a:pt x="4354469" y="319826"/>
                </a:lnTo>
                <a:lnTo>
                  <a:pt x="4410296" y="325299"/>
                </a:lnTo>
                <a:lnTo>
                  <a:pt x="4466122" y="333119"/>
                </a:lnTo>
                <a:lnTo>
                  <a:pt x="4521949" y="338202"/>
                </a:lnTo>
                <a:lnTo>
                  <a:pt x="4577775" y="299885"/>
                </a:lnTo>
                <a:lnTo>
                  <a:pt x="4633602" y="274080"/>
                </a:lnTo>
                <a:lnTo>
                  <a:pt x="4689428" y="206440"/>
                </a:lnTo>
                <a:lnTo>
                  <a:pt x="4745255" y="188064"/>
                </a:lnTo>
                <a:lnTo>
                  <a:pt x="4801081" y="166169"/>
                </a:lnTo>
                <a:lnTo>
                  <a:pt x="4856908" y="161868"/>
                </a:lnTo>
                <a:lnTo>
                  <a:pt x="4912734" y="167342"/>
                </a:lnTo>
                <a:lnTo>
                  <a:pt x="4968561" y="170860"/>
                </a:lnTo>
                <a:lnTo>
                  <a:pt x="5024387" y="174379"/>
                </a:lnTo>
                <a:lnTo>
                  <a:pt x="5080214" y="181808"/>
                </a:lnTo>
                <a:lnTo>
                  <a:pt x="5136040" y="203312"/>
                </a:lnTo>
                <a:lnTo>
                  <a:pt x="5191867" y="211523"/>
                </a:lnTo>
                <a:lnTo>
                  <a:pt x="5247693" y="239283"/>
                </a:lnTo>
                <a:lnTo>
                  <a:pt x="5303520" y="246711"/>
                </a:lnTo>
              </a:path>
            </a:pathLst>
          </a:custGeom>
          <a:ln w="22225">
            <a:solidFill>
              <a:schemeClr val="accent1"/>
            </a:solidFill>
            <a:prstDash val="solid"/>
          </a:ln>
        </p:spPr>
      </p:sp>
      <p:sp>
        <p:nvSpPr>
          <p:cNvPr id="20" name="Panel rule Fingersticks"/>
          <p:cNvSpPr/>
          <p:nvPr/>
        </p:nvSpPr>
        <p:spPr>
          <a:xfrm>
            <a:off x="749808" y="3968496"/>
            <a:ext cx="64008" cy="676656"/>
          </a:xfrm>
          <a:prstGeom prst="rect">
            <a:avLst/>
          </a:prstGeom>
          <a:solidFill>
            <a:schemeClr val="accent3"/>
          </a:solidFill>
          <a:ln w="12700">
            <a:solidFill>
              <a:schemeClr val="accent3"/>
            </a:solidFill>
            <a:prstDash val="solid"/>
          </a:ln>
        </p:spPr>
      </p:sp>
      <p:sp>
        <p:nvSpPr>
          <p:cNvPr id="21" name="Text 19"/>
          <p:cNvSpPr txBox="1"/>
          <p:nvPr/>
        </p:nvSpPr>
        <p:spPr>
          <a:xfrm>
            <a:off x="932688" y="3968496"/>
            <a:ext cx="3108960" cy="274320"/>
          </a:xfrm>
          <a:prstGeom prst="rect">
            <a:avLst/>
          </a:prstGeom>
          <a:noFill/>
          <a:ln/>
        </p:spPr>
        <p:txBody>
          <a:bodyPr wrap="square" lIns="0" tIns="0" rIns="0" bIns="0" rtlCol="0" anchor="t"/>
          <a:lstStyle/>
          <a:p>
            <a:pPr indent="0" marL="0">
              <a:buNone/>
            </a:pPr>
            <a:r>
              <a:rPr lang="en-US" sz="1300" b="1" dirty="0">
                <a:solidFill>
                  <a:schemeClr val="tx1"/>
                </a:solidFill>
              </a:rPr>
              <a:t>Fingersticks</a:t>
            </a:r>
            <a:endParaRPr lang="en-US" sz="1300" dirty="0"/>
          </a:p>
        </p:txBody>
      </p:sp>
      <p:sp>
        <p:nvSpPr>
          <p:cNvPr id="22" name="Chip as read"/>
          <p:cNvSpPr/>
          <p:nvPr/>
        </p:nvSpPr>
        <p:spPr>
          <a:xfrm>
            <a:off x="5509260" y="3986784"/>
            <a:ext cx="754380" cy="237744"/>
          </a:xfrm>
          <a:prstGeom prst="roundRect">
            <a:avLst>
              <a:gd name="adj" fmla="val 50000"/>
            </a:avLst>
          </a:prstGeom>
          <a:solidFill>
            <a:srgbClr val="EEEDF5"/>
          </a:solidFill>
          <a:ln w="6350">
            <a:solidFill>
              <a:srgbClr val="C9C8D6"/>
            </a:solidFill>
            <a:prstDash val="solid"/>
          </a:ln>
        </p:spPr>
      </p:sp>
      <p:sp>
        <p:nvSpPr>
          <p:cNvPr id="23" name="Text 21"/>
          <p:cNvSpPr txBox="1"/>
          <p:nvPr/>
        </p:nvSpPr>
        <p:spPr>
          <a:xfrm>
            <a:off x="5509260" y="3986784"/>
            <a:ext cx="754380" cy="237744"/>
          </a:xfrm>
          <a:prstGeom prst="rect">
            <a:avLst/>
          </a:prstGeom>
          <a:noFill/>
          <a:ln/>
        </p:spPr>
        <p:txBody>
          <a:bodyPr wrap="square" lIns="0" tIns="0" rIns="0" bIns="0" rtlCol="0" anchor="ctr"/>
          <a:lstStyle/>
          <a:p>
            <a:pPr algn="ctr" indent="0" marL="0">
              <a:buNone/>
            </a:pPr>
            <a:r>
              <a:rPr lang="en-US" sz="1000" dirty="0">
                <a:solidFill>
                  <a:schemeClr val="tx2"/>
                </a:solidFill>
              </a:rPr>
              <a:t>as read</a:t>
            </a:r>
            <a:endParaRPr lang="en-US" sz="1000" dirty="0"/>
          </a:p>
        </p:txBody>
      </p:sp>
      <p:sp>
        <p:nvSpPr>
          <p:cNvPr id="24" name="Fingerstick marker"/>
          <p:cNvSpPr/>
          <p:nvPr/>
        </p:nvSpPr>
        <p:spPr>
          <a:xfrm>
            <a:off x="960120" y="4334256"/>
            <a:ext cx="118872" cy="118872"/>
          </a:xfrm>
          <a:prstGeom prst="diamond">
            <a:avLst/>
          </a:prstGeom>
          <a:solidFill>
            <a:schemeClr val="accent3"/>
          </a:solidFill>
          <a:ln w="12700">
            <a:solidFill>
              <a:schemeClr val="accent3"/>
            </a:solidFill>
            <a:prstDash val="solid"/>
          </a:ln>
        </p:spPr>
      </p:sp>
      <p:sp>
        <p:nvSpPr>
          <p:cNvPr id="25" name="Fingerstick marker"/>
          <p:cNvSpPr/>
          <p:nvPr/>
        </p:nvSpPr>
        <p:spPr>
          <a:xfrm>
            <a:off x="1252728" y="4334256"/>
            <a:ext cx="118872" cy="118872"/>
          </a:xfrm>
          <a:prstGeom prst="diamond">
            <a:avLst/>
          </a:prstGeom>
          <a:solidFill>
            <a:schemeClr val="accent3"/>
          </a:solidFill>
          <a:ln w="12700">
            <a:solidFill>
              <a:schemeClr val="accent3"/>
            </a:solidFill>
            <a:prstDash val="solid"/>
          </a:ln>
        </p:spPr>
      </p:sp>
      <p:sp>
        <p:nvSpPr>
          <p:cNvPr id="26" name="Fingerstick marker"/>
          <p:cNvSpPr/>
          <p:nvPr/>
        </p:nvSpPr>
        <p:spPr>
          <a:xfrm>
            <a:off x="1600200" y="4334256"/>
            <a:ext cx="118872" cy="118872"/>
          </a:xfrm>
          <a:prstGeom prst="diamond">
            <a:avLst/>
          </a:prstGeom>
          <a:solidFill>
            <a:schemeClr val="accent3"/>
          </a:solidFill>
          <a:ln w="12700">
            <a:solidFill>
              <a:schemeClr val="accent3"/>
            </a:solidFill>
            <a:prstDash val="solid"/>
          </a:ln>
        </p:spPr>
      </p:sp>
      <p:sp>
        <p:nvSpPr>
          <p:cNvPr id="27" name="Fingerstick marker"/>
          <p:cNvSpPr/>
          <p:nvPr/>
        </p:nvSpPr>
        <p:spPr>
          <a:xfrm>
            <a:off x="1874520" y="4334256"/>
            <a:ext cx="118872" cy="118872"/>
          </a:xfrm>
          <a:prstGeom prst="diamond">
            <a:avLst/>
          </a:prstGeom>
          <a:solidFill>
            <a:schemeClr val="accent3"/>
          </a:solidFill>
          <a:ln w="12700">
            <a:solidFill>
              <a:schemeClr val="accent3"/>
            </a:solidFill>
            <a:prstDash val="solid"/>
          </a:ln>
        </p:spPr>
      </p:sp>
      <p:sp>
        <p:nvSpPr>
          <p:cNvPr id="28" name="Fingerstick marker"/>
          <p:cNvSpPr/>
          <p:nvPr/>
        </p:nvSpPr>
        <p:spPr>
          <a:xfrm>
            <a:off x="2240280" y="4334256"/>
            <a:ext cx="118872" cy="118872"/>
          </a:xfrm>
          <a:prstGeom prst="diamond">
            <a:avLst/>
          </a:prstGeom>
          <a:solidFill>
            <a:schemeClr val="accent3"/>
          </a:solidFill>
          <a:ln w="12700">
            <a:solidFill>
              <a:schemeClr val="accent3"/>
            </a:solidFill>
            <a:prstDash val="solid"/>
          </a:ln>
        </p:spPr>
      </p:sp>
      <p:sp>
        <p:nvSpPr>
          <p:cNvPr id="29" name="Fingerstick marker"/>
          <p:cNvSpPr/>
          <p:nvPr/>
        </p:nvSpPr>
        <p:spPr>
          <a:xfrm>
            <a:off x="2532888" y="4334256"/>
            <a:ext cx="118872" cy="118872"/>
          </a:xfrm>
          <a:prstGeom prst="diamond">
            <a:avLst/>
          </a:prstGeom>
          <a:solidFill>
            <a:schemeClr val="accent3"/>
          </a:solidFill>
          <a:ln w="12700">
            <a:solidFill>
              <a:schemeClr val="accent3"/>
            </a:solidFill>
            <a:prstDash val="solid"/>
          </a:ln>
        </p:spPr>
      </p:sp>
      <p:sp>
        <p:nvSpPr>
          <p:cNvPr id="30" name="Text 28"/>
          <p:cNvSpPr txBox="1"/>
          <p:nvPr/>
        </p:nvSpPr>
        <p:spPr>
          <a:xfrm>
            <a:off x="932688" y="4498848"/>
            <a:ext cx="5120640" cy="237744"/>
          </a:xfrm>
          <a:prstGeom prst="rect">
            <a:avLst/>
          </a:prstGeom>
          <a:noFill/>
          <a:ln/>
        </p:spPr>
        <p:txBody>
          <a:bodyPr wrap="square" lIns="0" tIns="0" rIns="0" bIns="0" rtlCol="0" anchor="t"/>
          <a:lstStyle/>
          <a:p>
            <a:pPr indent="0" marL="0">
              <a:buNone/>
            </a:pPr>
            <a:r>
              <a:rPr lang="en-US" sz="1200" dirty="0">
                <a:solidFill>
                  <a:schemeClr val="tx2"/>
                </a:solidFill>
              </a:rPr>
              <a:t>36 since the sensor, 6.0 a day</a:t>
            </a:r>
            <a:endParaRPr lang="en-US" sz="1200" dirty="0"/>
          </a:p>
        </p:txBody>
      </p:sp>
      <p:sp>
        <p:nvSpPr>
          <p:cNvPr id="31" name="Panel rule Meal excursion history"/>
          <p:cNvSpPr/>
          <p:nvPr/>
        </p:nvSpPr>
        <p:spPr>
          <a:xfrm>
            <a:off x="749808" y="4754880"/>
            <a:ext cx="64008" cy="1170432"/>
          </a:xfrm>
          <a:prstGeom prst="rect">
            <a:avLst/>
          </a:prstGeom>
          <a:solidFill>
            <a:schemeClr val="accent2"/>
          </a:solidFill>
          <a:ln w="12700">
            <a:solidFill>
              <a:schemeClr val="accent2"/>
            </a:solidFill>
            <a:prstDash val="solid"/>
          </a:ln>
        </p:spPr>
      </p:sp>
      <p:sp>
        <p:nvSpPr>
          <p:cNvPr id="32" name="Text 30"/>
          <p:cNvSpPr txBox="1"/>
          <p:nvPr/>
        </p:nvSpPr>
        <p:spPr>
          <a:xfrm>
            <a:off x="932688" y="4754880"/>
            <a:ext cx="3108960" cy="274320"/>
          </a:xfrm>
          <a:prstGeom prst="rect">
            <a:avLst/>
          </a:prstGeom>
          <a:noFill/>
          <a:ln/>
        </p:spPr>
        <p:txBody>
          <a:bodyPr wrap="square" lIns="0" tIns="0" rIns="0" bIns="0" rtlCol="0" anchor="t"/>
          <a:lstStyle/>
          <a:p>
            <a:pPr indent="0" marL="0">
              <a:buNone/>
            </a:pPr>
            <a:r>
              <a:rPr lang="en-US" sz="1300" b="1" dirty="0">
                <a:solidFill>
                  <a:schemeClr val="tx1"/>
                </a:solidFill>
              </a:rPr>
              <a:t>Meal excursion history</a:t>
            </a:r>
            <a:endParaRPr lang="en-US" sz="1300" dirty="0"/>
          </a:p>
        </p:txBody>
      </p:sp>
      <p:sp>
        <p:nvSpPr>
          <p:cNvPr id="33" name="Chip sensor wear"/>
          <p:cNvSpPr/>
          <p:nvPr/>
        </p:nvSpPr>
        <p:spPr>
          <a:xfrm>
            <a:off x="5234940" y="4773168"/>
            <a:ext cx="1028700" cy="237744"/>
          </a:xfrm>
          <a:prstGeom prst="roundRect">
            <a:avLst>
              <a:gd name="adj" fmla="val 50000"/>
            </a:avLst>
          </a:prstGeom>
          <a:solidFill>
            <a:srgbClr val="EEEDF5"/>
          </a:solidFill>
          <a:ln w="6350">
            <a:solidFill>
              <a:srgbClr val="C9C8D6"/>
            </a:solidFill>
            <a:prstDash val="solid"/>
          </a:ln>
        </p:spPr>
      </p:sp>
      <p:sp>
        <p:nvSpPr>
          <p:cNvPr id="34" name="Text 32"/>
          <p:cNvSpPr txBox="1"/>
          <p:nvPr/>
        </p:nvSpPr>
        <p:spPr>
          <a:xfrm>
            <a:off x="5234940" y="4773168"/>
            <a:ext cx="1028700" cy="237744"/>
          </a:xfrm>
          <a:prstGeom prst="rect">
            <a:avLst/>
          </a:prstGeom>
          <a:noFill/>
          <a:ln/>
        </p:spPr>
        <p:txBody>
          <a:bodyPr wrap="square" lIns="0" tIns="0" rIns="0" bIns="0" rtlCol="0" anchor="ctr"/>
          <a:lstStyle/>
          <a:p>
            <a:pPr algn="ctr" indent="0" marL="0">
              <a:buNone/>
            </a:pPr>
            <a:r>
              <a:rPr lang="en-US" sz="1000" dirty="0">
                <a:solidFill>
                  <a:schemeClr val="tx2"/>
                </a:solidFill>
              </a:rPr>
              <a:t>sensor wear</a:t>
            </a:r>
            <a:endParaRPr lang="en-US" sz="1000" dirty="0"/>
          </a:p>
        </p:txBody>
      </p:sp>
      <p:sp>
        <p:nvSpPr>
          <p:cNvPr id="35" name="Text 33"/>
          <p:cNvSpPr txBox="1"/>
          <p:nvPr/>
        </p:nvSpPr>
        <p:spPr>
          <a:xfrm>
            <a:off x="932688" y="5102352"/>
            <a:ext cx="1554480" cy="201168"/>
          </a:xfrm>
          <a:prstGeom prst="rect">
            <a:avLst/>
          </a:prstGeom>
          <a:noFill/>
          <a:ln/>
        </p:spPr>
        <p:txBody>
          <a:bodyPr wrap="square" lIns="0" tIns="0" rIns="0" bIns="0" rtlCol="0" anchor="t"/>
          <a:lstStyle/>
          <a:p>
            <a:pPr indent="0" marL="0">
              <a:buNone/>
            </a:pPr>
            <a:r>
              <a:rPr lang="en-US" sz="1100" dirty="0">
                <a:solidFill>
                  <a:schemeClr val="tx2"/>
                </a:solidFill>
              </a:rPr>
              <a:t>Breakfast 5 of 5</a:t>
            </a:r>
            <a:endParaRPr lang="en-US" sz="1100" dirty="0"/>
          </a:p>
        </p:txBody>
      </p:sp>
      <p:sp>
        <p:nvSpPr>
          <p:cNvPr id="36" name="Track"/>
          <p:cNvSpPr/>
          <p:nvPr/>
        </p:nvSpPr>
        <p:spPr>
          <a:xfrm>
            <a:off x="2560320" y="5148072"/>
            <a:ext cx="3017520" cy="109728"/>
          </a:xfrm>
          <a:prstGeom prst="roundRect">
            <a:avLst>
              <a:gd name="adj" fmla="val 50000"/>
            </a:avLst>
          </a:prstGeom>
          <a:solidFill>
            <a:srgbClr val="EEEDF5"/>
          </a:solidFill>
          <a:ln w="12700">
            <a:solidFill>
              <a:srgbClr val="EEEDF5"/>
            </a:solidFill>
            <a:prstDash val="solid"/>
          </a:ln>
        </p:spPr>
      </p:sp>
      <p:sp>
        <p:nvSpPr>
          <p:cNvPr id="37" name="Rate breakfast"/>
          <p:cNvSpPr/>
          <p:nvPr/>
        </p:nvSpPr>
        <p:spPr>
          <a:xfrm>
            <a:off x="2560320" y="5148072"/>
            <a:ext cx="3017520" cy="109728"/>
          </a:xfrm>
          <a:prstGeom prst="roundRect">
            <a:avLst>
              <a:gd name="adj" fmla="val 50000"/>
            </a:avLst>
          </a:prstGeom>
          <a:solidFill>
            <a:schemeClr val="accent5"/>
          </a:solidFill>
          <a:ln w="12700">
            <a:solidFill>
              <a:schemeClr val="accent5"/>
            </a:solidFill>
            <a:prstDash val="solid"/>
          </a:ln>
        </p:spPr>
      </p:sp>
      <p:sp>
        <p:nvSpPr>
          <p:cNvPr id="38" name="Text 36"/>
          <p:cNvSpPr txBox="1"/>
          <p:nvPr/>
        </p:nvSpPr>
        <p:spPr>
          <a:xfrm>
            <a:off x="5623560" y="5102352"/>
            <a:ext cx="594360" cy="201168"/>
          </a:xfrm>
          <a:prstGeom prst="rect">
            <a:avLst/>
          </a:prstGeom>
          <a:noFill/>
          <a:ln/>
        </p:spPr>
        <p:txBody>
          <a:bodyPr wrap="square" lIns="0" tIns="0" rIns="0" bIns="0" rtlCol="0" anchor="t"/>
          <a:lstStyle/>
          <a:p>
            <a:pPr algn="r" indent="0" marL="0">
              <a:buNone/>
            </a:pPr>
            <a:r>
              <a:rPr lang="en-US" sz="1100" dirty="0">
                <a:solidFill>
                  <a:srgbClr val="6B6A80"/>
                </a:solidFill>
              </a:rPr>
              <a:t>100 %</a:t>
            </a:r>
            <a:endParaRPr lang="en-US" sz="1100" dirty="0"/>
          </a:p>
        </p:txBody>
      </p:sp>
      <p:sp>
        <p:nvSpPr>
          <p:cNvPr id="39" name="Text 37"/>
          <p:cNvSpPr txBox="1"/>
          <p:nvPr/>
        </p:nvSpPr>
        <p:spPr>
          <a:xfrm>
            <a:off x="932688" y="5308092"/>
            <a:ext cx="1554480" cy="201168"/>
          </a:xfrm>
          <a:prstGeom prst="rect">
            <a:avLst/>
          </a:prstGeom>
          <a:noFill/>
          <a:ln/>
        </p:spPr>
        <p:txBody>
          <a:bodyPr wrap="square" lIns="0" tIns="0" rIns="0" bIns="0" rtlCol="0" anchor="t"/>
          <a:lstStyle/>
          <a:p>
            <a:pPr indent="0" marL="0">
              <a:buNone/>
            </a:pPr>
            <a:r>
              <a:rPr lang="en-US" sz="1100" dirty="0">
                <a:solidFill>
                  <a:schemeClr val="tx2"/>
                </a:solidFill>
              </a:rPr>
              <a:t>Lunch 5 of 5</a:t>
            </a:r>
            <a:endParaRPr lang="en-US" sz="1100" dirty="0"/>
          </a:p>
        </p:txBody>
      </p:sp>
      <p:sp>
        <p:nvSpPr>
          <p:cNvPr id="40" name="Track"/>
          <p:cNvSpPr/>
          <p:nvPr/>
        </p:nvSpPr>
        <p:spPr>
          <a:xfrm>
            <a:off x="2560320" y="5353812"/>
            <a:ext cx="3017520" cy="109728"/>
          </a:xfrm>
          <a:prstGeom prst="roundRect">
            <a:avLst>
              <a:gd name="adj" fmla="val 50000"/>
            </a:avLst>
          </a:prstGeom>
          <a:solidFill>
            <a:srgbClr val="EEEDF5"/>
          </a:solidFill>
          <a:ln w="12700">
            <a:solidFill>
              <a:srgbClr val="EEEDF5"/>
            </a:solidFill>
            <a:prstDash val="solid"/>
          </a:ln>
        </p:spPr>
      </p:sp>
      <p:sp>
        <p:nvSpPr>
          <p:cNvPr id="41" name="Rate lunch"/>
          <p:cNvSpPr/>
          <p:nvPr/>
        </p:nvSpPr>
        <p:spPr>
          <a:xfrm>
            <a:off x="2560320" y="5353812"/>
            <a:ext cx="3017520" cy="109728"/>
          </a:xfrm>
          <a:prstGeom prst="roundRect">
            <a:avLst>
              <a:gd name="adj" fmla="val 50000"/>
            </a:avLst>
          </a:prstGeom>
          <a:solidFill>
            <a:schemeClr val="accent5"/>
          </a:solidFill>
          <a:ln w="12700">
            <a:solidFill>
              <a:schemeClr val="accent5"/>
            </a:solidFill>
            <a:prstDash val="solid"/>
          </a:ln>
        </p:spPr>
      </p:sp>
      <p:sp>
        <p:nvSpPr>
          <p:cNvPr id="42" name="Text 40"/>
          <p:cNvSpPr txBox="1"/>
          <p:nvPr/>
        </p:nvSpPr>
        <p:spPr>
          <a:xfrm>
            <a:off x="5623560" y="5308092"/>
            <a:ext cx="594360" cy="201168"/>
          </a:xfrm>
          <a:prstGeom prst="rect">
            <a:avLst/>
          </a:prstGeom>
          <a:noFill/>
          <a:ln/>
        </p:spPr>
        <p:txBody>
          <a:bodyPr wrap="square" lIns="0" tIns="0" rIns="0" bIns="0" rtlCol="0" anchor="t"/>
          <a:lstStyle/>
          <a:p>
            <a:pPr algn="r" indent="0" marL="0">
              <a:buNone/>
            </a:pPr>
            <a:r>
              <a:rPr lang="en-US" sz="1100" dirty="0">
                <a:solidFill>
                  <a:srgbClr val="6B6A80"/>
                </a:solidFill>
              </a:rPr>
              <a:t>100 %</a:t>
            </a:r>
            <a:endParaRPr lang="en-US" sz="1100" dirty="0"/>
          </a:p>
        </p:txBody>
      </p:sp>
      <p:sp>
        <p:nvSpPr>
          <p:cNvPr id="43" name="Text 41"/>
          <p:cNvSpPr txBox="1"/>
          <p:nvPr/>
        </p:nvSpPr>
        <p:spPr>
          <a:xfrm>
            <a:off x="932688" y="5513832"/>
            <a:ext cx="1554480" cy="201168"/>
          </a:xfrm>
          <a:prstGeom prst="rect">
            <a:avLst/>
          </a:prstGeom>
          <a:noFill/>
          <a:ln/>
        </p:spPr>
        <p:txBody>
          <a:bodyPr wrap="square" lIns="0" tIns="0" rIns="0" bIns="0" rtlCol="0" anchor="t"/>
          <a:lstStyle/>
          <a:p>
            <a:pPr indent="0" marL="0">
              <a:buNone/>
            </a:pPr>
            <a:r>
              <a:rPr lang="en-US" sz="1100" dirty="0">
                <a:solidFill>
                  <a:schemeClr val="tx2"/>
                </a:solidFill>
              </a:rPr>
              <a:t>Dinner 5 of 5</a:t>
            </a:r>
            <a:endParaRPr lang="en-US" sz="1100" dirty="0"/>
          </a:p>
        </p:txBody>
      </p:sp>
      <p:sp>
        <p:nvSpPr>
          <p:cNvPr id="44" name="Track"/>
          <p:cNvSpPr/>
          <p:nvPr/>
        </p:nvSpPr>
        <p:spPr>
          <a:xfrm>
            <a:off x="2560320" y="5559552"/>
            <a:ext cx="3017520" cy="109728"/>
          </a:xfrm>
          <a:prstGeom prst="roundRect">
            <a:avLst>
              <a:gd name="adj" fmla="val 50000"/>
            </a:avLst>
          </a:prstGeom>
          <a:solidFill>
            <a:srgbClr val="EEEDF5"/>
          </a:solidFill>
          <a:ln w="12700">
            <a:solidFill>
              <a:srgbClr val="EEEDF5"/>
            </a:solidFill>
            <a:prstDash val="solid"/>
          </a:ln>
        </p:spPr>
      </p:sp>
      <p:sp>
        <p:nvSpPr>
          <p:cNvPr id="45" name="Rate dinner"/>
          <p:cNvSpPr/>
          <p:nvPr/>
        </p:nvSpPr>
        <p:spPr>
          <a:xfrm>
            <a:off x="2560320" y="5559552"/>
            <a:ext cx="3017520" cy="109728"/>
          </a:xfrm>
          <a:prstGeom prst="roundRect">
            <a:avLst>
              <a:gd name="adj" fmla="val 50000"/>
            </a:avLst>
          </a:prstGeom>
          <a:solidFill>
            <a:schemeClr val="accent5"/>
          </a:solidFill>
          <a:ln w="12700">
            <a:solidFill>
              <a:schemeClr val="accent5"/>
            </a:solidFill>
            <a:prstDash val="solid"/>
          </a:ln>
        </p:spPr>
      </p:sp>
      <p:sp>
        <p:nvSpPr>
          <p:cNvPr id="46" name="Text 44"/>
          <p:cNvSpPr txBox="1"/>
          <p:nvPr/>
        </p:nvSpPr>
        <p:spPr>
          <a:xfrm>
            <a:off x="5623560" y="5513832"/>
            <a:ext cx="594360" cy="201168"/>
          </a:xfrm>
          <a:prstGeom prst="rect">
            <a:avLst/>
          </a:prstGeom>
          <a:noFill/>
          <a:ln/>
        </p:spPr>
        <p:txBody>
          <a:bodyPr wrap="square" lIns="0" tIns="0" rIns="0" bIns="0" rtlCol="0" anchor="t"/>
          <a:lstStyle/>
          <a:p>
            <a:pPr algn="r" indent="0" marL="0">
              <a:buNone/>
            </a:pPr>
            <a:r>
              <a:rPr lang="en-US" sz="1100" dirty="0">
                <a:solidFill>
                  <a:srgbClr val="6B6A80"/>
                </a:solidFill>
              </a:rPr>
              <a:t>100 %</a:t>
            </a:r>
            <a:endParaRPr lang="en-US" sz="1100" dirty="0"/>
          </a:p>
        </p:txBody>
      </p:sp>
      <p:sp>
        <p:nvSpPr>
          <p:cNvPr id="47" name="Text 45"/>
          <p:cNvSpPr txBox="1"/>
          <p:nvPr/>
        </p:nvSpPr>
        <p:spPr>
          <a:xfrm>
            <a:off x="932688" y="5719572"/>
            <a:ext cx="1554480" cy="201168"/>
          </a:xfrm>
          <a:prstGeom prst="rect">
            <a:avLst/>
          </a:prstGeom>
          <a:noFill/>
          <a:ln/>
        </p:spPr>
        <p:txBody>
          <a:bodyPr wrap="square" lIns="0" tIns="0" rIns="0" bIns="0" rtlCol="0" anchor="t"/>
          <a:lstStyle/>
          <a:p>
            <a:pPr indent="0" marL="0">
              <a:buNone/>
            </a:pPr>
            <a:r>
              <a:rPr lang="en-US" sz="1100" dirty="0">
                <a:solidFill>
                  <a:schemeClr val="tx2"/>
                </a:solidFill>
              </a:rPr>
              <a:t>Snack 3 of 5</a:t>
            </a:r>
            <a:endParaRPr lang="en-US" sz="1100" dirty="0"/>
          </a:p>
        </p:txBody>
      </p:sp>
      <p:sp>
        <p:nvSpPr>
          <p:cNvPr id="48" name="Track"/>
          <p:cNvSpPr/>
          <p:nvPr/>
        </p:nvSpPr>
        <p:spPr>
          <a:xfrm>
            <a:off x="2560320" y="5765292"/>
            <a:ext cx="3017520" cy="109728"/>
          </a:xfrm>
          <a:prstGeom prst="roundRect">
            <a:avLst>
              <a:gd name="adj" fmla="val 50000"/>
            </a:avLst>
          </a:prstGeom>
          <a:solidFill>
            <a:srgbClr val="EEEDF5"/>
          </a:solidFill>
          <a:ln w="12700">
            <a:solidFill>
              <a:srgbClr val="EEEDF5"/>
            </a:solidFill>
            <a:prstDash val="solid"/>
          </a:ln>
        </p:spPr>
      </p:sp>
      <p:sp>
        <p:nvSpPr>
          <p:cNvPr id="49" name="Rate snack"/>
          <p:cNvSpPr/>
          <p:nvPr/>
        </p:nvSpPr>
        <p:spPr>
          <a:xfrm>
            <a:off x="2560320" y="5765292"/>
            <a:ext cx="1810512" cy="109728"/>
          </a:xfrm>
          <a:prstGeom prst="roundRect">
            <a:avLst>
              <a:gd name="adj" fmla="val 50000"/>
            </a:avLst>
          </a:prstGeom>
          <a:solidFill>
            <a:srgbClr val="E0720F"/>
          </a:solidFill>
          <a:ln w="12700">
            <a:solidFill>
              <a:srgbClr val="E0720F"/>
            </a:solidFill>
            <a:prstDash val="solid"/>
          </a:ln>
        </p:spPr>
      </p:sp>
      <p:sp>
        <p:nvSpPr>
          <p:cNvPr id="50" name="Text 48"/>
          <p:cNvSpPr txBox="1"/>
          <p:nvPr/>
        </p:nvSpPr>
        <p:spPr>
          <a:xfrm>
            <a:off x="5623560" y="5719572"/>
            <a:ext cx="594360" cy="201168"/>
          </a:xfrm>
          <a:prstGeom prst="rect">
            <a:avLst/>
          </a:prstGeom>
          <a:noFill/>
          <a:ln/>
        </p:spPr>
        <p:txBody>
          <a:bodyPr wrap="square" lIns="0" tIns="0" rIns="0" bIns="0" rtlCol="0" anchor="t"/>
          <a:lstStyle/>
          <a:p>
            <a:pPr algn="r" indent="0" marL="0">
              <a:buNone/>
            </a:pPr>
            <a:r>
              <a:rPr lang="en-US" sz="1100" dirty="0">
                <a:solidFill>
                  <a:srgbClr val="6B6A80"/>
                </a:solidFill>
              </a:rPr>
              <a:t>60 %</a:t>
            </a:r>
            <a:endParaRPr lang="en-US" sz="1100" dirty="0"/>
          </a:p>
        </p:txBody>
      </p:sp>
      <p:sp>
        <p:nvSpPr>
          <p:cNvPr id="51" name="Callout rule"/>
          <p:cNvSpPr/>
          <p:nvPr/>
        </p:nvSpPr>
        <p:spPr>
          <a:xfrm>
            <a:off x="6858000" y="1600200"/>
            <a:ext cx="82296" cy="1097280"/>
          </a:xfrm>
          <a:prstGeom prst="rect">
            <a:avLst/>
          </a:prstGeom>
          <a:solidFill>
            <a:schemeClr val="tx2"/>
          </a:solidFill>
          <a:ln w="12700">
            <a:solidFill>
              <a:schemeClr val="tx2"/>
            </a:solidFill>
            <a:prstDash val="solid"/>
          </a:ln>
        </p:spPr>
      </p:sp>
      <p:sp>
        <p:nvSpPr>
          <p:cNvPr id="52" name="Text 50"/>
          <p:cNvSpPr txBox="1"/>
          <p:nvPr/>
        </p:nvSpPr>
        <p:spPr>
          <a:xfrm>
            <a:off x="7132320" y="1572768"/>
            <a:ext cx="4480560" cy="310896"/>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From the health record</a:t>
            </a:r>
            <a:endParaRPr lang="en-US" sz="1700" dirty="0"/>
          </a:p>
        </p:txBody>
      </p:sp>
      <p:sp>
        <p:nvSpPr>
          <p:cNvPr id="53" name="Text 51"/>
          <p:cNvSpPr txBox="1"/>
          <p:nvPr/>
        </p:nvSpPr>
        <p:spPr>
          <a:xfrm>
            <a:off x="7132320" y="1938528"/>
            <a:ext cx="4480560" cy="822960"/>
          </a:xfrm>
          <a:prstGeom prst="rect">
            <a:avLst/>
          </a:prstGeom>
          <a:noFill/>
          <a:ln/>
        </p:spPr>
        <p:txBody>
          <a:bodyPr wrap="square" lIns="0" tIns="0" rIns="0" bIns="0" rtlCol="0" anchor="t"/>
          <a:lstStyle/>
          <a:p>
            <a:pPr indent="0" marL="0">
              <a:buNone/>
            </a:pPr>
            <a:r>
              <a:rPr lang="en-US" sz="1500" dirty="0">
                <a:solidFill>
                  <a:schemeClr val="tx2"/>
                </a:solidFill>
              </a:rPr>
              <a:t>The record sets the twin’s prior. With sensor data, the sensor dominates.</a:t>
            </a:r>
            <a:endParaRPr lang="en-US" sz="1500" dirty="0"/>
          </a:p>
        </p:txBody>
      </p:sp>
      <p:sp>
        <p:nvSpPr>
          <p:cNvPr id="54" name="Callout rule"/>
          <p:cNvSpPr/>
          <p:nvPr/>
        </p:nvSpPr>
        <p:spPr>
          <a:xfrm>
            <a:off x="6858000" y="2971800"/>
            <a:ext cx="82296" cy="1097280"/>
          </a:xfrm>
          <a:prstGeom prst="rect">
            <a:avLst/>
          </a:prstGeom>
          <a:solidFill>
            <a:schemeClr val="accent2"/>
          </a:solidFill>
          <a:ln w="12700">
            <a:solidFill>
              <a:schemeClr val="accent2"/>
            </a:solidFill>
            <a:prstDash val="solid"/>
          </a:ln>
        </p:spPr>
      </p:sp>
      <p:sp>
        <p:nvSpPr>
          <p:cNvPr id="55" name="Text 53"/>
          <p:cNvSpPr txBox="1"/>
          <p:nvPr/>
        </p:nvSpPr>
        <p:spPr>
          <a:xfrm>
            <a:off x="7132320" y="2944368"/>
            <a:ext cx="4480560" cy="310896"/>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Meal excursion history</a:t>
            </a:r>
            <a:endParaRPr lang="en-US" sz="1700" dirty="0"/>
          </a:p>
        </p:txBody>
      </p:sp>
      <p:sp>
        <p:nvSpPr>
          <p:cNvPr id="56" name="Text 54"/>
          <p:cNvSpPr txBox="1"/>
          <p:nvPr/>
        </p:nvSpPr>
        <p:spPr>
          <a:xfrm>
            <a:off x="7132320" y="3310128"/>
            <a:ext cx="4480560" cy="822960"/>
          </a:xfrm>
          <a:prstGeom prst="rect">
            <a:avLst/>
          </a:prstGeom>
          <a:noFill/>
          <a:ln/>
        </p:spPr>
        <p:txBody>
          <a:bodyPr wrap="square" lIns="0" tIns="0" rIns="0" bIns="0" rtlCol="0" anchor="t"/>
          <a:lstStyle/>
          <a:p>
            <a:pPr indent="0" marL="0">
              <a:buNone/>
            </a:pPr>
            <a:r>
              <a:rPr lang="en-US" sz="1500" dirty="0">
                <a:solidFill>
                  <a:schemeClr val="tx2"/>
                </a:solidFill>
              </a:rPr>
              <a:t>How often each meal type was followed by a reading above 180 mg/dL within two hours during the wear. A description, not a forecast.</a:t>
            </a:r>
            <a:endParaRPr lang="en-US" sz="1500" dirty="0"/>
          </a:p>
        </p:txBody>
      </p:sp>
      <p:sp>
        <p:nvSpPr>
          <p:cNvPr id="57" name="Callout rule"/>
          <p:cNvSpPr/>
          <p:nvPr/>
        </p:nvSpPr>
        <p:spPr>
          <a:xfrm>
            <a:off x="6858000" y="4343400"/>
            <a:ext cx="82296" cy="1097280"/>
          </a:xfrm>
          <a:prstGeom prst="rect">
            <a:avLst/>
          </a:prstGeom>
          <a:solidFill>
            <a:schemeClr val="accent1"/>
          </a:solidFill>
          <a:ln w="12700">
            <a:solidFill>
              <a:schemeClr val="accent1"/>
            </a:solidFill>
            <a:prstDash val="solid"/>
          </a:ln>
        </p:spPr>
      </p:sp>
      <p:sp>
        <p:nvSpPr>
          <p:cNvPr id="58" name="Text 56"/>
          <p:cNvSpPr txBox="1"/>
          <p:nvPr/>
        </p:nvSpPr>
        <p:spPr>
          <a:xfrm>
            <a:off x="7132320" y="4315968"/>
            <a:ext cx="4480560" cy="310896"/>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Reveal</a:t>
            </a:r>
            <a:endParaRPr lang="en-US" sz="1700" dirty="0"/>
          </a:p>
        </p:txBody>
      </p:sp>
      <p:sp>
        <p:nvSpPr>
          <p:cNvPr id="59" name="Text 57"/>
          <p:cNvSpPr txBox="1"/>
          <p:nvPr/>
        </p:nvSpPr>
        <p:spPr>
          <a:xfrm>
            <a:off x="7132320" y="4681728"/>
            <a:ext cx="4480560" cy="822960"/>
          </a:xfrm>
          <a:prstGeom prst="rect">
            <a:avLst/>
          </a:prstGeom>
          <a:noFill/>
          <a:ln/>
        </p:spPr>
        <p:txBody>
          <a:bodyPr wrap="square" lIns="0" tIns="0" rIns="0" bIns="0" rtlCol="0" anchor="t"/>
          <a:lstStyle/>
          <a:p>
            <a:pPr indent="0" marL="0">
              <a:buNone/>
            </a:pPr>
            <a:r>
              <a:rPr lang="en-US" sz="1500" dirty="0">
                <a:solidFill>
                  <a:schemeClr val="tx2"/>
                </a:solidFill>
              </a:rPr>
              <a:t>Hide the sensor, estimate, then slide the real trace over the shadow and see where it was right and where it missed.</a:t>
            </a:r>
            <a:endParaRPr lang="en-US" sz="1500" dirty="0"/>
          </a:p>
        </p:txBody>
      </p:sp>
      <p:sp>
        <p:nvSpPr>
          <p:cNvPr id="60" name="Live demo chip"/>
          <p:cNvSpPr/>
          <p:nvPr/>
        </p:nvSpPr>
        <p:spPr>
          <a:xfrm>
            <a:off x="6858000" y="5742432"/>
            <a:ext cx="4782312" cy="502920"/>
          </a:xfrm>
          <a:prstGeom prst="roundRect">
            <a:avLst>
              <a:gd name="adj" fmla="val 14545"/>
            </a:avLst>
          </a:prstGeom>
          <a:solidFill>
            <a:schemeClr val="accent1"/>
          </a:solidFill>
          <a:ln w="12700">
            <a:solidFill>
              <a:schemeClr val="accent1"/>
            </a:solidFill>
            <a:prstDash val="solid"/>
          </a:ln>
        </p:spPr>
      </p:sp>
      <p:sp>
        <p:nvSpPr>
          <p:cNvPr id="61" name="Text 59">
            <a:hlinkClick r:id="rId1" tooltip=""/>
          </p:cNvPr>
          <p:cNvSpPr txBox="1"/>
          <p:nvPr/>
        </p:nvSpPr>
        <p:spPr>
          <a:xfrm>
            <a:off x="6858000" y="5742432"/>
            <a:ext cx="4782312" cy="502920"/>
          </a:xfrm>
          <a:prstGeom prst="rect">
            <a:avLst/>
          </a:prstGeom>
          <a:noFill/>
          <a:ln/>
        </p:spPr>
        <p:txBody>
          <a:bodyPr wrap="square" lIns="0" tIns="0" rIns="0" bIns="0" rtlCol="0" anchor="ctr"/>
          <a:lstStyle/>
          <a:p>
            <a:pPr algn="ctr" indent="0" marL="0">
              <a:buNone/>
            </a:pPr>
            <a:r>
              <a:rPr lang="en-US" sz="1500" b="1" u="sng" dirty="0">
                <a:solidFill>
                  <a:schemeClr val="bg1"/>
                </a:solidFill>
                <a:hlinkClick r:id="rId1" invalidUrl="" action="" tgtFrame="" tooltip="" history="1" highlightClick="0" endSnd="0">
                  <a:extLst>
                    <a:ext uri="{A12FA001-AC4F-418D-AE19-62706E023703}">
                      <ahyp:hlinkClr xmlns:ahyp="http://schemas.microsoft.com/office/drawing/2018/hyperlinkcolor" val="tx"/>
                    </a:ext>
                  </a:extLst>
                </a:hlinkClick>
              </a:rPr>
              <a:t>Try it: chhaya-digital-twin.vercel.app</a:t>
            </a:r>
            <a:endParaRPr lang="en-US" sz="1500" dirty="0"/>
          </a:p>
        </p:txBody>
      </p:sp>
      <p:sp>
        <p:nvSpPr>
          <p:cNvPr id="25" name="Slide Number Placeholder 0"/>
          <p:cNvSpPr>
            <a:spLocks noGrp="1"/>
          </p:cNvSpPr>
          <p:nvPr>
            <p:ph type="sldNum" sz="quarter" idx="4294967295"/>
          </p:nvPr>
        </p:nvSpPr>
        <p:spPr>
          <a:xfrm>
            <a:off x="10972800" y="6437376"/>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6A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200" b="1" dirty="0">
                <a:solidFill>
                  <a:schemeClr val="tx1"/>
                </a:solidFill>
              </a:rPr>
              <a:t>With the sensor on, the spike is predictable; with it off, more streams do not help</a:t>
            </a:r>
            <a:endParaRPr lang="en-US" sz="3200" dirty="0"/>
          </a:p>
        </p:txBody>
      </p:sp>
      <p:graphicFrame>
        <p:nvGraphicFramePr>
          <p:cNvPr id="3" name="Chart 0" descr=""/>
          <p:cNvGraphicFramePr/>
          <p:nvPr/>
        </p:nvGraphicFramePr>
        <p:xfrm>
          <a:off x="548640" y="1481328"/>
          <a:ext cx="6858000" cy="4069080"/>
        </p:xfrm>
        <a:graphic xmlns:a="http://schemas.openxmlformats.org/drawingml/2006/main">
          <a:graphicData uri="http://schemas.openxmlformats.org/drawingml/2006/chart">
            <c:chart xmlns:c="http://schemas.openxmlformats.org/drawingml/2006/chart" r:id="rId1"/>
          </a:graphicData>
        </a:graphic>
      </p:graphicFrame>
      <p:sp>
        <p:nvSpPr>
          <p:cNvPr id="4" name="Result card 1"/>
          <p:cNvSpPr/>
          <p:nvPr/>
        </p:nvSpPr>
        <p:spPr>
          <a:xfrm>
            <a:off x="7818120" y="1572768"/>
            <a:ext cx="3822192" cy="1005840"/>
          </a:xfrm>
          <a:prstGeom prst="rect">
            <a:avLst/>
          </a:prstGeom>
          <a:solidFill>
            <a:schemeClr val="bg2"/>
          </a:solidFill>
          <a:ln w="12700">
            <a:solidFill>
              <a:schemeClr val="bg2"/>
            </a:solidFill>
            <a:prstDash val="solid"/>
          </a:ln>
        </p:spPr>
      </p:sp>
      <p:sp>
        <p:nvSpPr>
          <p:cNvPr id="5" name="Text 2"/>
          <p:cNvSpPr txBox="1"/>
          <p:nvPr/>
        </p:nvSpPr>
        <p:spPr>
          <a:xfrm>
            <a:off x="8028432" y="1664208"/>
            <a:ext cx="3474720" cy="50292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0.82 · 0.76</a:t>
            </a:r>
            <a:endParaRPr lang="en-US" sz="3000" dirty="0"/>
          </a:p>
        </p:txBody>
      </p:sp>
      <p:sp>
        <p:nvSpPr>
          <p:cNvPr id="6" name="Text 3"/>
          <p:cNvSpPr txBox="1"/>
          <p:nvPr/>
        </p:nvSpPr>
        <p:spPr>
          <a:xfrm>
            <a:off x="8028432" y="2176272"/>
            <a:ext cx="3474720" cy="365760"/>
          </a:xfrm>
          <a:prstGeom prst="rect">
            <a:avLst/>
          </a:prstGeom>
          <a:noFill/>
          <a:ln/>
        </p:spPr>
        <p:txBody>
          <a:bodyPr wrap="square" lIns="0" tIns="0" rIns="0" bIns="0" rtlCol="0" anchor="t"/>
          <a:lstStyle/>
          <a:p>
            <a:pPr indent="0" marL="0">
              <a:buNone/>
            </a:pPr>
            <a:r>
              <a:rPr lang="en-US" sz="1300" dirty="0">
                <a:solidFill>
                  <a:schemeClr val="tx2"/>
                </a:solidFill>
              </a:rPr>
              <a:t>AUROC · AUPRC with a live sensor</a:t>
            </a:r>
            <a:endParaRPr lang="en-US" sz="1300" dirty="0"/>
          </a:p>
        </p:txBody>
      </p:sp>
      <p:sp>
        <p:nvSpPr>
          <p:cNvPr id="7" name="Result card 2"/>
          <p:cNvSpPr/>
          <p:nvPr/>
        </p:nvSpPr>
        <p:spPr>
          <a:xfrm>
            <a:off x="7818120" y="2743200"/>
            <a:ext cx="3822192" cy="1005840"/>
          </a:xfrm>
          <a:prstGeom prst="rect">
            <a:avLst/>
          </a:prstGeom>
          <a:solidFill>
            <a:schemeClr val="bg2"/>
          </a:solidFill>
          <a:ln w="12700">
            <a:solidFill>
              <a:schemeClr val="bg2"/>
            </a:solidFill>
            <a:prstDash val="solid"/>
          </a:ln>
        </p:spPr>
      </p:sp>
      <p:sp>
        <p:nvSpPr>
          <p:cNvPr id="8" name="Text 5"/>
          <p:cNvSpPr txBox="1"/>
          <p:nvPr/>
        </p:nvSpPr>
        <p:spPr>
          <a:xfrm>
            <a:off x="8028432" y="2834640"/>
            <a:ext cx="3474720" cy="502920"/>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0.71 · 0.60</a:t>
            </a:r>
            <a:endParaRPr lang="en-US" sz="3000" dirty="0"/>
          </a:p>
        </p:txBody>
      </p:sp>
      <p:sp>
        <p:nvSpPr>
          <p:cNvPr id="9" name="Text 6"/>
          <p:cNvSpPr txBox="1"/>
          <p:nvPr/>
        </p:nvSpPr>
        <p:spPr>
          <a:xfrm>
            <a:off x="8028432" y="3346704"/>
            <a:ext cx="3474720" cy="365760"/>
          </a:xfrm>
          <a:prstGeom prst="rect">
            <a:avLst/>
          </a:prstGeom>
          <a:noFill/>
          <a:ln/>
        </p:spPr>
        <p:txBody>
          <a:bodyPr wrap="square" lIns="0" tIns="0" rIns="0" bIns="0" rtlCol="0" anchor="t"/>
          <a:lstStyle/>
          <a:p>
            <a:pPr indent="0" marL="0">
              <a:buNone/>
            </a:pPr>
            <a:r>
              <a:rPr lang="en-US" sz="1300" dirty="0">
                <a:solidFill>
                  <a:schemeClr val="tx2"/>
                </a:solidFill>
              </a:rPr>
              <a:t>AUROC · AUPRC, fused, sensor off</a:t>
            </a:r>
            <a:endParaRPr lang="en-US" sz="1300" dirty="0"/>
          </a:p>
        </p:txBody>
      </p:sp>
      <p:sp>
        <p:nvSpPr>
          <p:cNvPr id="10" name="Result card 3"/>
          <p:cNvSpPr/>
          <p:nvPr/>
        </p:nvSpPr>
        <p:spPr>
          <a:xfrm>
            <a:off x="7818120" y="3913632"/>
            <a:ext cx="3822192" cy="1005840"/>
          </a:xfrm>
          <a:prstGeom prst="rect">
            <a:avLst/>
          </a:prstGeom>
          <a:solidFill>
            <a:schemeClr val="bg2"/>
          </a:solidFill>
          <a:ln w="12700">
            <a:solidFill>
              <a:schemeClr val="bg2"/>
            </a:solidFill>
            <a:prstDash val="solid"/>
          </a:ln>
        </p:spPr>
      </p:sp>
      <p:sp>
        <p:nvSpPr>
          <p:cNvPr id="11" name="Text 8"/>
          <p:cNvSpPr txBox="1"/>
          <p:nvPr/>
        </p:nvSpPr>
        <p:spPr>
          <a:xfrm>
            <a:off x="8028432" y="4005072"/>
            <a:ext cx="3474720" cy="502920"/>
          </a:xfrm>
          <a:prstGeom prst="rect">
            <a:avLst/>
          </a:prstGeom>
          <a:noFill/>
          <a:ln/>
        </p:spPr>
        <p:txBody>
          <a:bodyPr wrap="square" lIns="0" tIns="0" rIns="0" bIns="0" rtlCol="0" anchor="t"/>
          <a:lstStyle/>
          <a:p>
            <a:pPr indent="0" marL="0">
              <a:buNone/>
            </a:pPr>
            <a:r>
              <a:rPr lang="en-US" sz="3000" b="1" dirty="0">
                <a:solidFill>
                  <a:schemeClr val="accent5"/>
                </a:solidFill>
                <a:latin typeface="Cambria" pitchFamily="34" charset="0"/>
                <a:ea typeface="Cambria" pitchFamily="34" charset="-122"/>
                <a:cs typeface="Cambria" pitchFamily="34" charset="-120"/>
              </a:rPr>
              <a:t>8.9</a:t>
            </a:r>
            <a:endParaRPr lang="en-US" sz="3000" dirty="0"/>
          </a:p>
        </p:txBody>
      </p:sp>
      <p:sp>
        <p:nvSpPr>
          <p:cNvPr id="12" name="Text 9"/>
          <p:cNvSpPr txBox="1"/>
          <p:nvPr/>
        </p:nvSpPr>
        <p:spPr>
          <a:xfrm>
            <a:off x="8028432" y="4517136"/>
            <a:ext cx="3474720" cy="365760"/>
          </a:xfrm>
          <a:prstGeom prst="rect">
            <a:avLst/>
          </a:prstGeom>
          <a:noFill/>
          <a:ln/>
        </p:spPr>
        <p:txBody>
          <a:bodyPr wrap="square" lIns="0" tIns="0" rIns="0" bIns="0" rtlCol="0" anchor="t"/>
          <a:lstStyle/>
          <a:p>
            <a:pPr indent="0" marL="0">
              <a:buNone/>
            </a:pPr>
            <a:r>
              <a:rPr lang="en-US" sz="1300" dirty="0">
                <a:solidFill>
                  <a:schemeClr val="tx2"/>
                </a:solidFill>
              </a:rPr>
              <a:t>false alerts per patient-week, so no alert is shown</a:t>
            </a:r>
            <a:endParaRPr lang="en-US" sz="1300" dirty="0"/>
          </a:p>
        </p:txBody>
      </p:sp>
      <p:sp>
        <p:nvSpPr>
          <p:cNvPr id="13" name="Text 10"/>
          <p:cNvSpPr txBox="1"/>
          <p:nvPr/>
        </p:nvSpPr>
        <p:spPr>
          <a:xfrm>
            <a:off x="7818120" y="5102352"/>
            <a:ext cx="3822192" cy="868680"/>
          </a:xfrm>
          <a:prstGeom prst="rect">
            <a:avLst/>
          </a:prstGeom>
          <a:noFill/>
          <a:ln/>
        </p:spPr>
        <p:txBody>
          <a:bodyPr wrap="square" lIns="0" tIns="0" rIns="0" bIns="0" rtlCol="0" anchor="t"/>
          <a:lstStyle/>
          <a:p>
            <a:pPr indent="0" marL="0">
              <a:buNone/>
            </a:pPr>
            <a:r>
              <a:rPr lang="en-US" sz="1300" dirty="0">
                <a:solidFill>
                  <a:schemeClr val="tx1"/>
                </a:solidFill>
              </a:rPr>
              <a:t>Four other fusion strategies (equal-weight, stacked, recalibrated, stronger regularisation) were tried on development patients: none beat a single stream.</a:t>
            </a:r>
            <a:endParaRPr lang="en-US" sz="1300" dirty="0"/>
          </a:p>
        </p:txBody>
      </p:sp>
      <p:sp>
        <p:nvSpPr>
          <p:cNvPr id="14" name="Text 11"/>
          <p:cNvSpPr txBox="1"/>
          <p:nvPr/>
        </p:nvSpPr>
        <p:spPr>
          <a:xfrm>
            <a:off x="548640" y="5760720"/>
            <a:ext cx="6858000" cy="566928"/>
          </a:xfrm>
          <a:prstGeom prst="rect">
            <a:avLst/>
          </a:prstGeom>
          <a:noFill/>
          <a:ln/>
        </p:spPr>
        <p:txBody>
          <a:bodyPr wrap="square" lIns="0" tIns="0" rIns="0" bIns="0" rtlCol="0" anchor="t"/>
          <a:lstStyle/>
          <a:p>
            <a:pPr indent="0" marL="0">
              <a:buNone/>
            </a:pPr>
            <a:r>
              <a:rPr lang="en-US" sz="1050" dirty="0">
                <a:solidFill>
                  <a:srgbClr val="6B6A80"/>
                </a:solidFill>
              </a:rPr>
              <a:t>47 held-out ShanghaiT2DM patients, 1,205 meals, 39 % followed by an excursion. Event: two consecutive readings above 180 mg/dL within 2 hours of a meal start. Exploratory fusion benchmark: 1,436 meals, 49 development patients, patient-grouped cross-validation.</a:t>
            </a:r>
            <a:endParaRPr lang="en-US" sz="1050" dirty="0"/>
          </a:p>
        </p:txBody>
      </p:sp>
      <p:sp>
        <p:nvSpPr>
          <p:cNvPr id="25" name="Slide Number Placeholder 0"/>
          <p:cNvSpPr>
            <a:spLocks noGrp="1"/>
          </p:cNvSpPr>
          <p:nvPr>
            <p:ph type="sldNum" sz="quarter" idx="4294967295"/>
          </p:nvPr>
        </p:nvSpPr>
        <p:spPr>
          <a:xfrm>
            <a:off x="10972800" y="6437376"/>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6A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200" b="1" dirty="0">
                <a:solidFill>
                  <a:schemeClr val="tx1"/>
                </a:solidFill>
              </a:rPr>
              <a:t>Every claim crossed a gate: bars written first, scored once on unseen patients</a:t>
            </a:r>
            <a:endParaRPr lang="en-US" sz="3200" dirty="0"/>
          </a:p>
        </p:txBody>
      </p:sp>
      <p:sp>
        <p:nvSpPr>
          <p:cNvPr id="3" name="Bar passed 1"/>
          <p:cNvSpPr/>
          <p:nvPr/>
        </p:nvSpPr>
        <p:spPr>
          <a:xfrm>
            <a:off x="548640" y="1627632"/>
            <a:ext cx="365760" cy="365760"/>
          </a:xfrm>
          <a:prstGeom prst="rect">
            <a:avLst/>
          </a:prstGeom>
          <a:solidFill>
            <a:schemeClr val="accent4"/>
          </a:solidFill>
          <a:ln w="12700">
            <a:solidFill>
              <a:schemeClr val="accent4"/>
            </a:solidFill>
            <a:prstDash val="solid"/>
          </a:ln>
        </p:spPr>
      </p:sp>
      <p:sp>
        <p:nvSpPr>
          <p:cNvPr id="4" name="Bar passed 2"/>
          <p:cNvSpPr/>
          <p:nvPr/>
        </p:nvSpPr>
        <p:spPr>
          <a:xfrm>
            <a:off x="1005840" y="1627632"/>
            <a:ext cx="365760" cy="365760"/>
          </a:xfrm>
          <a:prstGeom prst="rect">
            <a:avLst/>
          </a:prstGeom>
          <a:solidFill>
            <a:schemeClr val="accent4"/>
          </a:solidFill>
          <a:ln w="12700">
            <a:solidFill>
              <a:schemeClr val="accent4"/>
            </a:solidFill>
            <a:prstDash val="solid"/>
          </a:ln>
        </p:spPr>
      </p:sp>
      <p:sp>
        <p:nvSpPr>
          <p:cNvPr id="5" name="Bar passed 3"/>
          <p:cNvSpPr/>
          <p:nvPr/>
        </p:nvSpPr>
        <p:spPr>
          <a:xfrm>
            <a:off x="1463040" y="1627632"/>
            <a:ext cx="365760" cy="365760"/>
          </a:xfrm>
          <a:prstGeom prst="rect">
            <a:avLst/>
          </a:prstGeom>
          <a:solidFill>
            <a:schemeClr val="accent4"/>
          </a:solidFill>
          <a:ln w="12700">
            <a:solidFill>
              <a:schemeClr val="accent4"/>
            </a:solidFill>
            <a:prstDash val="solid"/>
          </a:ln>
        </p:spPr>
      </p:sp>
      <p:sp>
        <p:nvSpPr>
          <p:cNvPr id="6" name="Bar passed 4"/>
          <p:cNvSpPr/>
          <p:nvPr/>
        </p:nvSpPr>
        <p:spPr>
          <a:xfrm>
            <a:off x="1920240" y="1627632"/>
            <a:ext cx="365760" cy="365760"/>
          </a:xfrm>
          <a:prstGeom prst="rect">
            <a:avLst/>
          </a:prstGeom>
          <a:solidFill>
            <a:schemeClr val="accent4"/>
          </a:solidFill>
          <a:ln w="12700">
            <a:solidFill>
              <a:schemeClr val="accent4"/>
            </a:solidFill>
            <a:prstDash val="solid"/>
          </a:ln>
        </p:spPr>
      </p:sp>
      <p:sp>
        <p:nvSpPr>
          <p:cNvPr id="7" name="Bar passed 5"/>
          <p:cNvSpPr/>
          <p:nvPr/>
        </p:nvSpPr>
        <p:spPr>
          <a:xfrm>
            <a:off x="2377440" y="1627632"/>
            <a:ext cx="365760" cy="365760"/>
          </a:xfrm>
          <a:prstGeom prst="rect">
            <a:avLst/>
          </a:prstGeom>
          <a:solidFill>
            <a:schemeClr val="accent4"/>
          </a:solidFill>
          <a:ln w="12700">
            <a:solidFill>
              <a:schemeClr val="accent4"/>
            </a:solidFill>
            <a:prstDash val="solid"/>
          </a:ln>
        </p:spPr>
      </p:sp>
      <p:sp>
        <p:nvSpPr>
          <p:cNvPr id="8" name="Bar missed 1"/>
          <p:cNvSpPr/>
          <p:nvPr/>
        </p:nvSpPr>
        <p:spPr>
          <a:xfrm>
            <a:off x="2834640" y="1627632"/>
            <a:ext cx="365760" cy="365760"/>
          </a:xfrm>
          <a:prstGeom prst="rect">
            <a:avLst/>
          </a:prstGeom>
          <a:solidFill>
            <a:schemeClr val="bg1"/>
          </a:solidFill>
          <a:ln w="22225">
            <a:solidFill>
              <a:schemeClr val="accent5"/>
            </a:solidFill>
            <a:prstDash val="solid"/>
          </a:ln>
        </p:spPr>
      </p:sp>
      <p:sp>
        <p:nvSpPr>
          <p:cNvPr id="9" name="Bar missed 2"/>
          <p:cNvSpPr/>
          <p:nvPr/>
        </p:nvSpPr>
        <p:spPr>
          <a:xfrm>
            <a:off x="3291840" y="1627632"/>
            <a:ext cx="365760" cy="365760"/>
          </a:xfrm>
          <a:prstGeom prst="rect">
            <a:avLst/>
          </a:prstGeom>
          <a:solidFill>
            <a:schemeClr val="bg1"/>
          </a:solidFill>
          <a:ln w="22225">
            <a:solidFill>
              <a:schemeClr val="accent5"/>
            </a:solidFill>
            <a:prstDash val="solid"/>
          </a:ln>
        </p:spPr>
      </p:sp>
      <p:sp>
        <p:nvSpPr>
          <p:cNvPr id="10" name="Bar missed 3"/>
          <p:cNvSpPr/>
          <p:nvPr/>
        </p:nvSpPr>
        <p:spPr>
          <a:xfrm>
            <a:off x="3749040" y="1627632"/>
            <a:ext cx="365760" cy="365760"/>
          </a:xfrm>
          <a:prstGeom prst="rect">
            <a:avLst/>
          </a:prstGeom>
          <a:solidFill>
            <a:schemeClr val="bg1"/>
          </a:solidFill>
          <a:ln w="22225">
            <a:solidFill>
              <a:schemeClr val="accent5"/>
            </a:solidFill>
            <a:prstDash val="solid"/>
          </a:ln>
        </p:spPr>
      </p:sp>
      <p:sp>
        <p:nvSpPr>
          <p:cNvPr id="11" name="Bar missed 4"/>
          <p:cNvSpPr/>
          <p:nvPr/>
        </p:nvSpPr>
        <p:spPr>
          <a:xfrm>
            <a:off x="4206240" y="1627632"/>
            <a:ext cx="365760" cy="365760"/>
          </a:xfrm>
          <a:prstGeom prst="rect">
            <a:avLst/>
          </a:prstGeom>
          <a:solidFill>
            <a:schemeClr val="bg1"/>
          </a:solidFill>
          <a:ln w="22225">
            <a:solidFill>
              <a:schemeClr val="accent5"/>
            </a:solidFill>
            <a:prstDash val="solid"/>
          </a:ln>
        </p:spPr>
      </p:sp>
      <p:sp>
        <p:nvSpPr>
          <p:cNvPr id="12" name="Text 10"/>
          <p:cNvSpPr txBox="1"/>
          <p:nvPr/>
        </p:nvSpPr>
        <p:spPr>
          <a:xfrm>
            <a:off x="548640" y="2139696"/>
            <a:ext cx="4114800" cy="365760"/>
          </a:xfrm>
          <a:prstGeom prst="rect">
            <a:avLst/>
          </a:prstGeom>
          <a:noFill/>
          <a:ln/>
        </p:spPr>
        <p:txBody>
          <a:bodyPr wrap="square" lIns="0" tIns="0" rIns="0" bIns="0" rtlCol="0" anchor="t"/>
          <a:lstStyle/>
          <a:p>
            <a:pPr indent="0" marL="0">
              <a:buNone/>
            </a:pPr>
            <a:r>
              <a:rPr lang="en-US" sz="1700" b="1" dirty="0">
                <a:solidFill>
                  <a:schemeClr val="tx1"/>
                </a:solidFill>
              </a:rPr>
              <a:t>5 passed · 4 missed · all nine published</a:t>
            </a:r>
            <a:endParaRPr lang="en-US" sz="1700" dirty="0"/>
          </a:p>
        </p:txBody>
      </p:sp>
      <p:sp>
        <p:nvSpPr>
          <p:cNvPr id="13" name="Text 11"/>
          <p:cNvSpPr txBox="1"/>
          <p:nvPr/>
        </p:nvSpPr>
        <p:spPr>
          <a:xfrm>
            <a:off x="548640" y="2743200"/>
            <a:ext cx="4160520" cy="685800"/>
          </a:xfrm>
          <a:prstGeom prst="rect">
            <a:avLst/>
          </a:prstGeom>
          <a:noFill/>
          <a:ln/>
        </p:spPr>
        <p:txBody>
          <a:bodyPr wrap="square" lIns="0" tIns="0" rIns="0" bIns="0" rtlCol="0" anchor="t"/>
          <a:lstStyle/>
          <a:p>
            <a:pPr indent="0" marL="0">
              <a:buNone/>
            </a:pPr>
            <a:r>
              <a:rPr lang="en-US" sz="1400" dirty="0">
                <a:solidFill>
                  <a:schemeClr val="tx2"/>
                </a:solidFill>
              </a:rPr>
              <a:t>Half of every cohort tunes the model; the other half is scored once.</a:t>
            </a:r>
            <a:endParaRPr lang="en-US" sz="1400" dirty="0"/>
          </a:p>
        </p:txBody>
      </p:sp>
      <p:sp>
        <p:nvSpPr>
          <p:cNvPr id="14" name="Text 12"/>
          <p:cNvSpPr txBox="1"/>
          <p:nvPr/>
        </p:nvSpPr>
        <p:spPr>
          <a:xfrm>
            <a:off x="548640" y="3493008"/>
            <a:ext cx="4160520" cy="685800"/>
          </a:xfrm>
          <a:prstGeom prst="rect">
            <a:avLst/>
          </a:prstGeom>
          <a:noFill/>
          <a:ln/>
        </p:spPr>
        <p:txBody>
          <a:bodyPr wrap="square" lIns="0" tIns="0" rIns="0" bIns="0" rtlCol="0" anchor="t"/>
          <a:lstStyle/>
          <a:p>
            <a:pPr indent="0" marL="0">
              <a:buNone/>
            </a:pPr>
            <a:r>
              <a:rPr lang="en-US" sz="1400" dirty="0">
                <a:solidFill>
                  <a:schemeClr val="tx2"/>
                </a:solidFill>
              </a:rPr>
              <a:t>The confirmatory command needs --confirm and refuses a second run.</a:t>
            </a:r>
            <a:endParaRPr lang="en-US" sz="1400" dirty="0"/>
          </a:p>
        </p:txBody>
      </p:sp>
      <p:sp>
        <p:nvSpPr>
          <p:cNvPr id="15" name="Text 13"/>
          <p:cNvSpPr txBox="1"/>
          <p:nvPr/>
        </p:nvSpPr>
        <p:spPr>
          <a:xfrm>
            <a:off x="548640" y="4242816"/>
            <a:ext cx="4160520" cy="685800"/>
          </a:xfrm>
          <a:prstGeom prst="rect">
            <a:avLst/>
          </a:prstGeom>
          <a:noFill/>
          <a:ln/>
        </p:spPr>
        <p:txBody>
          <a:bodyPr wrap="square" lIns="0" tIns="0" rIns="0" bIns="0" rtlCol="0" anchor="t"/>
          <a:lstStyle/>
          <a:p>
            <a:pPr indent="0" marL="0">
              <a:buNone/>
            </a:pPr>
            <a:r>
              <a:rPr lang="en-US" sz="1400" dirty="0">
                <a:solidFill>
                  <a:schemeClr val="tx2"/>
                </a:solidFill>
              </a:rPr>
              <a:t>95 % intervals come from a bootstrap over patients (2,000 resamples).</a:t>
            </a:r>
            <a:endParaRPr lang="en-US" sz="1400" dirty="0"/>
          </a:p>
        </p:txBody>
      </p:sp>
      <p:sp>
        <p:nvSpPr>
          <p:cNvPr id="16" name="Text 14"/>
          <p:cNvSpPr txBox="1"/>
          <p:nvPr/>
        </p:nvSpPr>
        <p:spPr>
          <a:xfrm>
            <a:off x="548640" y="4992624"/>
            <a:ext cx="4160520" cy="685800"/>
          </a:xfrm>
          <a:prstGeom prst="rect">
            <a:avLst/>
          </a:prstGeom>
          <a:noFill/>
          <a:ln/>
        </p:spPr>
        <p:txBody>
          <a:bodyPr wrap="square" lIns="0" tIns="0" rIns="0" bIns="0" rtlCol="0" anchor="t"/>
          <a:lstStyle/>
          <a:p>
            <a:pPr indent="0" marL="0">
              <a:buNone/>
            </a:pPr>
            <a:r>
              <a:rPr lang="en-US" sz="1400" dirty="0">
                <a:solidFill>
                  <a:schemeClr val="tx2"/>
                </a:solidFill>
              </a:rPr>
              <a:t>Every claim on the Evidence screen is tested word for word against a decision record.</a:t>
            </a:r>
            <a:endParaRPr lang="en-US" sz="1400" dirty="0"/>
          </a:p>
        </p:txBody>
      </p:sp>
      <p:sp>
        <p:nvSpPr>
          <p:cNvPr id="17" name="Gate slab"/>
          <p:cNvSpPr/>
          <p:nvPr/>
        </p:nvSpPr>
        <p:spPr>
          <a:xfrm>
            <a:off x="9326880" y="1481328"/>
            <a:ext cx="182880" cy="4535424"/>
          </a:xfrm>
          <a:prstGeom prst="rect">
            <a:avLst/>
          </a:prstGeom>
          <a:solidFill>
            <a:schemeClr val="tx1"/>
          </a:solidFill>
          <a:ln w="12700">
            <a:solidFill>
              <a:schemeClr val="tx1"/>
            </a:solidFill>
            <a:prstDash val="solid"/>
          </a:ln>
        </p:spPr>
      </p:sp>
      <p:sp>
        <p:nvSpPr>
          <p:cNvPr id="18" name="Passed claim 1"/>
          <p:cNvSpPr/>
          <p:nvPr/>
        </p:nvSpPr>
        <p:spPr>
          <a:xfrm>
            <a:off x="5166360" y="1572768"/>
            <a:ext cx="6473952" cy="713232"/>
          </a:xfrm>
          <a:prstGeom prst="roundRect">
            <a:avLst>
              <a:gd name="adj" fmla="val 6410"/>
            </a:avLst>
          </a:prstGeom>
          <a:solidFill>
            <a:schemeClr val="bg1"/>
          </a:solidFill>
          <a:ln w="19050">
            <a:solidFill>
              <a:schemeClr val="accent4"/>
            </a:solidFill>
            <a:prstDash val="solid"/>
          </a:ln>
        </p:spPr>
      </p:sp>
      <p:sp>
        <p:nvSpPr>
          <p:cNvPr id="19" name="Text 17"/>
          <p:cNvSpPr txBox="1"/>
          <p:nvPr/>
        </p:nvSpPr>
        <p:spPr>
          <a:xfrm>
            <a:off x="5330952" y="1572768"/>
            <a:ext cx="3794760" cy="713232"/>
          </a:xfrm>
          <a:prstGeom prst="rect">
            <a:avLst/>
          </a:prstGeom>
          <a:noFill/>
          <a:ln/>
        </p:spPr>
        <p:txBody>
          <a:bodyPr wrap="square" lIns="0" tIns="0" rIns="0" bIns="0" rtlCol="0" anchor="ctr"/>
          <a:lstStyle/>
          <a:p>
            <a:pPr indent="0" marL="0">
              <a:buNone/>
            </a:pPr>
            <a:r>
              <a:rPr lang="en-US" sz="1500" b="1" dirty="0">
                <a:solidFill>
                  <a:schemeClr val="tx1"/>
                </a:solidFill>
              </a:rPr>
              <a:t>Shadow: closer than the average day</a:t>
            </a:r>
            <a:endParaRPr lang="en-US" sz="1500" dirty="0"/>
          </a:p>
        </p:txBody>
      </p:sp>
      <p:sp>
        <p:nvSpPr>
          <p:cNvPr id="20" name="Text 18"/>
          <p:cNvSpPr txBox="1"/>
          <p:nvPr/>
        </p:nvSpPr>
        <p:spPr>
          <a:xfrm>
            <a:off x="9646920" y="1572768"/>
            <a:ext cx="1901952" cy="713232"/>
          </a:xfrm>
          <a:prstGeom prst="rect">
            <a:avLst/>
          </a:prstGeom>
          <a:noFill/>
          <a:ln/>
        </p:spPr>
        <p:txBody>
          <a:bodyPr wrap="square" lIns="0" tIns="0" rIns="0" bIns="0" rtlCol="0" anchor="ctr"/>
          <a:lstStyle/>
          <a:p>
            <a:pPr indent="0" marL="0">
              <a:buNone/>
            </a:pPr>
            <a:r>
              <a:rPr lang="en-US" sz="1100" b="1" dirty="0">
                <a:solidFill>
                  <a:schemeClr val="accent4"/>
                </a:solidFill>
              </a:rPr>
              <a:t>PASSED</a:t>
            </a:r>
            <a:endParaRPr lang="en-US" sz="1400" dirty="0"/>
          </a:p>
          <a:p>
            <a:pPr indent="0" marL="0">
              <a:buNone/>
            </a:pPr>
            <a:r>
              <a:rPr lang="en-US" sz="1400" dirty="0">
                <a:solidFill>
                  <a:schemeClr val="tx2"/>
                </a:solidFill>
              </a:rPr>
              <a:t>1.4 mg/dL, small</a:t>
            </a:r>
            <a:endParaRPr lang="en-US" sz="1400" dirty="0"/>
          </a:p>
        </p:txBody>
      </p:sp>
      <p:sp>
        <p:nvSpPr>
          <p:cNvPr id="21" name="Passed claim 2"/>
          <p:cNvSpPr/>
          <p:nvPr/>
        </p:nvSpPr>
        <p:spPr>
          <a:xfrm>
            <a:off x="5166360" y="2377440"/>
            <a:ext cx="6473952" cy="713232"/>
          </a:xfrm>
          <a:prstGeom prst="roundRect">
            <a:avLst>
              <a:gd name="adj" fmla="val 6410"/>
            </a:avLst>
          </a:prstGeom>
          <a:solidFill>
            <a:schemeClr val="bg1"/>
          </a:solidFill>
          <a:ln w="19050">
            <a:solidFill>
              <a:schemeClr val="accent4"/>
            </a:solidFill>
            <a:prstDash val="solid"/>
          </a:ln>
        </p:spPr>
      </p:sp>
      <p:sp>
        <p:nvSpPr>
          <p:cNvPr id="22" name="Text 20"/>
          <p:cNvSpPr txBox="1"/>
          <p:nvPr/>
        </p:nvSpPr>
        <p:spPr>
          <a:xfrm>
            <a:off x="5330952" y="2377440"/>
            <a:ext cx="3794760" cy="713232"/>
          </a:xfrm>
          <a:prstGeom prst="rect">
            <a:avLst/>
          </a:prstGeom>
          <a:noFill/>
          <a:ln/>
        </p:spPr>
        <p:txBody>
          <a:bodyPr wrap="square" lIns="0" tIns="0" rIns="0" bIns="0" rtlCol="0" anchor="ctr"/>
          <a:lstStyle/>
          <a:p>
            <a:pPr indent="0" marL="0">
              <a:buNone/>
            </a:pPr>
            <a:r>
              <a:rPr lang="en-US" sz="1500" b="1" dirty="0">
                <a:solidFill>
                  <a:schemeClr val="tx1"/>
                </a:solidFill>
              </a:rPr>
              <a:t>Fingersticks keep the report truer</a:t>
            </a:r>
            <a:endParaRPr lang="en-US" sz="1500" dirty="0"/>
          </a:p>
        </p:txBody>
      </p:sp>
      <p:sp>
        <p:nvSpPr>
          <p:cNvPr id="23" name="Text 21"/>
          <p:cNvSpPr txBox="1"/>
          <p:nvPr/>
        </p:nvSpPr>
        <p:spPr>
          <a:xfrm>
            <a:off x="9646920" y="2377440"/>
            <a:ext cx="1901952" cy="713232"/>
          </a:xfrm>
          <a:prstGeom prst="rect">
            <a:avLst/>
          </a:prstGeom>
          <a:noFill/>
          <a:ln/>
        </p:spPr>
        <p:txBody>
          <a:bodyPr wrap="square" lIns="0" tIns="0" rIns="0" bIns="0" rtlCol="0" anchor="ctr"/>
          <a:lstStyle/>
          <a:p>
            <a:pPr indent="0" marL="0">
              <a:buNone/>
            </a:pPr>
            <a:r>
              <a:rPr lang="en-US" sz="1100" b="1" dirty="0">
                <a:solidFill>
                  <a:schemeClr val="accent4"/>
                </a:solidFill>
              </a:rPr>
              <a:t>PASSED</a:t>
            </a:r>
            <a:endParaRPr lang="en-US" sz="1400" dirty="0"/>
          </a:p>
          <a:p>
            <a:pPr indent="0" marL="0">
              <a:buNone/>
            </a:pPr>
            <a:r>
              <a:rPr lang="en-US" sz="1400" dirty="0">
                <a:solidFill>
                  <a:schemeClr val="tx2"/>
                </a:solidFill>
              </a:rPr>
              <a:t>at about six a day</a:t>
            </a:r>
            <a:endParaRPr lang="en-US" sz="1400" dirty="0"/>
          </a:p>
        </p:txBody>
      </p:sp>
      <p:sp>
        <p:nvSpPr>
          <p:cNvPr id="24" name="Passed claim 3"/>
          <p:cNvSpPr/>
          <p:nvPr/>
        </p:nvSpPr>
        <p:spPr>
          <a:xfrm>
            <a:off x="5166360" y="3182112"/>
            <a:ext cx="6473952" cy="713232"/>
          </a:xfrm>
          <a:prstGeom prst="roundRect">
            <a:avLst>
              <a:gd name="adj" fmla="val 6410"/>
            </a:avLst>
          </a:prstGeom>
          <a:solidFill>
            <a:schemeClr val="bg1"/>
          </a:solidFill>
          <a:ln w="19050">
            <a:solidFill>
              <a:schemeClr val="tx2"/>
            </a:solidFill>
            <a:prstDash val="solid"/>
          </a:ln>
        </p:spPr>
      </p:sp>
      <p:sp>
        <p:nvSpPr>
          <p:cNvPr id="25" name="Text 23"/>
          <p:cNvSpPr txBox="1"/>
          <p:nvPr/>
        </p:nvSpPr>
        <p:spPr>
          <a:xfrm>
            <a:off x="5330952" y="3182112"/>
            <a:ext cx="3794760" cy="713232"/>
          </a:xfrm>
          <a:prstGeom prst="rect">
            <a:avLst/>
          </a:prstGeom>
          <a:noFill/>
          <a:ln/>
        </p:spPr>
        <p:txBody>
          <a:bodyPr wrap="square" lIns="0" tIns="0" rIns="0" bIns="0" rtlCol="0" anchor="ctr"/>
          <a:lstStyle/>
          <a:p>
            <a:pPr indent="0" marL="0">
              <a:buNone/>
            </a:pPr>
            <a:r>
              <a:rPr lang="en-US" sz="1500" b="1" dirty="0">
                <a:solidFill>
                  <a:schemeClr val="tx1"/>
                </a:solidFill>
              </a:rPr>
              <a:t>Prompt flags a stale report</a:t>
            </a:r>
            <a:endParaRPr lang="en-US" sz="1500" dirty="0"/>
          </a:p>
        </p:txBody>
      </p:sp>
      <p:sp>
        <p:nvSpPr>
          <p:cNvPr id="26" name="Text 24"/>
          <p:cNvSpPr txBox="1"/>
          <p:nvPr/>
        </p:nvSpPr>
        <p:spPr>
          <a:xfrm>
            <a:off x="9646920" y="3182112"/>
            <a:ext cx="1901952" cy="713232"/>
          </a:xfrm>
          <a:prstGeom prst="rect">
            <a:avLst/>
          </a:prstGeom>
          <a:noFill/>
          <a:ln/>
        </p:spPr>
        <p:txBody>
          <a:bodyPr wrap="square" lIns="0" tIns="0" rIns="0" bIns="0" rtlCol="0" anchor="ctr"/>
          <a:lstStyle/>
          <a:p>
            <a:pPr indent="0" marL="0">
              <a:buNone/>
            </a:pPr>
            <a:r>
              <a:rPr lang="en-US" sz="1100" b="1" dirty="0">
                <a:solidFill>
                  <a:schemeClr val="tx2"/>
                </a:solidFill>
              </a:rPr>
              <a:t>DESCRIPTIVE</a:t>
            </a:r>
            <a:endParaRPr lang="en-US" sz="1400" dirty="0"/>
          </a:p>
          <a:p>
            <a:pPr indent="0" marL="0">
              <a:buNone/>
            </a:pPr>
            <a:r>
              <a:rPr lang="en-US" sz="1400" dirty="0">
                <a:solidFill>
                  <a:schemeClr val="tx2"/>
                </a:solidFill>
              </a:rPr>
              <a:t>AUROC 0.82</a:t>
            </a:r>
            <a:endParaRPr lang="en-US" sz="1400" dirty="0"/>
          </a:p>
        </p:txBody>
      </p:sp>
      <p:sp>
        <p:nvSpPr>
          <p:cNvPr id="27" name="Blocked claim 4"/>
          <p:cNvSpPr/>
          <p:nvPr/>
        </p:nvSpPr>
        <p:spPr>
          <a:xfrm>
            <a:off x="5166360" y="3986784"/>
            <a:ext cx="4050792" cy="841248"/>
          </a:xfrm>
          <a:prstGeom prst="roundRect">
            <a:avLst>
              <a:gd name="adj" fmla="val 5435"/>
            </a:avLst>
          </a:prstGeom>
          <a:solidFill>
            <a:schemeClr val="bg1"/>
          </a:solidFill>
          <a:ln w="15875">
            <a:solidFill>
              <a:schemeClr val="accent5"/>
            </a:solidFill>
            <a:prstDash val="dash"/>
          </a:ln>
        </p:spPr>
      </p:sp>
      <p:sp>
        <p:nvSpPr>
          <p:cNvPr id="28" name="Text 26"/>
          <p:cNvSpPr txBox="1"/>
          <p:nvPr/>
        </p:nvSpPr>
        <p:spPr>
          <a:xfrm>
            <a:off x="5303520" y="3986784"/>
            <a:ext cx="3794760" cy="841248"/>
          </a:xfrm>
          <a:prstGeom prst="rect">
            <a:avLst/>
          </a:prstGeom>
          <a:noFill/>
          <a:ln/>
        </p:spPr>
        <p:txBody>
          <a:bodyPr wrap="square" lIns="0" tIns="0" rIns="0" bIns="0" rtlCol="0" anchor="ctr"/>
          <a:lstStyle/>
          <a:p>
            <a:pPr indent="0" marL="0">
              <a:buNone/>
            </a:pPr>
            <a:r>
              <a:rPr lang="en-US" sz="1400" b="1" dirty="0">
                <a:solidFill>
                  <a:schemeClr val="tx1"/>
                </a:solidFill>
              </a:rPr>
              <a:t>Record improves the estimate</a:t>
            </a:r>
            <a:endParaRPr lang="en-US" sz="1400" dirty="0"/>
          </a:p>
          <a:p>
            <a:pPr indent="0" marL="0">
              <a:buNone/>
            </a:pPr>
            <a:r>
              <a:rPr lang="en-US" sz="1100" b="1" dirty="0">
                <a:solidFill>
                  <a:schemeClr val="accent5"/>
                </a:solidFill>
              </a:rPr>
              <a:t>MISSED  </a:t>
            </a:r>
            <a:pPr indent="0" marL="0">
              <a:buNone/>
            </a:pPr>
            <a:r>
              <a:rPr lang="en-US" sz="1400" dirty="0">
                <a:solidFill>
                  <a:schemeClr val="accent5"/>
                </a:solidFill>
              </a:rPr>
              <a:t>no detectable gain</a:t>
            </a:r>
            <a:endParaRPr lang="en-US" sz="1400" dirty="0"/>
          </a:p>
        </p:txBody>
      </p:sp>
      <p:sp>
        <p:nvSpPr>
          <p:cNvPr id="29" name="Text 27"/>
          <p:cNvSpPr txBox="1"/>
          <p:nvPr/>
        </p:nvSpPr>
        <p:spPr>
          <a:xfrm>
            <a:off x="9326880" y="4224528"/>
            <a:ext cx="182880" cy="36576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30" name="Text 28"/>
          <p:cNvSpPr txBox="1"/>
          <p:nvPr/>
        </p:nvSpPr>
        <p:spPr>
          <a:xfrm>
            <a:off x="9646920" y="3986784"/>
            <a:ext cx="1947672" cy="841248"/>
          </a:xfrm>
          <a:prstGeom prst="rect">
            <a:avLst/>
          </a:prstGeom>
          <a:noFill/>
          <a:ln/>
        </p:spPr>
        <p:txBody>
          <a:bodyPr wrap="square" lIns="0" tIns="0" rIns="0" bIns="0" rtlCol="0" anchor="ctr"/>
          <a:lstStyle/>
          <a:p>
            <a:pPr indent="0" marL="0">
              <a:buNone/>
            </a:pPr>
            <a:r>
              <a:rPr lang="en-US" sz="1200" dirty="0">
                <a:solidFill>
                  <a:srgbClr val="6B6A80"/>
                </a:solidFill>
              </a:rPr>
              <a:t>stopped at the gate</a:t>
            </a:r>
            <a:endParaRPr lang="en-US" sz="1200" dirty="0"/>
          </a:p>
        </p:txBody>
      </p:sp>
      <p:sp>
        <p:nvSpPr>
          <p:cNvPr id="31" name="Blocked claim 5"/>
          <p:cNvSpPr/>
          <p:nvPr/>
        </p:nvSpPr>
        <p:spPr>
          <a:xfrm>
            <a:off x="5166360" y="4919472"/>
            <a:ext cx="4050792" cy="914400"/>
          </a:xfrm>
          <a:prstGeom prst="roundRect">
            <a:avLst>
              <a:gd name="adj" fmla="val 5000"/>
            </a:avLst>
          </a:prstGeom>
          <a:solidFill>
            <a:schemeClr val="bg1"/>
          </a:solidFill>
          <a:ln w="15875">
            <a:solidFill>
              <a:schemeClr val="accent5"/>
            </a:solidFill>
            <a:prstDash val="dash"/>
          </a:ln>
        </p:spPr>
      </p:sp>
      <p:sp>
        <p:nvSpPr>
          <p:cNvPr id="32" name="Text 30"/>
          <p:cNvSpPr txBox="1"/>
          <p:nvPr/>
        </p:nvSpPr>
        <p:spPr>
          <a:xfrm>
            <a:off x="5303520" y="4919472"/>
            <a:ext cx="3794760" cy="914400"/>
          </a:xfrm>
          <a:prstGeom prst="rect">
            <a:avLst/>
          </a:prstGeom>
          <a:noFill/>
          <a:ln/>
        </p:spPr>
        <p:txBody>
          <a:bodyPr wrap="square" lIns="0" tIns="0" rIns="0" bIns="0" rtlCol="0" anchor="ctr"/>
          <a:lstStyle/>
          <a:p>
            <a:pPr indent="0" marL="0">
              <a:buNone/>
            </a:pPr>
            <a:r>
              <a:rPr lang="en-US" sz="1400" b="1" dirty="0">
                <a:solidFill>
                  <a:schemeClr val="tx1"/>
                </a:solidFill>
              </a:rPr>
              <a:t>A fused-model alert is usable</a:t>
            </a:r>
            <a:endParaRPr lang="en-US" sz="1400" dirty="0"/>
          </a:p>
          <a:p>
            <a:pPr indent="0" marL="0">
              <a:buNone/>
            </a:pPr>
            <a:r>
              <a:rPr lang="en-US" sz="1100" b="1" dirty="0">
                <a:solidFill>
                  <a:schemeClr val="accent5"/>
                </a:solidFill>
              </a:rPr>
              <a:t>MISSED  </a:t>
            </a:r>
            <a:pPr indent="0" marL="0">
              <a:buNone/>
            </a:pPr>
            <a:r>
              <a:rPr lang="en-US" sz="1400" dirty="0">
                <a:solidFill>
                  <a:schemeClr val="accent5"/>
                </a:solidFill>
              </a:rPr>
              <a:t>slope 0.48; 8.9 false alerts per patient-week</a:t>
            </a:r>
            <a:endParaRPr lang="en-US" sz="1400" dirty="0"/>
          </a:p>
        </p:txBody>
      </p:sp>
      <p:sp>
        <p:nvSpPr>
          <p:cNvPr id="33" name="Text 31"/>
          <p:cNvSpPr txBox="1"/>
          <p:nvPr/>
        </p:nvSpPr>
        <p:spPr>
          <a:xfrm>
            <a:off x="9326880" y="5193792"/>
            <a:ext cx="182880" cy="365760"/>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34" name="Text 32"/>
          <p:cNvSpPr txBox="1"/>
          <p:nvPr/>
        </p:nvSpPr>
        <p:spPr>
          <a:xfrm>
            <a:off x="9646920" y="4919472"/>
            <a:ext cx="1947672" cy="914400"/>
          </a:xfrm>
          <a:prstGeom prst="rect">
            <a:avLst/>
          </a:prstGeom>
          <a:noFill/>
          <a:ln/>
        </p:spPr>
        <p:txBody>
          <a:bodyPr wrap="square" lIns="0" tIns="0" rIns="0" bIns="0" rtlCol="0" anchor="ctr"/>
          <a:lstStyle/>
          <a:p>
            <a:pPr indent="0" marL="0">
              <a:buNone/>
            </a:pPr>
            <a:r>
              <a:rPr lang="en-US" sz="1200" dirty="0">
                <a:solidFill>
                  <a:srgbClr val="6B6A80"/>
                </a:solidFill>
              </a:rPr>
              <a:t>stopped at the gate</a:t>
            </a:r>
            <a:endParaRPr lang="en-US" sz="1200" dirty="0"/>
          </a:p>
        </p:txBody>
      </p:sp>
      <p:sp>
        <p:nvSpPr>
          <p:cNvPr id="35" name="Text 33"/>
          <p:cNvSpPr txBox="1"/>
          <p:nvPr/>
        </p:nvSpPr>
        <p:spPr>
          <a:xfrm>
            <a:off x="5166360" y="5943600"/>
            <a:ext cx="6473952" cy="640080"/>
          </a:xfrm>
          <a:prstGeom prst="rect">
            <a:avLst/>
          </a:prstGeom>
          <a:noFill/>
          <a:ln/>
        </p:spPr>
        <p:txBody>
          <a:bodyPr wrap="square" lIns="0" tIns="0" rIns="0" bIns="0" rtlCol="0" anchor="t"/>
          <a:lstStyle/>
          <a:p>
            <a:pPr indent="0" marL="0">
              <a:buNone/>
            </a:pPr>
            <a:r>
              <a:rPr lang="en-US" sz="1400" b="1" dirty="0">
                <a:solidFill>
                  <a:schemeClr val="accent1"/>
                </a:solidFill>
              </a:rPr>
              <a:t>What the misses changed in the product: no meal alert and no probability. The dashboard shows the patient’s own excursion history instead.</a:t>
            </a:r>
            <a:endParaRPr lang="en-US" sz="1400" dirty="0"/>
          </a:p>
        </p:txBody>
      </p:sp>
      <p:sp>
        <p:nvSpPr>
          <p:cNvPr id="25" name="Slide Number Placeholder 0"/>
          <p:cNvSpPr>
            <a:spLocks noGrp="1"/>
          </p:cNvSpPr>
          <p:nvPr>
            <p:ph type="sldNum" sz="quarter" idx="4294967295"/>
          </p:nvPr>
        </p:nvSpPr>
        <p:spPr>
          <a:xfrm>
            <a:off x="10972800" y="6437376"/>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6A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200" b="1" dirty="0">
                <a:solidFill>
                  <a:schemeClr val="tx1"/>
                </a:solidFill>
              </a:rPr>
              <a:t>Three results a clinician can use, each with its conditions</a:t>
            </a:r>
            <a:endParaRPr lang="en-US" sz="3200" dirty="0"/>
          </a:p>
        </p:txBody>
      </p:sp>
      <p:sp>
        <p:nvSpPr>
          <p:cNvPr id="3" name="Insight card 1"/>
          <p:cNvSpPr/>
          <p:nvPr/>
        </p:nvSpPr>
        <p:spPr>
          <a:xfrm>
            <a:off x="548640" y="1572768"/>
            <a:ext cx="3520440" cy="4526280"/>
          </a:xfrm>
          <a:prstGeom prst="rect">
            <a:avLst/>
          </a:prstGeom>
          <a:solidFill>
            <a:schemeClr val="bg2"/>
          </a:solidFill>
          <a:ln w="12700">
            <a:solidFill>
              <a:schemeClr val="bg2"/>
            </a:solidFill>
            <a:prstDash val="solid"/>
          </a:ln>
        </p:spPr>
      </p:sp>
      <p:sp>
        <p:nvSpPr>
          <p:cNvPr id="4" name="Insight card 2"/>
          <p:cNvSpPr/>
          <p:nvPr/>
        </p:nvSpPr>
        <p:spPr>
          <a:xfrm>
            <a:off x="4334256" y="1572768"/>
            <a:ext cx="3520440" cy="4526280"/>
          </a:xfrm>
          <a:prstGeom prst="rect">
            <a:avLst/>
          </a:prstGeom>
          <a:solidFill>
            <a:schemeClr val="bg2"/>
          </a:solidFill>
          <a:ln w="12700">
            <a:solidFill>
              <a:schemeClr val="bg2"/>
            </a:solidFill>
            <a:prstDash val="solid"/>
          </a:ln>
        </p:spPr>
      </p:sp>
      <p:sp>
        <p:nvSpPr>
          <p:cNvPr id="5" name="Insight card 3"/>
          <p:cNvSpPr/>
          <p:nvPr/>
        </p:nvSpPr>
        <p:spPr>
          <a:xfrm>
            <a:off x="8119872" y="1572768"/>
            <a:ext cx="3520440" cy="4526280"/>
          </a:xfrm>
          <a:prstGeom prst="rect">
            <a:avLst/>
          </a:prstGeom>
          <a:solidFill>
            <a:schemeClr val="bg2"/>
          </a:solidFill>
          <a:ln w="12700">
            <a:solidFill>
              <a:schemeClr val="bg2"/>
            </a:solidFill>
            <a:prstDash val="solid"/>
          </a:ln>
        </p:spPr>
      </p:sp>
      <p:sp>
        <p:nvSpPr>
          <p:cNvPr id="6" name="Text 4"/>
          <p:cNvSpPr txBox="1"/>
          <p:nvPr/>
        </p:nvSpPr>
        <p:spPr>
          <a:xfrm>
            <a:off x="804672" y="1773936"/>
            <a:ext cx="3017520"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A FINGERSTICK-ANCHORED REPORT</a:t>
            </a:r>
            <a:endParaRPr lang="en-US" sz="1100" dirty="0"/>
          </a:p>
        </p:txBody>
      </p:sp>
      <p:sp>
        <p:nvSpPr>
          <p:cNvPr id="7" name="Text 5"/>
          <p:cNvSpPr txBox="1"/>
          <p:nvPr/>
        </p:nvSpPr>
        <p:spPr>
          <a:xfrm>
            <a:off x="804672" y="2103120"/>
            <a:ext cx="3017520" cy="685800"/>
          </a:xfrm>
          <a:prstGeom prst="rect">
            <a:avLst/>
          </a:prstGeom>
          <a:noFill/>
          <a:ln/>
        </p:spPr>
        <p:txBody>
          <a:bodyPr wrap="square" lIns="0" tIns="0" rIns="0" bIns="0" rtlCol="0" anchor="t"/>
          <a:lstStyle/>
          <a:p>
            <a:pPr indent="0" marL="0">
              <a:buNone/>
            </a:pPr>
            <a:r>
              <a:rPr lang="en-US" sz="3800" b="1" dirty="0">
                <a:solidFill>
                  <a:schemeClr val="tx1"/>
                </a:solidFill>
                <a:latin typeface="Cambria" pitchFamily="34" charset="0"/>
                <a:ea typeface="Cambria" pitchFamily="34" charset="-122"/>
                <a:cs typeface="Cambria" pitchFamily="34" charset="-120"/>
              </a:rPr>
              <a:t>13.0 → 6.4</a:t>
            </a:r>
            <a:endParaRPr lang="en-US" sz="3800" dirty="0"/>
          </a:p>
        </p:txBody>
      </p:sp>
      <p:sp>
        <p:nvSpPr>
          <p:cNvPr id="8" name="Text 6"/>
          <p:cNvSpPr txBox="1"/>
          <p:nvPr/>
        </p:nvSpPr>
        <p:spPr>
          <a:xfrm>
            <a:off x="804672" y="2761488"/>
            <a:ext cx="3017520" cy="274320"/>
          </a:xfrm>
          <a:prstGeom prst="rect">
            <a:avLst/>
          </a:prstGeom>
          <a:noFill/>
          <a:ln/>
        </p:spPr>
        <p:txBody>
          <a:bodyPr wrap="square" lIns="0" tIns="0" rIns="0" bIns="0" rtlCol="0" anchor="t"/>
          <a:lstStyle/>
          <a:p>
            <a:pPr indent="0" marL="0">
              <a:buNone/>
            </a:pPr>
            <a:r>
              <a:rPr lang="en-US" sz="1300" dirty="0">
                <a:solidFill>
                  <a:srgbClr val="6B6A80"/>
                </a:solidFill>
              </a:rPr>
              <a:t>mg/dL median error</a:t>
            </a:r>
            <a:endParaRPr lang="en-US" sz="1300" dirty="0"/>
          </a:p>
        </p:txBody>
      </p:sp>
      <p:sp>
        <p:nvSpPr>
          <p:cNvPr id="9" name="Stale report bar"/>
          <p:cNvSpPr/>
          <p:nvPr/>
        </p:nvSpPr>
        <p:spPr>
          <a:xfrm>
            <a:off x="804672" y="3200400"/>
            <a:ext cx="2377440" cy="256032"/>
          </a:xfrm>
          <a:prstGeom prst="rect">
            <a:avLst/>
          </a:prstGeom>
          <a:solidFill>
            <a:srgbClr val="9A99AD"/>
          </a:solidFill>
          <a:ln w="12700">
            <a:solidFill>
              <a:srgbClr val="9A99AD"/>
            </a:solidFill>
            <a:prstDash val="solid"/>
          </a:ln>
        </p:spPr>
      </p:sp>
      <p:sp>
        <p:nvSpPr>
          <p:cNvPr id="10" name="Text 8"/>
          <p:cNvSpPr txBox="1"/>
          <p:nvPr/>
        </p:nvSpPr>
        <p:spPr>
          <a:xfrm>
            <a:off x="3273552" y="3182112"/>
            <a:ext cx="1097280" cy="274320"/>
          </a:xfrm>
          <a:prstGeom prst="rect">
            <a:avLst/>
          </a:prstGeom>
          <a:noFill/>
          <a:ln/>
        </p:spPr>
        <p:txBody>
          <a:bodyPr wrap="square" lIns="0" tIns="0" rIns="0" bIns="0" rtlCol="0" anchor="ctr"/>
          <a:lstStyle/>
          <a:p>
            <a:pPr indent="0" marL="0">
              <a:buNone/>
            </a:pPr>
            <a:r>
              <a:rPr lang="en-US" sz="1100" dirty="0">
                <a:solidFill>
                  <a:srgbClr val="6B6A80"/>
                </a:solidFill>
              </a:rPr>
              <a:t>stale report</a:t>
            </a:r>
            <a:endParaRPr lang="en-US" sz="1100" dirty="0"/>
          </a:p>
        </p:txBody>
      </p:sp>
      <p:sp>
        <p:nvSpPr>
          <p:cNvPr id="11" name="Fingerstick report bar"/>
          <p:cNvSpPr/>
          <p:nvPr/>
        </p:nvSpPr>
        <p:spPr>
          <a:xfrm>
            <a:off x="804672" y="3547872"/>
            <a:ext cx="1170432" cy="256032"/>
          </a:xfrm>
          <a:prstGeom prst="rect">
            <a:avLst/>
          </a:prstGeom>
          <a:solidFill>
            <a:schemeClr val="accent2"/>
          </a:solidFill>
          <a:ln w="12700">
            <a:solidFill>
              <a:schemeClr val="accent2"/>
            </a:solidFill>
            <a:prstDash val="solid"/>
          </a:ln>
        </p:spPr>
      </p:sp>
      <p:sp>
        <p:nvSpPr>
          <p:cNvPr id="12" name="Text 10"/>
          <p:cNvSpPr txBox="1"/>
          <p:nvPr/>
        </p:nvSpPr>
        <p:spPr>
          <a:xfrm>
            <a:off x="2066544" y="3529584"/>
            <a:ext cx="1828800" cy="274320"/>
          </a:xfrm>
          <a:prstGeom prst="rect">
            <a:avLst/>
          </a:prstGeom>
          <a:noFill/>
          <a:ln/>
        </p:spPr>
        <p:txBody>
          <a:bodyPr wrap="square" lIns="0" tIns="0" rIns="0" bIns="0" rtlCol="0" anchor="ctr"/>
          <a:lstStyle/>
          <a:p>
            <a:pPr indent="0" marL="0">
              <a:buNone/>
            </a:pPr>
            <a:r>
              <a:rPr lang="en-US" sz="1100" dirty="0">
                <a:solidFill>
                  <a:srgbClr val="6B6A80"/>
                </a:solidFill>
              </a:rPr>
              <a:t>plain fingerstick average</a:t>
            </a:r>
            <a:endParaRPr lang="en-US" sz="1100" dirty="0"/>
          </a:p>
        </p:txBody>
      </p:sp>
      <p:sp>
        <p:nvSpPr>
          <p:cNvPr id="13" name="Text 11"/>
          <p:cNvSpPr txBox="1"/>
          <p:nvPr/>
        </p:nvSpPr>
        <p:spPr>
          <a:xfrm>
            <a:off x="804672" y="4041648"/>
            <a:ext cx="3017520" cy="640080"/>
          </a:xfrm>
          <a:prstGeom prst="rect">
            <a:avLst/>
          </a:prstGeom>
          <a:noFill/>
          <a:ln/>
        </p:spPr>
        <p:txBody>
          <a:bodyPr wrap="square" lIns="0" tIns="0" rIns="0" bIns="0" rtlCol="0" anchor="t"/>
          <a:lstStyle/>
          <a:p>
            <a:pPr indent="0" marL="0">
              <a:buNone/>
            </a:pPr>
            <a:r>
              <a:rPr lang="en-US" sz="1400" dirty="0">
                <a:solidFill>
                  <a:schemeClr val="tx1"/>
                </a:solidFill>
              </a:rPr>
              <a:t>Error of the next days’ mean sensor glucose, in hindsight.</a:t>
            </a:r>
            <a:endParaRPr lang="en-US" sz="1400" dirty="0"/>
          </a:p>
        </p:txBody>
      </p:sp>
      <p:sp>
        <p:nvSpPr>
          <p:cNvPr id="14" name="Text 12"/>
          <p:cNvSpPr txBox="1"/>
          <p:nvPr/>
        </p:nvSpPr>
        <p:spPr>
          <a:xfrm>
            <a:off x="804672" y="4818888"/>
            <a:ext cx="3017520" cy="1097280"/>
          </a:xfrm>
          <a:prstGeom prst="rect">
            <a:avLst/>
          </a:prstGeom>
          <a:noFill/>
          <a:ln/>
        </p:spPr>
        <p:txBody>
          <a:bodyPr wrap="square" lIns="0" tIns="0" rIns="0" bIns="0" rtlCol="0" anchor="t"/>
          <a:lstStyle/>
          <a:p>
            <a:pPr indent="0" marL="0">
              <a:buNone/>
            </a:pPr>
            <a:r>
              <a:rPr lang="en-US" sz="1200" dirty="0">
                <a:solidFill>
                  <a:schemeClr val="tx2"/>
                </a:solidFill>
              </a:rPr>
              <a:t>29 held-out patients, supervised care, about six fingersticks a day. At one a day the gain was 0.3 mg/dL.</a:t>
            </a:r>
            <a:endParaRPr lang="en-US" sz="1200" dirty="0"/>
          </a:p>
        </p:txBody>
      </p:sp>
      <p:sp>
        <p:nvSpPr>
          <p:cNvPr id="15" name="Text 13"/>
          <p:cNvSpPr txBox="1"/>
          <p:nvPr/>
        </p:nvSpPr>
        <p:spPr>
          <a:xfrm>
            <a:off x="4590288" y="1773936"/>
            <a:ext cx="3017520"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WHICH LOWS NOT TO TRUST</a:t>
            </a:r>
            <a:endParaRPr lang="en-US" sz="1100" dirty="0"/>
          </a:p>
        </p:txBody>
      </p:sp>
      <p:sp>
        <p:nvSpPr>
          <p:cNvPr id="16" name="Text 14"/>
          <p:cNvSpPr txBox="1"/>
          <p:nvPr/>
        </p:nvSpPr>
        <p:spPr>
          <a:xfrm>
            <a:off x="4590288" y="2103120"/>
            <a:ext cx="3017520" cy="685800"/>
          </a:xfrm>
          <a:prstGeom prst="rect">
            <a:avLst/>
          </a:prstGeom>
          <a:noFill/>
          <a:ln/>
        </p:spPr>
        <p:txBody>
          <a:bodyPr wrap="square" lIns="0" tIns="0" rIns="0" bIns="0" rtlCol="0" anchor="t"/>
          <a:lstStyle/>
          <a:p>
            <a:pPr indent="0" marL="0">
              <a:buNone/>
            </a:pPr>
            <a:r>
              <a:rPr lang="en-US" sz="3800" b="1" dirty="0">
                <a:solidFill>
                  <a:schemeClr val="tx1"/>
                </a:solidFill>
                <a:latin typeface="Cambria" pitchFamily="34" charset="0"/>
                <a:ea typeface="Cambria" pitchFamily="34" charset="-122"/>
                <a:cs typeface="Cambria" pitchFamily="34" charset="-120"/>
              </a:rPr>
              <a:t>8 of 64</a:t>
            </a:r>
            <a:endParaRPr lang="en-US" sz="3800" dirty="0"/>
          </a:p>
        </p:txBody>
      </p:sp>
      <p:sp>
        <p:nvSpPr>
          <p:cNvPr id="17" name="Text 15"/>
          <p:cNvSpPr txBox="1"/>
          <p:nvPr/>
        </p:nvSpPr>
        <p:spPr>
          <a:xfrm>
            <a:off x="4590288" y="2761488"/>
            <a:ext cx="3017520" cy="274320"/>
          </a:xfrm>
          <a:prstGeom prst="rect">
            <a:avLst/>
          </a:prstGeom>
          <a:noFill/>
          <a:ln/>
        </p:spPr>
        <p:txBody>
          <a:bodyPr wrap="square" lIns="0" tIns="0" rIns="0" bIns="0" rtlCol="0" anchor="t"/>
          <a:lstStyle/>
          <a:p>
            <a:pPr indent="0" marL="0">
              <a:buNone/>
            </a:pPr>
            <a:r>
              <a:rPr lang="en-US" sz="1300" dirty="0">
                <a:solidFill>
                  <a:srgbClr val="6B6A80"/>
                </a:solidFill>
              </a:rPr>
              <a:t>sensor lows confirmed by a fingerstick</a:t>
            </a:r>
            <a:endParaRPr lang="en-US" sz="1300" dirty="0"/>
          </a:p>
        </p:txBody>
      </p:sp>
      <p:sp>
        <p:nvSpPr>
          <p:cNvPr id="18" name="Confirmed low"/>
          <p:cNvSpPr/>
          <p:nvPr/>
        </p:nvSpPr>
        <p:spPr>
          <a:xfrm>
            <a:off x="4590288" y="3218688"/>
            <a:ext cx="137160" cy="137160"/>
          </a:xfrm>
          <a:prstGeom prst="ellipse">
            <a:avLst/>
          </a:prstGeom>
          <a:solidFill>
            <a:schemeClr val="accent2"/>
          </a:solidFill>
          <a:ln w="12700">
            <a:solidFill>
              <a:schemeClr val="accent2"/>
            </a:solidFill>
            <a:prstDash val="solid"/>
          </a:ln>
        </p:spPr>
      </p:sp>
      <p:sp>
        <p:nvSpPr>
          <p:cNvPr id="19" name="Confirmed low"/>
          <p:cNvSpPr/>
          <p:nvPr/>
        </p:nvSpPr>
        <p:spPr>
          <a:xfrm>
            <a:off x="4773168" y="3218688"/>
            <a:ext cx="137160" cy="137160"/>
          </a:xfrm>
          <a:prstGeom prst="ellipse">
            <a:avLst/>
          </a:prstGeom>
          <a:solidFill>
            <a:schemeClr val="accent2"/>
          </a:solidFill>
          <a:ln w="12700">
            <a:solidFill>
              <a:schemeClr val="accent2"/>
            </a:solidFill>
            <a:prstDash val="solid"/>
          </a:ln>
        </p:spPr>
      </p:sp>
      <p:sp>
        <p:nvSpPr>
          <p:cNvPr id="20" name="Confirmed low"/>
          <p:cNvSpPr/>
          <p:nvPr/>
        </p:nvSpPr>
        <p:spPr>
          <a:xfrm>
            <a:off x="4956048" y="3218688"/>
            <a:ext cx="137160" cy="137160"/>
          </a:xfrm>
          <a:prstGeom prst="ellipse">
            <a:avLst/>
          </a:prstGeom>
          <a:solidFill>
            <a:schemeClr val="accent2"/>
          </a:solidFill>
          <a:ln w="12700">
            <a:solidFill>
              <a:schemeClr val="accent2"/>
            </a:solidFill>
            <a:prstDash val="solid"/>
          </a:ln>
        </p:spPr>
      </p:sp>
      <p:sp>
        <p:nvSpPr>
          <p:cNvPr id="21" name="Confirmed low"/>
          <p:cNvSpPr/>
          <p:nvPr/>
        </p:nvSpPr>
        <p:spPr>
          <a:xfrm>
            <a:off x="5138928" y="3218688"/>
            <a:ext cx="137160" cy="137160"/>
          </a:xfrm>
          <a:prstGeom prst="ellipse">
            <a:avLst/>
          </a:prstGeom>
          <a:solidFill>
            <a:schemeClr val="accent2"/>
          </a:solidFill>
          <a:ln w="12700">
            <a:solidFill>
              <a:schemeClr val="accent2"/>
            </a:solidFill>
            <a:prstDash val="solid"/>
          </a:ln>
        </p:spPr>
      </p:sp>
      <p:sp>
        <p:nvSpPr>
          <p:cNvPr id="22" name="Confirmed low"/>
          <p:cNvSpPr/>
          <p:nvPr/>
        </p:nvSpPr>
        <p:spPr>
          <a:xfrm>
            <a:off x="5321808" y="3218688"/>
            <a:ext cx="137160" cy="137160"/>
          </a:xfrm>
          <a:prstGeom prst="ellipse">
            <a:avLst/>
          </a:prstGeom>
          <a:solidFill>
            <a:schemeClr val="accent2"/>
          </a:solidFill>
          <a:ln w="12700">
            <a:solidFill>
              <a:schemeClr val="accent2"/>
            </a:solidFill>
            <a:prstDash val="solid"/>
          </a:ln>
        </p:spPr>
      </p:sp>
      <p:sp>
        <p:nvSpPr>
          <p:cNvPr id="23" name="Confirmed low"/>
          <p:cNvSpPr/>
          <p:nvPr/>
        </p:nvSpPr>
        <p:spPr>
          <a:xfrm>
            <a:off x="5504688" y="3218688"/>
            <a:ext cx="137160" cy="137160"/>
          </a:xfrm>
          <a:prstGeom prst="ellipse">
            <a:avLst/>
          </a:prstGeom>
          <a:solidFill>
            <a:schemeClr val="accent2"/>
          </a:solidFill>
          <a:ln w="12700">
            <a:solidFill>
              <a:schemeClr val="accent2"/>
            </a:solidFill>
            <a:prstDash val="solid"/>
          </a:ln>
        </p:spPr>
      </p:sp>
      <p:sp>
        <p:nvSpPr>
          <p:cNvPr id="24" name="Confirmed low"/>
          <p:cNvSpPr/>
          <p:nvPr/>
        </p:nvSpPr>
        <p:spPr>
          <a:xfrm>
            <a:off x="5687568" y="3218688"/>
            <a:ext cx="137160" cy="137160"/>
          </a:xfrm>
          <a:prstGeom prst="ellipse">
            <a:avLst/>
          </a:prstGeom>
          <a:solidFill>
            <a:schemeClr val="accent2"/>
          </a:solidFill>
          <a:ln w="12700">
            <a:solidFill>
              <a:schemeClr val="accent2"/>
            </a:solidFill>
            <a:prstDash val="solid"/>
          </a:ln>
        </p:spPr>
      </p:sp>
      <p:sp>
        <p:nvSpPr>
          <p:cNvPr id="25" name="Confirmed low"/>
          <p:cNvSpPr/>
          <p:nvPr/>
        </p:nvSpPr>
        <p:spPr>
          <a:xfrm>
            <a:off x="5870448" y="3218688"/>
            <a:ext cx="137160" cy="137160"/>
          </a:xfrm>
          <a:prstGeom prst="ellipse">
            <a:avLst/>
          </a:prstGeom>
          <a:solidFill>
            <a:schemeClr val="accent2"/>
          </a:solidFill>
          <a:ln w="12700">
            <a:solidFill>
              <a:schemeClr val="accent2"/>
            </a:solidFill>
            <a:prstDash val="solid"/>
          </a:ln>
        </p:spPr>
      </p:sp>
      <p:sp>
        <p:nvSpPr>
          <p:cNvPr id="26" name="Unconfirmed low"/>
          <p:cNvSpPr/>
          <p:nvPr/>
        </p:nvSpPr>
        <p:spPr>
          <a:xfrm>
            <a:off x="6053328" y="3218688"/>
            <a:ext cx="137160" cy="137160"/>
          </a:xfrm>
          <a:prstGeom prst="ellipse">
            <a:avLst/>
          </a:prstGeom>
          <a:solidFill>
            <a:schemeClr val="bg2"/>
          </a:solidFill>
          <a:ln w="9525">
            <a:solidFill>
              <a:srgbClr val="9A99AD"/>
            </a:solidFill>
            <a:prstDash val="solid"/>
          </a:ln>
        </p:spPr>
      </p:sp>
      <p:sp>
        <p:nvSpPr>
          <p:cNvPr id="27" name="Unconfirmed low"/>
          <p:cNvSpPr/>
          <p:nvPr/>
        </p:nvSpPr>
        <p:spPr>
          <a:xfrm>
            <a:off x="6236208" y="3218688"/>
            <a:ext cx="137160" cy="137160"/>
          </a:xfrm>
          <a:prstGeom prst="ellipse">
            <a:avLst/>
          </a:prstGeom>
          <a:solidFill>
            <a:schemeClr val="bg2"/>
          </a:solidFill>
          <a:ln w="9525">
            <a:solidFill>
              <a:srgbClr val="9A99AD"/>
            </a:solidFill>
            <a:prstDash val="solid"/>
          </a:ln>
        </p:spPr>
      </p:sp>
      <p:sp>
        <p:nvSpPr>
          <p:cNvPr id="28" name="Unconfirmed low"/>
          <p:cNvSpPr/>
          <p:nvPr/>
        </p:nvSpPr>
        <p:spPr>
          <a:xfrm>
            <a:off x="6419088" y="3218688"/>
            <a:ext cx="137160" cy="137160"/>
          </a:xfrm>
          <a:prstGeom prst="ellipse">
            <a:avLst/>
          </a:prstGeom>
          <a:solidFill>
            <a:schemeClr val="bg2"/>
          </a:solidFill>
          <a:ln w="9525">
            <a:solidFill>
              <a:srgbClr val="9A99AD"/>
            </a:solidFill>
            <a:prstDash val="solid"/>
          </a:ln>
        </p:spPr>
      </p:sp>
      <p:sp>
        <p:nvSpPr>
          <p:cNvPr id="29" name="Unconfirmed low"/>
          <p:cNvSpPr/>
          <p:nvPr/>
        </p:nvSpPr>
        <p:spPr>
          <a:xfrm>
            <a:off x="6601968" y="3218688"/>
            <a:ext cx="137160" cy="137160"/>
          </a:xfrm>
          <a:prstGeom prst="ellipse">
            <a:avLst/>
          </a:prstGeom>
          <a:solidFill>
            <a:schemeClr val="bg2"/>
          </a:solidFill>
          <a:ln w="9525">
            <a:solidFill>
              <a:srgbClr val="9A99AD"/>
            </a:solidFill>
            <a:prstDash val="solid"/>
          </a:ln>
        </p:spPr>
      </p:sp>
      <p:sp>
        <p:nvSpPr>
          <p:cNvPr id="30" name="Unconfirmed low"/>
          <p:cNvSpPr/>
          <p:nvPr/>
        </p:nvSpPr>
        <p:spPr>
          <a:xfrm>
            <a:off x="6784848" y="3218688"/>
            <a:ext cx="137160" cy="137160"/>
          </a:xfrm>
          <a:prstGeom prst="ellipse">
            <a:avLst/>
          </a:prstGeom>
          <a:solidFill>
            <a:schemeClr val="bg2"/>
          </a:solidFill>
          <a:ln w="9525">
            <a:solidFill>
              <a:srgbClr val="9A99AD"/>
            </a:solidFill>
            <a:prstDash val="solid"/>
          </a:ln>
        </p:spPr>
      </p:sp>
      <p:sp>
        <p:nvSpPr>
          <p:cNvPr id="31" name="Unconfirmed low"/>
          <p:cNvSpPr/>
          <p:nvPr/>
        </p:nvSpPr>
        <p:spPr>
          <a:xfrm>
            <a:off x="6967728" y="3218688"/>
            <a:ext cx="137160" cy="137160"/>
          </a:xfrm>
          <a:prstGeom prst="ellipse">
            <a:avLst/>
          </a:prstGeom>
          <a:solidFill>
            <a:schemeClr val="bg2"/>
          </a:solidFill>
          <a:ln w="9525">
            <a:solidFill>
              <a:srgbClr val="9A99AD"/>
            </a:solidFill>
            <a:prstDash val="solid"/>
          </a:ln>
        </p:spPr>
      </p:sp>
      <p:sp>
        <p:nvSpPr>
          <p:cNvPr id="32" name="Unconfirmed low"/>
          <p:cNvSpPr/>
          <p:nvPr/>
        </p:nvSpPr>
        <p:spPr>
          <a:xfrm>
            <a:off x="7150608" y="3218688"/>
            <a:ext cx="137160" cy="137160"/>
          </a:xfrm>
          <a:prstGeom prst="ellipse">
            <a:avLst/>
          </a:prstGeom>
          <a:solidFill>
            <a:schemeClr val="bg2"/>
          </a:solidFill>
          <a:ln w="9525">
            <a:solidFill>
              <a:srgbClr val="9A99AD"/>
            </a:solidFill>
            <a:prstDash val="solid"/>
          </a:ln>
        </p:spPr>
      </p:sp>
      <p:sp>
        <p:nvSpPr>
          <p:cNvPr id="33" name="Unconfirmed low"/>
          <p:cNvSpPr/>
          <p:nvPr/>
        </p:nvSpPr>
        <p:spPr>
          <a:xfrm>
            <a:off x="7333488" y="3218688"/>
            <a:ext cx="137160" cy="137160"/>
          </a:xfrm>
          <a:prstGeom prst="ellipse">
            <a:avLst/>
          </a:prstGeom>
          <a:solidFill>
            <a:schemeClr val="bg2"/>
          </a:solidFill>
          <a:ln w="9525">
            <a:solidFill>
              <a:srgbClr val="9A99AD"/>
            </a:solidFill>
            <a:prstDash val="solid"/>
          </a:ln>
        </p:spPr>
      </p:sp>
      <p:sp>
        <p:nvSpPr>
          <p:cNvPr id="34" name="Unconfirmed low"/>
          <p:cNvSpPr/>
          <p:nvPr/>
        </p:nvSpPr>
        <p:spPr>
          <a:xfrm>
            <a:off x="4590288" y="3401568"/>
            <a:ext cx="137160" cy="137160"/>
          </a:xfrm>
          <a:prstGeom prst="ellipse">
            <a:avLst/>
          </a:prstGeom>
          <a:solidFill>
            <a:schemeClr val="bg2"/>
          </a:solidFill>
          <a:ln w="9525">
            <a:solidFill>
              <a:srgbClr val="9A99AD"/>
            </a:solidFill>
            <a:prstDash val="solid"/>
          </a:ln>
        </p:spPr>
      </p:sp>
      <p:sp>
        <p:nvSpPr>
          <p:cNvPr id="35" name="Unconfirmed low"/>
          <p:cNvSpPr/>
          <p:nvPr/>
        </p:nvSpPr>
        <p:spPr>
          <a:xfrm>
            <a:off x="4773168" y="3401568"/>
            <a:ext cx="137160" cy="137160"/>
          </a:xfrm>
          <a:prstGeom prst="ellipse">
            <a:avLst/>
          </a:prstGeom>
          <a:solidFill>
            <a:schemeClr val="bg2"/>
          </a:solidFill>
          <a:ln w="9525">
            <a:solidFill>
              <a:srgbClr val="9A99AD"/>
            </a:solidFill>
            <a:prstDash val="solid"/>
          </a:ln>
        </p:spPr>
      </p:sp>
      <p:sp>
        <p:nvSpPr>
          <p:cNvPr id="36" name="Unconfirmed low"/>
          <p:cNvSpPr/>
          <p:nvPr/>
        </p:nvSpPr>
        <p:spPr>
          <a:xfrm>
            <a:off x="4956048" y="3401568"/>
            <a:ext cx="137160" cy="137160"/>
          </a:xfrm>
          <a:prstGeom prst="ellipse">
            <a:avLst/>
          </a:prstGeom>
          <a:solidFill>
            <a:schemeClr val="bg2"/>
          </a:solidFill>
          <a:ln w="9525">
            <a:solidFill>
              <a:srgbClr val="9A99AD"/>
            </a:solidFill>
            <a:prstDash val="solid"/>
          </a:ln>
        </p:spPr>
      </p:sp>
      <p:sp>
        <p:nvSpPr>
          <p:cNvPr id="37" name="Unconfirmed low"/>
          <p:cNvSpPr/>
          <p:nvPr/>
        </p:nvSpPr>
        <p:spPr>
          <a:xfrm>
            <a:off x="5138928" y="3401568"/>
            <a:ext cx="137160" cy="137160"/>
          </a:xfrm>
          <a:prstGeom prst="ellipse">
            <a:avLst/>
          </a:prstGeom>
          <a:solidFill>
            <a:schemeClr val="bg2"/>
          </a:solidFill>
          <a:ln w="9525">
            <a:solidFill>
              <a:srgbClr val="9A99AD"/>
            </a:solidFill>
            <a:prstDash val="solid"/>
          </a:ln>
        </p:spPr>
      </p:sp>
      <p:sp>
        <p:nvSpPr>
          <p:cNvPr id="38" name="Unconfirmed low"/>
          <p:cNvSpPr/>
          <p:nvPr/>
        </p:nvSpPr>
        <p:spPr>
          <a:xfrm>
            <a:off x="5321808" y="3401568"/>
            <a:ext cx="137160" cy="137160"/>
          </a:xfrm>
          <a:prstGeom prst="ellipse">
            <a:avLst/>
          </a:prstGeom>
          <a:solidFill>
            <a:schemeClr val="bg2"/>
          </a:solidFill>
          <a:ln w="9525">
            <a:solidFill>
              <a:srgbClr val="9A99AD"/>
            </a:solidFill>
            <a:prstDash val="solid"/>
          </a:ln>
        </p:spPr>
      </p:sp>
      <p:sp>
        <p:nvSpPr>
          <p:cNvPr id="39" name="Unconfirmed low"/>
          <p:cNvSpPr/>
          <p:nvPr/>
        </p:nvSpPr>
        <p:spPr>
          <a:xfrm>
            <a:off x="5504688" y="3401568"/>
            <a:ext cx="137160" cy="137160"/>
          </a:xfrm>
          <a:prstGeom prst="ellipse">
            <a:avLst/>
          </a:prstGeom>
          <a:solidFill>
            <a:schemeClr val="bg2"/>
          </a:solidFill>
          <a:ln w="9525">
            <a:solidFill>
              <a:srgbClr val="9A99AD"/>
            </a:solidFill>
            <a:prstDash val="solid"/>
          </a:ln>
        </p:spPr>
      </p:sp>
      <p:sp>
        <p:nvSpPr>
          <p:cNvPr id="40" name="Unconfirmed low"/>
          <p:cNvSpPr/>
          <p:nvPr/>
        </p:nvSpPr>
        <p:spPr>
          <a:xfrm>
            <a:off x="5687568" y="3401568"/>
            <a:ext cx="137160" cy="137160"/>
          </a:xfrm>
          <a:prstGeom prst="ellipse">
            <a:avLst/>
          </a:prstGeom>
          <a:solidFill>
            <a:schemeClr val="bg2"/>
          </a:solidFill>
          <a:ln w="9525">
            <a:solidFill>
              <a:srgbClr val="9A99AD"/>
            </a:solidFill>
            <a:prstDash val="solid"/>
          </a:ln>
        </p:spPr>
      </p:sp>
      <p:sp>
        <p:nvSpPr>
          <p:cNvPr id="41" name="Unconfirmed low"/>
          <p:cNvSpPr/>
          <p:nvPr/>
        </p:nvSpPr>
        <p:spPr>
          <a:xfrm>
            <a:off x="5870448" y="3401568"/>
            <a:ext cx="137160" cy="137160"/>
          </a:xfrm>
          <a:prstGeom prst="ellipse">
            <a:avLst/>
          </a:prstGeom>
          <a:solidFill>
            <a:schemeClr val="bg2"/>
          </a:solidFill>
          <a:ln w="9525">
            <a:solidFill>
              <a:srgbClr val="9A99AD"/>
            </a:solidFill>
            <a:prstDash val="solid"/>
          </a:ln>
        </p:spPr>
      </p:sp>
      <p:sp>
        <p:nvSpPr>
          <p:cNvPr id="42" name="Unconfirmed low"/>
          <p:cNvSpPr/>
          <p:nvPr/>
        </p:nvSpPr>
        <p:spPr>
          <a:xfrm>
            <a:off x="6053328" y="3401568"/>
            <a:ext cx="137160" cy="137160"/>
          </a:xfrm>
          <a:prstGeom prst="ellipse">
            <a:avLst/>
          </a:prstGeom>
          <a:solidFill>
            <a:schemeClr val="bg2"/>
          </a:solidFill>
          <a:ln w="9525">
            <a:solidFill>
              <a:srgbClr val="9A99AD"/>
            </a:solidFill>
            <a:prstDash val="solid"/>
          </a:ln>
        </p:spPr>
      </p:sp>
      <p:sp>
        <p:nvSpPr>
          <p:cNvPr id="43" name="Unconfirmed low"/>
          <p:cNvSpPr/>
          <p:nvPr/>
        </p:nvSpPr>
        <p:spPr>
          <a:xfrm>
            <a:off x="6236208" y="3401568"/>
            <a:ext cx="137160" cy="137160"/>
          </a:xfrm>
          <a:prstGeom prst="ellipse">
            <a:avLst/>
          </a:prstGeom>
          <a:solidFill>
            <a:schemeClr val="bg2"/>
          </a:solidFill>
          <a:ln w="9525">
            <a:solidFill>
              <a:srgbClr val="9A99AD"/>
            </a:solidFill>
            <a:prstDash val="solid"/>
          </a:ln>
        </p:spPr>
      </p:sp>
      <p:sp>
        <p:nvSpPr>
          <p:cNvPr id="44" name="Unconfirmed low"/>
          <p:cNvSpPr/>
          <p:nvPr/>
        </p:nvSpPr>
        <p:spPr>
          <a:xfrm>
            <a:off x="6419088" y="3401568"/>
            <a:ext cx="137160" cy="137160"/>
          </a:xfrm>
          <a:prstGeom prst="ellipse">
            <a:avLst/>
          </a:prstGeom>
          <a:solidFill>
            <a:schemeClr val="bg2"/>
          </a:solidFill>
          <a:ln w="9525">
            <a:solidFill>
              <a:srgbClr val="9A99AD"/>
            </a:solidFill>
            <a:prstDash val="solid"/>
          </a:ln>
        </p:spPr>
      </p:sp>
      <p:sp>
        <p:nvSpPr>
          <p:cNvPr id="45" name="Unconfirmed low"/>
          <p:cNvSpPr/>
          <p:nvPr/>
        </p:nvSpPr>
        <p:spPr>
          <a:xfrm>
            <a:off x="6601968" y="3401568"/>
            <a:ext cx="137160" cy="137160"/>
          </a:xfrm>
          <a:prstGeom prst="ellipse">
            <a:avLst/>
          </a:prstGeom>
          <a:solidFill>
            <a:schemeClr val="bg2"/>
          </a:solidFill>
          <a:ln w="9525">
            <a:solidFill>
              <a:srgbClr val="9A99AD"/>
            </a:solidFill>
            <a:prstDash val="solid"/>
          </a:ln>
        </p:spPr>
      </p:sp>
      <p:sp>
        <p:nvSpPr>
          <p:cNvPr id="46" name="Unconfirmed low"/>
          <p:cNvSpPr/>
          <p:nvPr/>
        </p:nvSpPr>
        <p:spPr>
          <a:xfrm>
            <a:off x="6784848" y="3401568"/>
            <a:ext cx="137160" cy="137160"/>
          </a:xfrm>
          <a:prstGeom prst="ellipse">
            <a:avLst/>
          </a:prstGeom>
          <a:solidFill>
            <a:schemeClr val="bg2"/>
          </a:solidFill>
          <a:ln w="9525">
            <a:solidFill>
              <a:srgbClr val="9A99AD"/>
            </a:solidFill>
            <a:prstDash val="solid"/>
          </a:ln>
        </p:spPr>
      </p:sp>
      <p:sp>
        <p:nvSpPr>
          <p:cNvPr id="47" name="Unconfirmed low"/>
          <p:cNvSpPr/>
          <p:nvPr/>
        </p:nvSpPr>
        <p:spPr>
          <a:xfrm>
            <a:off x="6967728" y="3401568"/>
            <a:ext cx="137160" cy="137160"/>
          </a:xfrm>
          <a:prstGeom prst="ellipse">
            <a:avLst/>
          </a:prstGeom>
          <a:solidFill>
            <a:schemeClr val="bg2"/>
          </a:solidFill>
          <a:ln w="9525">
            <a:solidFill>
              <a:srgbClr val="9A99AD"/>
            </a:solidFill>
            <a:prstDash val="solid"/>
          </a:ln>
        </p:spPr>
      </p:sp>
      <p:sp>
        <p:nvSpPr>
          <p:cNvPr id="48" name="Unconfirmed low"/>
          <p:cNvSpPr/>
          <p:nvPr/>
        </p:nvSpPr>
        <p:spPr>
          <a:xfrm>
            <a:off x="7150608" y="3401568"/>
            <a:ext cx="137160" cy="137160"/>
          </a:xfrm>
          <a:prstGeom prst="ellipse">
            <a:avLst/>
          </a:prstGeom>
          <a:solidFill>
            <a:schemeClr val="bg2"/>
          </a:solidFill>
          <a:ln w="9525">
            <a:solidFill>
              <a:srgbClr val="9A99AD"/>
            </a:solidFill>
            <a:prstDash val="solid"/>
          </a:ln>
        </p:spPr>
      </p:sp>
      <p:sp>
        <p:nvSpPr>
          <p:cNvPr id="49" name="Unconfirmed low"/>
          <p:cNvSpPr/>
          <p:nvPr/>
        </p:nvSpPr>
        <p:spPr>
          <a:xfrm>
            <a:off x="7333488" y="3401568"/>
            <a:ext cx="137160" cy="137160"/>
          </a:xfrm>
          <a:prstGeom prst="ellipse">
            <a:avLst/>
          </a:prstGeom>
          <a:solidFill>
            <a:schemeClr val="bg2"/>
          </a:solidFill>
          <a:ln w="9525">
            <a:solidFill>
              <a:srgbClr val="9A99AD"/>
            </a:solidFill>
            <a:prstDash val="solid"/>
          </a:ln>
        </p:spPr>
      </p:sp>
      <p:sp>
        <p:nvSpPr>
          <p:cNvPr id="50" name="Unconfirmed low"/>
          <p:cNvSpPr/>
          <p:nvPr/>
        </p:nvSpPr>
        <p:spPr>
          <a:xfrm>
            <a:off x="4590288" y="3584448"/>
            <a:ext cx="137160" cy="137160"/>
          </a:xfrm>
          <a:prstGeom prst="ellipse">
            <a:avLst/>
          </a:prstGeom>
          <a:solidFill>
            <a:schemeClr val="bg2"/>
          </a:solidFill>
          <a:ln w="9525">
            <a:solidFill>
              <a:srgbClr val="9A99AD"/>
            </a:solidFill>
            <a:prstDash val="solid"/>
          </a:ln>
        </p:spPr>
      </p:sp>
      <p:sp>
        <p:nvSpPr>
          <p:cNvPr id="51" name="Unconfirmed low"/>
          <p:cNvSpPr/>
          <p:nvPr/>
        </p:nvSpPr>
        <p:spPr>
          <a:xfrm>
            <a:off x="4773168" y="3584448"/>
            <a:ext cx="137160" cy="137160"/>
          </a:xfrm>
          <a:prstGeom prst="ellipse">
            <a:avLst/>
          </a:prstGeom>
          <a:solidFill>
            <a:schemeClr val="bg2"/>
          </a:solidFill>
          <a:ln w="9525">
            <a:solidFill>
              <a:srgbClr val="9A99AD"/>
            </a:solidFill>
            <a:prstDash val="solid"/>
          </a:ln>
        </p:spPr>
      </p:sp>
      <p:sp>
        <p:nvSpPr>
          <p:cNvPr id="52" name="Unconfirmed low"/>
          <p:cNvSpPr/>
          <p:nvPr/>
        </p:nvSpPr>
        <p:spPr>
          <a:xfrm>
            <a:off x="4956048" y="3584448"/>
            <a:ext cx="137160" cy="137160"/>
          </a:xfrm>
          <a:prstGeom prst="ellipse">
            <a:avLst/>
          </a:prstGeom>
          <a:solidFill>
            <a:schemeClr val="bg2"/>
          </a:solidFill>
          <a:ln w="9525">
            <a:solidFill>
              <a:srgbClr val="9A99AD"/>
            </a:solidFill>
            <a:prstDash val="solid"/>
          </a:ln>
        </p:spPr>
      </p:sp>
      <p:sp>
        <p:nvSpPr>
          <p:cNvPr id="53" name="Unconfirmed low"/>
          <p:cNvSpPr/>
          <p:nvPr/>
        </p:nvSpPr>
        <p:spPr>
          <a:xfrm>
            <a:off x="5138928" y="3584448"/>
            <a:ext cx="137160" cy="137160"/>
          </a:xfrm>
          <a:prstGeom prst="ellipse">
            <a:avLst/>
          </a:prstGeom>
          <a:solidFill>
            <a:schemeClr val="bg2"/>
          </a:solidFill>
          <a:ln w="9525">
            <a:solidFill>
              <a:srgbClr val="9A99AD"/>
            </a:solidFill>
            <a:prstDash val="solid"/>
          </a:ln>
        </p:spPr>
      </p:sp>
      <p:sp>
        <p:nvSpPr>
          <p:cNvPr id="54" name="Unconfirmed low"/>
          <p:cNvSpPr/>
          <p:nvPr/>
        </p:nvSpPr>
        <p:spPr>
          <a:xfrm>
            <a:off x="5321808" y="3584448"/>
            <a:ext cx="137160" cy="137160"/>
          </a:xfrm>
          <a:prstGeom prst="ellipse">
            <a:avLst/>
          </a:prstGeom>
          <a:solidFill>
            <a:schemeClr val="bg2"/>
          </a:solidFill>
          <a:ln w="9525">
            <a:solidFill>
              <a:srgbClr val="9A99AD"/>
            </a:solidFill>
            <a:prstDash val="solid"/>
          </a:ln>
        </p:spPr>
      </p:sp>
      <p:sp>
        <p:nvSpPr>
          <p:cNvPr id="55" name="Unconfirmed low"/>
          <p:cNvSpPr/>
          <p:nvPr/>
        </p:nvSpPr>
        <p:spPr>
          <a:xfrm>
            <a:off x="5504688" y="3584448"/>
            <a:ext cx="137160" cy="137160"/>
          </a:xfrm>
          <a:prstGeom prst="ellipse">
            <a:avLst/>
          </a:prstGeom>
          <a:solidFill>
            <a:schemeClr val="bg2"/>
          </a:solidFill>
          <a:ln w="9525">
            <a:solidFill>
              <a:srgbClr val="9A99AD"/>
            </a:solidFill>
            <a:prstDash val="solid"/>
          </a:ln>
        </p:spPr>
      </p:sp>
      <p:sp>
        <p:nvSpPr>
          <p:cNvPr id="56" name="Unconfirmed low"/>
          <p:cNvSpPr/>
          <p:nvPr/>
        </p:nvSpPr>
        <p:spPr>
          <a:xfrm>
            <a:off x="5687568" y="3584448"/>
            <a:ext cx="137160" cy="137160"/>
          </a:xfrm>
          <a:prstGeom prst="ellipse">
            <a:avLst/>
          </a:prstGeom>
          <a:solidFill>
            <a:schemeClr val="bg2"/>
          </a:solidFill>
          <a:ln w="9525">
            <a:solidFill>
              <a:srgbClr val="9A99AD"/>
            </a:solidFill>
            <a:prstDash val="solid"/>
          </a:ln>
        </p:spPr>
      </p:sp>
      <p:sp>
        <p:nvSpPr>
          <p:cNvPr id="57" name="Unconfirmed low"/>
          <p:cNvSpPr/>
          <p:nvPr/>
        </p:nvSpPr>
        <p:spPr>
          <a:xfrm>
            <a:off x="5870448" y="3584448"/>
            <a:ext cx="137160" cy="137160"/>
          </a:xfrm>
          <a:prstGeom prst="ellipse">
            <a:avLst/>
          </a:prstGeom>
          <a:solidFill>
            <a:schemeClr val="bg2"/>
          </a:solidFill>
          <a:ln w="9525">
            <a:solidFill>
              <a:srgbClr val="9A99AD"/>
            </a:solidFill>
            <a:prstDash val="solid"/>
          </a:ln>
        </p:spPr>
      </p:sp>
      <p:sp>
        <p:nvSpPr>
          <p:cNvPr id="58" name="Unconfirmed low"/>
          <p:cNvSpPr/>
          <p:nvPr/>
        </p:nvSpPr>
        <p:spPr>
          <a:xfrm>
            <a:off x="6053328" y="3584448"/>
            <a:ext cx="137160" cy="137160"/>
          </a:xfrm>
          <a:prstGeom prst="ellipse">
            <a:avLst/>
          </a:prstGeom>
          <a:solidFill>
            <a:schemeClr val="bg2"/>
          </a:solidFill>
          <a:ln w="9525">
            <a:solidFill>
              <a:srgbClr val="9A99AD"/>
            </a:solidFill>
            <a:prstDash val="solid"/>
          </a:ln>
        </p:spPr>
      </p:sp>
      <p:sp>
        <p:nvSpPr>
          <p:cNvPr id="59" name="Unconfirmed low"/>
          <p:cNvSpPr/>
          <p:nvPr/>
        </p:nvSpPr>
        <p:spPr>
          <a:xfrm>
            <a:off x="6236208" y="3584448"/>
            <a:ext cx="137160" cy="137160"/>
          </a:xfrm>
          <a:prstGeom prst="ellipse">
            <a:avLst/>
          </a:prstGeom>
          <a:solidFill>
            <a:schemeClr val="bg2"/>
          </a:solidFill>
          <a:ln w="9525">
            <a:solidFill>
              <a:srgbClr val="9A99AD"/>
            </a:solidFill>
            <a:prstDash val="solid"/>
          </a:ln>
        </p:spPr>
      </p:sp>
      <p:sp>
        <p:nvSpPr>
          <p:cNvPr id="60" name="Unconfirmed low"/>
          <p:cNvSpPr/>
          <p:nvPr/>
        </p:nvSpPr>
        <p:spPr>
          <a:xfrm>
            <a:off x="6419088" y="3584448"/>
            <a:ext cx="137160" cy="137160"/>
          </a:xfrm>
          <a:prstGeom prst="ellipse">
            <a:avLst/>
          </a:prstGeom>
          <a:solidFill>
            <a:schemeClr val="bg2"/>
          </a:solidFill>
          <a:ln w="9525">
            <a:solidFill>
              <a:srgbClr val="9A99AD"/>
            </a:solidFill>
            <a:prstDash val="solid"/>
          </a:ln>
        </p:spPr>
      </p:sp>
      <p:sp>
        <p:nvSpPr>
          <p:cNvPr id="61" name="Unconfirmed low"/>
          <p:cNvSpPr/>
          <p:nvPr/>
        </p:nvSpPr>
        <p:spPr>
          <a:xfrm>
            <a:off x="6601968" y="3584448"/>
            <a:ext cx="137160" cy="137160"/>
          </a:xfrm>
          <a:prstGeom prst="ellipse">
            <a:avLst/>
          </a:prstGeom>
          <a:solidFill>
            <a:schemeClr val="bg2"/>
          </a:solidFill>
          <a:ln w="9525">
            <a:solidFill>
              <a:srgbClr val="9A99AD"/>
            </a:solidFill>
            <a:prstDash val="solid"/>
          </a:ln>
        </p:spPr>
      </p:sp>
      <p:sp>
        <p:nvSpPr>
          <p:cNvPr id="62" name="Unconfirmed low"/>
          <p:cNvSpPr/>
          <p:nvPr/>
        </p:nvSpPr>
        <p:spPr>
          <a:xfrm>
            <a:off x="6784848" y="3584448"/>
            <a:ext cx="137160" cy="137160"/>
          </a:xfrm>
          <a:prstGeom prst="ellipse">
            <a:avLst/>
          </a:prstGeom>
          <a:solidFill>
            <a:schemeClr val="bg2"/>
          </a:solidFill>
          <a:ln w="9525">
            <a:solidFill>
              <a:srgbClr val="9A99AD"/>
            </a:solidFill>
            <a:prstDash val="solid"/>
          </a:ln>
        </p:spPr>
      </p:sp>
      <p:sp>
        <p:nvSpPr>
          <p:cNvPr id="63" name="Unconfirmed low"/>
          <p:cNvSpPr/>
          <p:nvPr/>
        </p:nvSpPr>
        <p:spPr>
          <a:xfrm>
            <a:off x="6967728" y="3584448"/>
            <a:ext cx="137160" cy="137160"/>
          </a:xfrm>
          <a:prstGeom prst="ellipse">
            <a:avLst/>
          </a:prstGeom>
          <a:solidFill>
            <a:schemeClr val="bg2"/>
          </a:solidFill>
          <a:ln w="9525">
            <a:solidFill>
              <a:srgbClr val="9A99AD"/>
            </a:solidFill>
            <a:prstDash val="solid"/>
          </a:ln>
        </p:spPr>
      </p:sp>
      <p:sp>
        <p:nvSpPr>
          <p:cNvPr id="64" name="Unconfirmed low"/>
          <p:cNvSpPr/>
          <p:nvPr/>
        </p:nvSpPr>
        <p:spPr>
          <a:xfrm>
            <a:off x="7150608" y="3584448"/>
            <a:ext cx="137160" cy="137160"/>
          </a:xfrm>
          <a:prstGeom prst="ellipse">
            <a:avLst/>
          </a:prstGeom>
          <a:solidFill>
            <a:schemeClr val="bg2"/>
          </a:solidFill>
          <a:ln w="9525">
            <a:solidFill>
              <a:srgbClr val="9A99AD"/>
            </a:solidFill>
            <a:prstDash val="solid"/>
          </a:ln>
        </p:spPr>
      </p:sp>
      <p:sp>
        <p:nvSpPr>
          <p:cNvPr id="65" name="Unconfirmed low"/>
          <p:cNvSpPr/>
          <p:nvPr/>
        </p:nvSpPr>
        <p:spPr>
          <a:xfrm>
            <a:off x="7333488" y="3584448"/>
            <a:ext cx="137160" cy="137160"/>
          </a:xfrm>
          <a:prstGeom prst="ellipse">
            <a:avLst/>
          </a:prstGeom>
          <a:solidFill>
            <a:schemeClr val="bg2"/>
          </a:solidFill>
          <a:ln w="9525">
            <a:solidFill>
              <a:srgbClr val="9A99AD"/>
            </a:solidFill>
            <a:prstDash val="solid"/>
          </a:ln>
        </p:spPr>
      </p:sp>
      <p:sp>
        <p:nvSpPr>
          <p:cNvPr id="66" name="Unconfirmed low"/>
          <p:cNvSpPr/>
          <p:nvPr/>
        </p:nvSpPr>
        <p:spPr>
          <a:xfrm>
            <a:off x="4590288" y="3767328"/>
            <a:ext cx="137160" cy="137160"/>
          </a:xfrm>
          <a:prstGeom prst="ellipse">
            <a:avLst/>
          </a:prstGeom>
          <a:solidFill>
            <a:schemeClr val="bg2"/>
          </a:solidFill>
          <a:ln w="9525">
            <a:solidFill>
              <a:srgbClr val="9A99AD"/>
            </a:solidFill>
            <a:prstDash val="solid"/>
          </a:ln>
        </p:spPr>
      </p:sp>
      <p:sp>
        <p:nvSpPr>
          <p:cNvPr id="67" name="Unconfirmed low"/>
          <p:cNvSpPr/>
          <p:nvPr/>
        </p:nvSpPr>
        <p:spPr>
          <a:xfrm>
            <a:off x="4773168" y="3767328"/>
            <a:ext cx="137160" cy="137160"/>
          </a:xfrm>
          <a:prstGeom prst="ellipse">
            <a:avLst/>
          </a:prstGeom>
          <a:solidFill>
            <a:schemeClr val="bg2"/>
          </a:solidFill>
          <a:ln w="9525">
            <a:solidFill>
              <a:srgbClr val="9A99AD"/>
            </a:solidFill>
            <a:prstDash val="solid"/>
          </a:ln>
        </p:spPr>
      </p:sp>
      <p:sp>
        <p:nvSpPr>
          <p:cNvPr id="68" name="Unconfirmed low"/>
          <p:cNvSpPr/>
          <p:nvPr/>
        </p:nvSpPr>
        <p:spPr>
          <a:xfrm>
            <a:off x="4956048" y="3767328"/>
            <a:ext cx="137160" cy="137160"/>
          </a:xfrm>
          <a:prstGeom prst="ellipse">
            <a:avLst/>
          </a:prstGeom>
          <a:solidFill>
            <a:schemeClr val="bg2"/>
          </a:solidFill>
          <a:ln w="9525">
            <a:solidFill>
              <a:srgbClr val="9A99AD"/>
            </a:solidFill>
            <a:prstDash val="solid"/>
          </a:ln>
        </p:spPr>
      </p:sp>
      <p:sp>
        <p:nvSpPr>
          <p:cNvPr id="69" name="Unconfirmed low"/>
          <p:cNvSpPr/>
          <p:nvPr/>
        </p:nvSpPr>
        <p:spPr>
          <a:xfrm>
            <a:off x="5138928" y="3767328"/>
            <a:ext cx="137160" cy="137160"/>
          </a:xfrm>
          <a:prstGeom prst="ellipse">
            <a:avLst/>
          </a:prstGeom>
          <a:solidFill>
            <a:schemeClr val="bg2"/>
          </a:solidFill>
          <a:ln w="9525">
            <a:solidFill>
              <a:srgbClr val="9A99AD"/>
            </a:solidFill>
            <a:prstDash val="solid"/>
          </a:ln>
        </p:spPr>
      </p:sp>
      <p:sp>
        <p:nvSpPr>
          <p:cNvPr id="70" name="Unconfirmed low"/>
          <p:cNvSpPr/>
          <p:nvPr/>
        </p:nvSpPr>
        <p:spPr>
          <a:xfrm>
            <a:off x="5321808" y="3767328"/>
            <a:ext cx="137160" cy="137160"/>
          </a:xfrm>
          <a:prstGeom prst="ellipse">
            <a:avLst/>
          </a:prstGeom>
          <a:solidFill>
            <a:schemeClr val="bg2"/>
          </a:solidFill>
          <a:ln w="9525">
            <a:solidFill>
              <a:srgbClr val="9A99AD"/>
            </a:solidFill>
            <a:prstDash val="solid"/>
          </a:ln>
        </p:spPr>
      </p:sp>
      <p:sp>
        <p:nvSpPr>
          <p:cNvPr id="71" name="Unconfirmed low"/>
          <p:cNvSpPr/>
          <p:nvPr/>
        </p:nvSpPr>
        <p:spPr>
          <a:xfrm>
            <a:off x="5504688" y="3767328"/>
            <a:ext cx="137160" cy="137160"/>
          </a:xfrm>
          <a:prstGeom prst="ellipse">
            <a:avLst/>
          </a:prstGeom>
          <a:solidFill>
            <a:schemeClr val="bg2"/>
          </a:solidFill>
          <a:ln w="9525">
            <a:solidFill>
              <a:srgbClr val="9A99AD"/>
            </a:solidFill>
            <a:prstDash val="solid"/>
          </a:ln>
        </p:spPr>
      </p:sp>
      <p:sp>
        <p:nvSpPr>
          <p:cNvPr id="72" name="Unconfirmed low"/>
          <p:cNvSpPr/>
          <p:nvPr/>
        </p:nvSpPr>
        <p:spPr>
          <a:xfrm>
            <a:off x="5687568" y="3767328"/>
            <a:ext cx="137160" cy="137160"/>
          </a:xfrm>
          <a:prstGeom prst="ellipse">
            <a:avLst/>
          </a:prstGeom>
          <a:solidFill>
            <a:schemeClr val="bg2"/>
          </a:solidFill>
          <a:ln w="9525">
            <a:solidFill>
              <a:srgbClr val="9A99AD"/>
            </a:solidFill>
            <a:prstDash val="solid"/>
          </a:ln>
        </p:spPr>
      </p:sp>
      <p:sp>
        <p:nvSpPr>
          <p:cNvPr id="73" name="Unconfirmed low"/>
          <p:cNvSpPr/>
          <p:nvPr/>
        </p:nvSpPr>
        <p:spPr>
          <a:xfrm>
            <a:off x="5870448" y="3767328"/>
            <a:ext cx="137160" cy="137160"/>
          </a:xfrm>
          <a:prstGeom prst="ellipse">
            <a:avLst/>
          </a:prstGeom>
          <a:solidFill>
            <a:schemeClr val="bg2"/>
          </a:solidFill>
          <a:ln w="9525">
            <a:solidFill>
              <a:srgbClr val="9A99AD"/>
            </a:solidFill>
            <a:prstDash val="solid"/>
          </a:ln>
        </p:spPr>
      </p:sp>
      <p:sp>
        <p:nvSpPr>
          <p:cNvPr id="74" name="Unconfirmed low"/>
          <p:cNvSpPr/>
          <p:nvPr/>
        </p:nvSpPr>
        <p:spPr>
          <a:xfrm>
            <a:off x="6053328" y="3767328"/>
            <a:ext cx="137160" cy="137160"/>
          </a:xfrm>
          <a:prstGeom prst="ellipse">
            <a:avLst/>
          </a:prstGeom>
          <a:solidFill>
            <a:schemeClr val="bg2"/>
          </a:solidFill>
          <a:ln w="9525">
            <a:solidFill>
              <a:srgbClr val="9A99AD"/>
            </a:solidFill>
            <a:prstDash val="solid"/>
          </a:ln>
        </p:spPr>
      </p:sp>
      <p:sp>
        <p:nvSpPr>
          <p:cNvPr id="75" name="Unconfirmed low"/>
          <p:cNvSpPr/>
          <p:nvPr/>
        </p:nvSpPr>
        <p:spPr>
          <a:xfrm>
            <a:off x="6236208" y="3767328"/>
            <a:ext cx="137160" cy="137160"/>
          </a:xfrm>
          <a:prstGeom prst="ellipse">
            <a:avLst/>
          </a:prstGeom>
          <a:solidFill>
            <a:schemeClr val="bg2"/>
          </a:solidFill>
          <a:ln w="9525">
            <a:solidFill>
              <a:srgbClr val="9A99AD"/>
            </a:solidFill>
            <a:prstDash val="solid"/>
          </a:ln>
        </p:spPr>
      </p:sp>
      <p:sp>
        <p:nvSpPr>
          <p:cNvPr id="76" name="Unconfirmed low"/>
          <p:cNvSpPr/>
          <p:nvPr/>
        </p:nvSpPr>
        <p:spPr>
          <a:xfrm>
            <a:off x="6419088" y="3767328"/>
            <a:ext cx="137160" cy="137160"/>
          </a:xfrm>
          <a:prstGeom prst="ellipse">
            <a:avLst/>
          </a:prstGeom>
          <a:solidFill>
            <a:schemeClr val="bg2"/>
          </a:solidFill>
          <a:ln w="9525">
            <a:solidFill>
              <a:srgbClr val="9A99AD"/>
            </a:solidFill>
            <a:prstDash val="solid"/>
          </a:ln>
        </p:spPr>
      </p:sp>
      <p:sp>
        <p:nvSpPr>
          <p:cNvPr id="77" name="Unconfirmed low"/>
          <p:cNvSpPr/>
          <p:nvPr/>
        </p:nvSpPr>
        <p:spPr>
          <a:xfrm>
            <a:off x="6601968" y="3767328"/>
            <a:ext cx="137160" cy="137160"/>
          </a:xfrm>
          <a:prstGeom prst="ellipse">
            <a:avLst/>
          </a:prstGeom>
          <a:solidFill>
            <a:schemeClr val="bg2"/>
          </a:solidFill>
          <a:ln w="9525">
            <a:solidFill>
              <a:srgbClr val="9A99AD"/>
            </a:solidFill>
            <a:prstDash val="solid"/>
          </a:ln>
        </p:spPr>
      </p:sp>
      <p:sp>
        <p:nvSpPr>
          <p:cNvPr id="78" name="Unconfirmed low"/>
          <p:cNvSpPr/>
          <p:nvPr/>
        </p:nvSpPr>
        <p:spPr>
          <a:xfrm>
            <a:off x="6784848" y="3767328"/>
            <a:ext cx="137160" cy="137160"/>
          </a:xfrm>
          <a:prstGeom prst="ellipse">
            <a:avLst/>
          </a:prstGeom>
          <a:solidFill>
            <a:schemeClr val="bg2"/>
          </a:solidFill>
          <a:ln w="9525">
            <a:solidFill>
              <a:srgbClr val="9A99AD"/>
            </a:solidFill>
            <a:prstDash val="solid"/>
          </a:ln>
        </p:spPr>
      </p:sp>
      <p:sp>
        <p:nvSpPr>
          <p:cNvPr id="79" name="Unconfirmed low"/>
          <p:cNvSpPr/>
          <p:nvPr/>
        </p:nvSpPr>
        <p:spPr>
          <a:xfrm>
            <a:off x="6967728" y="3767328"/>
            <a:ext cx="137160" cy="137160"/>
          </a:xfrm>
          <a:prstGeom prst="ellipse">
            <a:avLst/>
          </a:prstGeom>
          <a:solidFill>
            <a:schemeClr val="bg2"/>
          </a:solidFill>
          <a:ln w="9525">
            <a:solidFill>
              <a:srgbClr val="9A99AD"/>
            </a:solidFill>
            <a:prstDash val="solid"/>
          </a:ln>
        </p:spPr>
      </p:sp>
      <p:sp>
        <p:nvSpPr>
          <p:cNvPr id="80" name="Unconfirmed low"/>
          <p:cNvSpPr/>
          <p:nvPr/>
        </p:nvSpPr>
        <p:spPr>
          <a:xfrm>
            <a:off x="7150608" y="3767328"/>
            <a:ext cx="137160" cy="137160"/>
          </a:xfrm>
          <a:prstGeom prst="ellipse">
            <a:avLst/>
          </a:prstGeom>
          <a:solidFill>
            <a:schemeClr val="bg2"/>
          </a:solidFill>
          <a:ln w="9525">
            <a:solidFill>
              <a:srgbClr val="9A99AD"/>
            </a:solidFill>
            <a:prstDash val="solid"/>
          </a:ln>
        </p:spPr>
      </p:sp>
      <p:sp>
        <p:nvSpPr>
          <p:cNvPr id="81" name="Unconfirmed low"/>
          <p:cNvSpPr/>
          <p:nvPr/>
        </p:nvSpPr>
        <p:spPr>
          <a:xfrm>
            <a:off x="7333488" y="3767328"/>
            <a:ext cx="137160" cy="137160"/>
          </a:xfrm>
          <a:prstGeom prst="ellipse">
            <a:avLst/>
          </a:prstGeom>
          <a:solidFill>
            <a:schemeClr val="bg2"/>
          </a:solidFill>
          <a:ln w="9525">
            <a:solidFill>
              <a:srgbClr val="9A99AD"/>
            </a:solidFill>
            <a:prstDash val="solid"/>
          </a:ln>
        </p:spPr>
      </p:sp>
      <p:sp>
        <p:nvSpPr>
          <p:cNvPr id="82" name="Text 80"/>
          <p:cNvSpPr txBox="1"/>
          <p:nvPr/>
        </p:nvSpPr>
        <p:spPr>
          <a:xfrm>
            <a:off x="4590288" y="4178808"/>
            <a:ext cx="3017520" cy="822960"/>
          </a:xfrm>
          <a:prstGeom prst="rect">
            <a:avLst/>
          </a:prstGeom>
          <a:noFill/>
          <a:ln/>
        </p:spPr>
        <p:txBody>
          <a:bodyPr wrap="square" lIns="0" tIns="0" rIns="0" bIns="0" rtlCol="0" anchor="t"/>
          <a:lstStyle/>
          <a:p>
            <a:pPr indent="0" marL="0">
              <a:buNone/>
            </a:pPr>
            <a:r>
              <a:rPr lang="en-US" sz="1400" dirty="0">
                <a:solidFill>
                  <a:schemeClr val="tx1"/>
                </a:solidFill>
              </a:rPr>
              <a:t>None of the 9 night-time lows was confirmed. Unconfirmed is not the same as false.</a:t>
            </a:r>
            <a:endParaRPr lang="en-US" sz="1400" dirty="0"/>
          </a:p>
        </p:txBody>
      </p:sp>
      <p:sp>
        <p:nvSpPr>
          <p:cNvPr id="83" name="Text 81"/>
          <p:cNvSpPr txBox="1"/>
          <p:nvPr/>
        </p:nvSpPr>
        <p:spPr>
          <a:xfrm>
            <a:off x="4590288" y="5047488"/>
            <a:ext cx="3017520" cy="822960"/>
          </a:xfrm>
          <a:prstGeom prst="rect">
            <a:avLst/>
          </a:prstGeom>
          <a:noFill/>
          <a:ln/>
        </p:spPr>
        <p:txBody>
          <a:bodyPr wrap="square" lIns="0" tIns="0" rIns="0" bIns="0" rtlCol="0" anchor="t"/>
          <a:lstStyle/>
          <a:p>
            <a:pPr indent="0" marL="0">
              <a:buNone/>
            </a:pPr>
            <a:r>
              <a:rPr lang="en-US" sz="1200" dirty="0">
                <a:solidFill>
                  <a:schemeClr val="tx2"/>
                </a:solidFill>
              </a:rPr>
              <a:t>Readings below 70 mg/dL with a fingerstick within 10 minutes. Descriptive, no bar.</a:t>
            </a:r>
            <a:endParaRPr lang="en-US" sz="1200" dirty="0"/>
          </a:p>
        </p:txBody>
      </p:sp>
      <p:sp>
        <p:nvSpPr>
          <p:cNvPr id="84" name="Text 82"/>
          <p:cNvSpPr txBox="1"/>
          <p:nvPr/>
        </p:nvSpPr>
        <p:spPr>
          <a:xfrm>
            <a:off x="8375904" y="1773936"/>
            <a:ext cx="3017520" cy="274320"/>
          </a:xfrm>
          <a:prstGeom prst="rect">
            <a:avLst/>
          </a:prstGeom>
          <a:noFill/>
          <a:ln/>
        </p:spPr>
        <p:txBody>
          <a:bodyPr wrap="square" lIns="0" tIns="0" rIns="0" bIns="0" rtlCol="0" anchor="t"/>
          <a:lstStyle/>
          <a:p>
            <a:pPr indent="0" marL="0">
              <a:buNone/>
            </a:pPr>
            <a:r>
              <a:rPr lang="en-US" sz="1100" b="1" spc="100" kern="0" dirty="0">
                <a:solidFill>
                  <a:schemeClr val="accent2"/>
                </a:solidFill>
              </a:rPr>
              <a:t>A PROMPT, NOT A FINDING</a:t>
            </a:r>
            <a:endParaRPr lang="en-US" sz="1100" dirty="0"/>
          </a:p>
        </p:txBody>
      </p:sp>
      <p:sp>
        <p:nvSpPr>
          <p:cNvPr id="85" name="Text 83"/>
          <p:cNvSpPr txBox="1"/>
          <p:nvPr/>
        </p:nvSpPr>
        <p:spPr>
          <a:xfrm>
            <a:off x="8375904" y="2103120"/>
            <a:ext cx="3017520" cy="685800"/>
          </a:xfrm>
          <a:prstGeom prst="rect">
            <a:avLst/>
          </a:prstGeom>
          <a:noFill/>
          <a:ln/>
        </p:spPr>
        <p:txBody>
          <a:bodyPr wrap="square" lIns="0" tIns="0" rIns="0" bIns="0" rtlCol="0" anchor="t"/>
          <a:lstStyle/>
          <a:p>
            <a:pPr indent="0" marL="0">
              <a:buNone/>
            </a:pPr>
            <a:r>
              <a:rPr lang="en-US" sz="3800" b="1" dirty="0">
                <a:solidFill>
                  <a:schemeClr val="tx1"/>
                </a:solidFill>
                <a:latin typeface="Cambria" pitchFamily="34" charset="0"/>
                <a:ea typeface="Cambria" pitchFamily="34" charset="-122"/>
                <a:cs typeface="Cambria" pitchFamily="34" charset="-120"/>
              </a:rPr>
              <a:t>0.82</a:t>
            </a:r>
            <a:endParaRPr lang="en-US" sz="3800" dirty="0"/>
          </a:p>
        </p:txBody>
      </p:sp>
      <p:sp>
        <p:nvSpPr>
          <p:cNvPr id="86" name="Text 84"/>
          <p:cNvSpPr txBox="1"/>
          <p:nvPr/>
        </p:nvSpPr>
        <p:spPr>
          <a:xfrm>
            <a:off x="8375904" y="2761488"/>
            <a:ext cx="3017520" cy="274320"/>
          </a:xfrm>
          <a:prstGeom prst="rect">
            <a:avLst/>
          </a:prstGeom>
          <a:noFill/>
          <a:ln/>
        </p:spPr>
        <p:txBody>
          <a:bodyPr wrap="square" lIns="0" tIns="0" rIns="0" bIns="0" rtlCol="0" anchor="t"/>
          <a:lstStyle/>
          <a:p>
            <a:pPr indent="0" marL="0">
              <a:buNone/>
            </a:pPr>
            <a:r>
              <a:rPr lang="en-US" sz="1300" dirty="0">
                <a:solidFill>
                  <a:srgbClr val="6B6A80"/>
                </a:solidFill>
              </a:rPr>
              <a:t>AUROC for a drifted sensor report (0.63 to 0.98)</a:t>
            </a:r>
            <a:endParaRPr lang="en-US" sz="1300" dirty="0"/>
          </a:p>
        </p:txBody>
      </p:sp>
      <p:sp>
        <p:nvSpPr>
          <p:cNvPr id="87" name="Raised"/>
          <p:cNvSpPr/>
          <p:nvPr/>
        </p:nvSpPr>
        <p:spPr>
          <a:xfrm>
            <a:off x="8375904" y="3264408"/>
            <a:ext cx="173736" cy="173736"/>
          </a:xfrm>
          <a:prstGeom prst="ellipse">
            <a:avLst/>
          </a:prstGeom>
          <a:solidFill>
            <a:schemeClr val="accent1"/>
          </a:solidFill>
          <a:ln w="12700">
            <a:solidFill>
              <a:schemeClr val="accent1"/>
            </a:solidFill>
            <a:prstDash val="solid"/>
          </a:ln>
        </p:spPr>
      </p:sp>
      <p:sp>
        <p:nvSpPr>
          <p:cNvPr id="88" name="Raised"/>
          <p:cNvSpPr/>
          <p:nvPr/>
        </p:nvSpPr>
        <p:spPr>
          <a:xfrm>
            <a:off x="8650224" y="3264408"/>
            <a:ext cx="173736" cy="173736"/>
          </a:xfrm>
          <a:prstGeom prst="ellipse">
            <a:avLst/>
          </a:prstGeom>
          <a:solidFill>
            <a:schemeClr val="accent1"/>
          </a:solidFill>
          <a:ln w="12700">
            <a:solidFill>
              <a:schemeClr val="accent1"/>
            </a:solidFill>
            <a:prstDash val="solid"/>
          </a:ln>
        </p:spPr>
      </p:sp>
      <p:sp>
        <p:nvSpPr>
          <p:cNvPr id="89" name="Raised"/>
          <p:cNvSpPr/>
          <p:nvPr/>
        </p:nvSpPr>
        <p:spPr>
          <a:xfrm>
            <a:off x="8924544" y="3264408"/>
            <a:ext cx="173736" cy="173736"/>
          </a:xfrm>
          <a:prstGeom prst="ellipse">
            <a:avLst/>
          </a:prstGeom>
          <a:solidFill>
            <a:schemeClr val="accent1"/>
          </a:solidFill>
          <a:ln w="12700">
            <a:solidFill>
              <a:schemeClr val="accent1"/>
            </a:solidFill>
            <a:prstDash val="solid"/>
          </a:ln>
        </p:spPr>
      </p:sp>
      <p:sp>
        <p:nvSpPr>
          <p:cNvPr id="90" name="Raised"/>
          <p:cNvSpPr/>
          <p:nvPr/>
        </p:nvSpPr>
        <p:spPr>
          <a:xfrm>
            <a:off x="9198864" y="3264408"/>
            <a:ext cx="173736" cy="173736"/>
          </a:xfrm>
          <a:prstGeom prst="ellipse">
            <a:avLst/>
          </a:prstGeom>
          <a:solidFill>
            <a:schemeClr val="accent1"/>
          </a:solidFill>
          <a:ln w="12700">
            <a:solidFill>
              <a:schemeClr val="accent1"/>
            </a:solidFill>
            <a:prstDash val="solid"/>
          </a:ln>
        </p:spPr>
      </p:sp>
      <p:sp>
        <p:nvSpPr>
          <p:cNvPr id="91" name="Raised"/>
          <p:cNvSpPr/>
          <p:nvPr/>
        </p:nvSpPr>
        <p:spPr>
          <a:xfrm>
            <a:off x="9473184" y="3264408"/>
            <a:ext cx="173736" cy="173736"/>
          </a:xfrm>
          <a:prstGeom prst="ellipse">
            <a:avLst/>
          </a:prstGeom>
          <a:solidFill>
            <a:schemeClr val="accent1"/>
          </a:solidFill>
          <a:ln w="12700">
            <a:solidFill>
              <a:schemeClr val="accent1"/>
            </a:solidFill>
            <a:prstDash val="solid"/>
          </a:ln>
        </p:spPr>
      </p:sp>
      <p:sp>
        <p:nvSpPr>
          <p:cNvPr id="92" name="Raised"/>
          <p:cNvSpPr/>
          <p:nvPr/>
        </p:nvSpPr>
        <p:spPr>
          <a:xfrm>
            <a:off x="9747504" y="3264408"/>
            <a:ext cx="173736" cy="173736"/>
          </a:xfrm>
          <a:prstGeom prst="ellipse">
            <a:avLst/>
          </a:prstGeom>
          <a:solidFill>
            <a:schemeClr val="accent1"/>
          </a:solidFill>
          <a:ln w="12700">
            <a:solidFill>
              <a:schemeClr val="accent1"/>
            </a:solidFill>
            <a:prstDash val="solid"/>
          </a:ln>
        </p:spPr>
      </p:sp>
      <p:sp>
        <p:nvSpPr>
          <p:cNvPr id="93" name="Raised"/>
          <p:cNvSpPr/>
          <p:nvPr/>
        </p:nvSpPr>
        <p:spPr>
          <a:xfrm>
            <a:off x="10021824" y="3264408"/>
            <a:ext cx="173736" cy="173736"/>
          </a:xfrm>
          <a:prstGeom prst="ellipse">
            <a:avLst/>
          </a:prstGeom>
          <a:solidFill>
            <a:schemeClr val="accent1"/>
          </a:solidFill>
          <a:ln w="12700">
            <a:solidFill>
              <a:schemeClr val="accent1"/>
            </a:solidFill>
            <a:prstDash val="solid"/>
          </a:ln>
        </p:spPr>
      </p:sp>
      <p:sp>
        <p:nvSpPr>
          <p:cNvPr id="94" name="Not raised"/>
          <p:cNvSpPr/>
          <p:nvPr/>
        </p:nvSpPr>
        <p:spPr>
          <a:xfrm>
            <a:off x="10296144" y="3264408"/>
            <a:ext cx="173736" cy="173736"/>
          </a:xfrm>
          <a:prstGeom prst="ellipse">
            <a:avLst/>
          </a:prstGeom>
          <a:solidFill>
            <a:schemeClr val="bg2"/>
          </a:solidFill>
          <a:ln w="9525">
            <a:solidFill>
              <a:srgbClr val="9A99AD"/>
            </a:solidFill>
            <a:prstDash val="solid"/>
          </a:ln>
        </p:spPr>
      </p:sp>
      <p:sp>
        <p:nvSpPr>
          <p:cNvPr id="95" name="Not raised"/>
          <p:cNvSpPr/>
          <p:nvPr/>
        </p:nvSpPr>
        <p:spPr>
          <a:xfrm>
            <a:off x="10570464" y="3264408"/>
            <a:ext cx="173736" cy="173736"/>
          </a:xfrm>
          <a:prstGeom prst="ellipse">
            <a:avLst/>
          </a:prstGeom>
          <a:solidFill>
            <a:schemeClr val="bg2"/>
          </a:solidFill>
          <a:ln w="9525">
            <a:solidFill>
              <a:srgbClr val="9A99AD"/>
            </a:solidFill>
            <a:prstDash val="solid"/>
          </a:ln>
        </p:spPr>
      </p:sp>
      <p:sp>
        <p:nvSpPr>
          <p:cNvPr id="96" name="Not raised"/>
          <p:cNvSpPr/>
          <p:nvPr/>
        </p:nvSpPr>
        <p:spPr>
          <a:xfrm>
            <a:off x="10844784" y="3264408"/>
            <a:ext cx="173736" cy="173736"/>
          </a:xfrm>
          <a:prstGeom prst="ellipse">
            <a:avLst/>
          </a:prstGeom>
          <a:solidFill>
            <a:schemeClr val="bg2"/>
          </a:solidFill>
          <a:ln w="9525">
            <a:solidFill>
              <a:srgbClr val="9A99AD"/>
            </a:solidFill>
            <a:prstDash val="solid"/>
          </a:ln>
        </p:spPr>
      </p:sp>
      <p:sp>
        <p:nvSpPr>
          <p:cNvPr id="97" name="Not raised"/>
          <p:cNvSpPr/>
          <p:nvPr/>
        </p:nvSpPr>
        <p:spPr>
          <a:xfrm>
            <a:off x="11119104" y="3264408"/>
            <a:ext cx="173736" cy="173736"/>
          </a:xfrm>
          <a:prstGeom prst="ellipse">
            <a:avLst/>
          </a:prstGeom>
          <a:solidFill>
            <a:schemeClr val="bg2"/>
          </a:solidFill>
          <a:ln w="9525">
            <a:solidFill>
              <a:srgbClr val="9A99AD"/>
            </a:solidFill>
            <a:prstDash val="solid"/>
          </a:ln>
        </p:spPr>
      </p:sp>
      <p:sp>
        <p:nvSpPr>
          <p:cNvPr id="98" name="Text 96"/>
          <p:cNvSpPr txBox="1"/>
          <p:nvPr/>
        </p:nvSpPr>
        <p:spPr>
          <a:xfrm>
            <a:off x="8375904" y="3538728"/>
            <a:ext cx="3017520" cy="237744"/>
          </a:xfrm>
          <a:prstGeom prst="rect">
            <a:avLst/>
          </a:prstGeom>
          <a:noFill/>
          <a:ln/>
        </p:spPr>
        <p:txBody>
          <a:bodyPr wrap="square" lIns="0" tIns="0" rIns="0" bIns="0" rtlCol="0" anchor="t"/>
          <a:lstStyle/>
          <a:p>
            <a:pPr indent="0" marL="0">
              <a:buNone/>
            </a:pPr>
            <a:r>
              <a:rPr lang="en-US" sz="1100" dirty="0">
                <a:solidFill>
                  <a:srgbClr val="6B6A80"/>
                </a:solidFill>
              </a:rPr>
              <a:t>7 of 11 drifted recordings raised it</a:t>
            </a:r>
            <a:endParaRPr lang="en-US" sz="1100" dirty="0"/>
          </a:p>
        </p:txBody>
      </p:sp>
      <p:sp>
        <p:nvSpPr>
          <p:cNvPr id="99" name="Raised"/>
          <p:cNvSpPr/>
          <p:nvPr/>
        </p:nvSpPr>
        <p:spPr>
          <a:xfrm>
            <a:off x="8375904" y="4087368"/>
            <a:ext cx="173736" cy="173736"/>
          </a:xfrm>
          <a:prstGeom prst="ellipse">
            <a:avLst/>
          </a:prstGeom>
          <a:solidFill>
            <a:schemeClr val="accent1"/>
          </a:solidFill>
          <a:ln w="12700">
            <a:solidFill>
              <a:schemeClr val="accent1"/>
            </a:solidFill>
            <a:prstDash val="solid"/>
          </a:ln>
        </p:spPr>
      </p:sp>
      <p:sp>
        <p:nvSpPr>
          <p:cNvPr id="100" name="Raised"/>
          <p:cNvSpPr/>
          <p:nvPr/>
        </p:nvSpPr>
        <p:spPr>
          <a:xfrm>
            <a:off x="8650224" y="4087368"/>
            <a:ext cx="173736" cy="173736"/>
          </a:xfrm>
          <a:prstGeom prst="ellipse">
            <a:avLst/>
          </a:prstGeom>
          <a:solidFill>
            <a:schemeClr val="accent1"/>
          </a:solidFill>
          <a:ln w="12700">
            <a:solidFill>
              <a:schemeClr val="accent1"/>
            </a:solidFill>
            <a:prstDash val="solid"/>
          </a:ln>
        </p:spPr>
      </p:sp>
      <p:sp>
        <p:nvSpPr>
          <p:cNvPr id="101" name="Not raised"/>
          <p:cNvSpPr/>
          <p:nvPr/>
        </p:nvSpPr>
        <p:spPr>
          <a:xfrm>
            <a:off x="8924544" y="4087368"/>
            <a:ext cx="173736" cy="173736"/>
          </a:xfrm>
          <a:prstGeom prst="ellipse">
            <a:avLst/>
          </a:prstGeom>
          <a:solidFill>
            <a:schemeClr val="bg2"/>
          </a:solidFill>
          <a:ln w="9525">
            <a:solidFill>
              <a:srgbClr val="9A99AD"/>
            </a:solidFill>
            <a:prstDash val="solid"/>
          </a:ln>
        </p:spPr>
      </p:sp>
      <p:sp>
        <p:nvSpPr>
          <p:cNvPr id="102" name="Not raised"/>
          <p:cNvSpPr/>
          <p:nvPr/>
        </p:nvSpPr>
        <p:spPr>
          <a:xfrm>
            <a:off x="9198864" y="4087368"/>
            <a:ext cx="173736" cy="173736"/>
          </a:xfrm>
          <a:prstGeom prst="ellipse">
            <a:avLst/>
          </a:prstGeom>
          <a:solidFill>
            <a:schemeClr val="bg2"/>
          </a:solidFill>
          <a:ln w="9525">
            <a:solidFill>
              <a:srgbClr val="9A99AD"/>
            </a:solidFill>
            <a:prstDash val="solid"/>
          </a:ln>
        </p:spPr>
      </p:sp>
      <p:sp>
        <p:nvSpPr>
          <p:cNvPr id="103" name="Not raised"/>
          <p:cNvSpPr/>
          <p:nvPr/>
        </p:nvSpPr>
        <p:spPr>
          <a:xfrm>
            <a:off x="9473184" y="4087368"/>
            <a:ext cx="173736" cy="173736"/>
          </a:xfrm>
          <a:prstGeom prst="ellipse">
            <a:avLst/>
          </a:prstGeom>
          <a:solidFill>
            <a:schemeClr val="bg2"/>
          </a:solidFill>
          <a:ln w="9525">
            <a:solidFill>
              <a:srgbClr val="9A99AD"/>
            </a:solidFill>
            <a:prstDash val="solid"/>
          </a:ln>
        </p:spPr>
      </p:sp>
      <p:sp>
        <p:nvSpPr>
          <p:cNvPr id="104" name="Not raised"/>
          <p:cNvSpPr/>
          <p:nvPr/>
        </p:nvSpPr>
        <p:spPr>
          <a:xfrm>
            <a:off x="9747504" y="4087368"/>
            <a:ext cx="173736" cy="173736"/>
          </a:xfrm>
          <a:prstGeom prst="ellipse">
            <a:avLst/>
          </a:prstGeom>
          <a:solidFill>
            <a:schemeClr val="bg2"/>
          </a:solidFill>
          <a:ln w="9525">
            <a:solidFill>
              <a:srgbClr val="9A99AD"/>
            </a:solidFill>
            <a:prstDash val="solid"/>
          </a:ln>
        </p:spPr>
      </p:sp>
      <p:sp>
        <p:nvSpPr>
          <p:cNvPr id="105" name="Not raised"/>
          <p:cNvSpPr/>
          <p:nvPr/>
        </p:nvSpPr>
        <p:spPr>
          <a:xfrm>
            <a:off x="10021824" y="4087368"/>
            <a:ext cx="173736" cy="173736"/>
          </a:xfrm>
          <a:prstGeom prst="ellipse">
            <a:avLst/>
          </a:prstGeom>
          <a:solidFill>
            <a:schemeClr val="bg2"/>
          </a:solidFill>
          <a:ln w="9525">
            <a:solidFill>
              <a:srgbClr val="9A99AD"/>
            </a:solidFill>
            <a:prstDash val="solid"/>
          </a:ln>
        </p:spPr>
      </p:sp>
      <p:sp>
        <p:nvSpPr>
          <p:cNvPr id="106" name="Not raised"/>
          <p:cNvSpPr/>
          <p:nvPr/>
        </p:nvSpPr>
        <p:spPr>
          <a:xfrm>
            <a:off x="10296144" y="4087368"/>
            <a:ext cx="173736" cy="173736"/>
          </a:xfrm>
          <a:prstGeom prst="ellipse">
            <a:avLst/>
          </a:prstGeom>
          <a:solidFill>
            <a:schemeClr val="bg2"/>
          </a:solidFill>
          <a:ln w="9525">
            <a:solidFill>
              <a:srgbClr val="9A99AD"/>
            </a:solidFill>
            <a:prstDash val="solid"/>
          </a:ln>
        </p:spPr>
      </p:sp>
      <p:sp>
        <p:nvSpPr>
          <p:cNvPr id="107" name="Not raised"/>
          <p:cNvSpPr/>
          <p:nvPr/>
        </p:nvSpPr>
        <p:spPr>
          <a:xfrm>
            <a:off x="10570464" y="4087368"/>
            <a:ext cx="173736" cy="173736"/>
          </a:xfrm>
          <a:prstGeom prst="ellipse">
            <a:avLst/>
          </a:prstGeom>
          <a:solidFill>
            <a:schemeClr val="bg2"/>
          </a:solidFill>
          <a:ln w="9525">
            <a:solidFill>
              <a:srgbClr val="9A99AD"/>
            </a:solidFill>
            <a:prstDash val="solid"/>
          </a:ln>
        </p:spPr>
      </p:sp>
      <p:sp>
        <p:nvSpPr>
          <p:cNvPr id="108" name="Not raised"/>
          <p:cNvSpPr/>
          <p:nvPr/>
        </p:nvSpPr>
        <p:spPr>
          <a:xfrm>
            <a:off x="10844784" y="4087368"/>
            <a:ext cx="173736" cy="173736"/>
          </a:xfrm>
          <a:prstGeom prst="ellipse">
            <a:avLst/>
          </a:prstGeom>
          <a:solidFill>
            <a:schemeClr val="bg2"/>
          </a:solidFill>
          <a:ln w="9525">
            <a:solidFill>
              <a:srgbClr val="9A99AD"/>
            </a:solidFill>
            <a:prstDash val="solid"/>
          </a:ln>
        </p:spPr>
      </p:sp>
      <p:sp>
        <p:nvSpPr>
          <p:cNvPr id="109" name="Not raised"/>
          <p:cNvSpPr/>
          <p:nvPr/>
        </p:nvSpPr>
        <p:spPr>
          <a:xfrm>
            <a:off x="11119104" y="4087368"/>
            <a:ext cx="173736" cy="173736"/>
          </a:xfrm>
          <a:prstGeom prst="ellipse">
            <a:avLst/>
          </a:prstGeom>
          <a:solidFill>
            <a:schemeClr val="bg2"/>
          </a:solidFill>
          <a:ln w="9525">
            <a:solidFill>
              <a:srgbClr val="9A99AD"/>
            </a:solidFill>
            <a:prstDash val="solid"/>
          </a:ln>
        </p:spPr>
      </p:sp>
      <p:sp>
        <p:nvSpPr>
          <p:cNvPr id="110" name="Not raised"/>
          <p:cNvSpPr/>
          <p:nvPr/>
        </p:nvSpPr>
        <p:spPr>
          <a:xfrm>
            <a:off x="8375904" y="4343400"/>
            <a:ext cx="173736" cy="173736"/>
          </a:xfrm>
          <a:prstGeom prst="ellipse">
            <a:avLst/>
          </a:prstGeom>
          <a:solidFill>
            <a:schemeClr val="bg2"/>
          </a:solidFill>
          <a:ln w="9525">
            <a:solidFill>
              <a:srgbClr val="9A99AD"/>
            </a:solidFill>
            <a:prstDash val="solid"/>
          </a:ln>
        </p:spPr>
      </p:sp>
      <p:sp>
        <p:nvSpPr>
          <p:cNvPr id="111" name="Not raised"/>
          <p:cNvSpPr/>
          <p:nvPr/>
        </p:nvSpPr>
        <p:spPr>
          <a:xfrm>
            <a:off x="8650224" y="4343400"/>
            <a:ext cx="173736" cy="173736"/>
          </a:xfrm>
          <a:prstGeom prst="ellipse">
            <a:avLst/>
          </a:prstGeom>
          <a:solidFill>
            <a:schemeClr val="bg2"/>
          </a:solidFill>
          <a:ln w="9525">
            <a:solidFill>
              <a:srgbClr val="9A99AD"/>
            </a:solidFill>
            <a:prstDash val="solid"/>
          </a:ln>
        </p:spPr>
      </p:sp>
      <p:sp>
        <p:nvSpPr>
          <p:cNvPr id="112" name="Not raised"/>
          <p:cNvSpPr/>
          <p:nvPr/>
        </p:nvSpPr>
        <p:spPr>
          <a:xfrm>
            <a:off x="8924544" y="4343400"/>
            <a:ext cx="173736" cy="173736"/>
          </a:xfrm>
          <a:prstGeom prst="ellipse">
            <a:avLst/>
          </a:prstGeom>
          <a:solidFill>
            <a:schemeClr val="bg2"/>
          </a:solidFill>
          <a:ln w="9525">
            <a:solidFill>
              <a:srgbClr val="9A99AD"/>
            </a:solidFill>
            <a:prstDash val="solid"/>
          </a:ln>
        </p:spPr>
      </p:sp>
      <p:sp>
        <p:nvSpPr>
          <p:cNvPr id="113" name="Not raised"/>
          <p:cNvSpPr/>
          <p:nvPr/>
        </p:nvSpPr>
        <p:spPr>
          <a:xfrm>
            <a:off x="9198864" y="4343400"/>
            <a:ext cx="173736" cy="173736"/>
          </a:xfrm>
          <a:prstGeom prst="ellipse">
            <a:avLst/>
          </a:prstGeom>
          <a:solidFill>
            <a:schemeClr val="bg2"/>
          </a:solidFill>
          <a:ln w="9525">
            <a:solidFill>
              <a:srgbClr val="9A99AD"/>
            </a:solidFill>
            <a:prstDash val="solid"/>
          </a:ln>
        </p:spPr>
      </p:sp>
      <p:sp>
        <p:nvSpPr>
          <p:cNvPr id="114" name="Not raised"/>
          <p:cNvSpPr/>
          <p:nvPr/>
        </p:nvSpPr>
        <p:spPr>
          <a:xfrm>
            <a:off x="9473184" y="4343400"/>
            <a:ext cx="173736" cy="173736"/>
          </a:xfrm>
          <a:prstGeom prst="ellipse">
            <a:avLst/>
          </a:prstGeom>
          <a:solidFill>
            <a:schemeClr val="bg2"/>
          </a:solidFill>
          <a:ln w="9525">
            <a:solidFill>
              <a:srgbClr val="9A99AD"/>
            </a:solidFill>
            <a:prstDash val="solid"/>
          </a:ln>
        </p:spPr>
      </p:sp>
      <p:sp>
        <p:nvSpPr>
          <p:cNvPr id="115" name="Not raised"/>
          <p:cNvSpPr/>
          <p:nvPr/>
        </p:nvSpPr>
        <p:spPr>
          <a:xfrm>
            <a:off x="9747504" y="4343400"/>
            <a:ext cx="173736" cy="173736"/>
          </a:xfrm>
          <a:prstGeom prst="ellipse">
            <a:avLst/>
          </a:prstGeom>
          <a:solidFill>
            <a:schemeClr val="bg2"/>
          </a:solidFill>
          <a:ln w="9525">
            <a:solidFill>
              <a:srgbClr val="9A99AD"/>
            </a:solidFill>
            <a:prstDash val="solid"/>
          </a:ln>
        </p:spPr>
      </p:sp>
      <p:sp>
        <p:nvSpPr>
          <p:cNvPr id="116" name="Not raised"/>
          <p:cNvSpPr/>
          <p:nvPr/>
        </p:nvSpPr>
        <p:spPr>
          <a:xfrm>
            <a:off x="10021824" y="4343400"/>
            <a:ext cx="173736" cy="173736"/>
          </a:xfrm>
          <a:prstGeom prst="ellipse">
            <a:avLst/>
          </a:prstGeom>
          <a:solidFill>
            <a:schemeClr val="bg2"/>
          </a:solidFill>
          <a:ln w="9525">
            <a:solidFill>
              <a:srgbClr val="9A99AD"/>
            </a:solidFill>
            <a:prstDash val="solid"/>
          </a:ln>
        </p:spPr>
      </p:sp>
      <p:sp>
        <p:nvSpPr>
          <p:cNvPr id="117" name="Not raised"/>
          <p:cNvSpPr/>
          <p:nvPr/>
        </p:nvSpPr>
        <p:spPr>
          <a:xfrm>
            <a:off x="10296144" y="4343400"/>
            <a:ext cx="173736" cy="173736"/>
          </a:xfrm>
          <a:prstGeom prst="ellipse">
            <a:avLst/>
          </a:prstGeom>
          <a:solidFill>
            <a:schemeClr val="bg2"/>
          </a:solidFill>
          <a:ln w="9525">
            <a:solidFill>
              <a:srgbClr val="9A99AD"/>
            </a:solidFill>
            <a:prstDash val="solid"/>
          </a:ln>
        </p:spPr>
      </p:sp>
      <p:sp>
        <p:nvSpPr>
          <p:cNvPr id="118" name="Not raised"/>
          <p:cNvSpPr/>
          <p:nvPr/>
        </p:nvSpPr>
        <p:spPr>
          <a:xfrm>
            <a:off x="10570464" y="4343400"/>
            <a:ext cx="173736" cy="173736"/>
          </a:xfrm>
          <a:prstGeom prst="ellipse">
            <a:avLst/>
          </a:prstGeom>
          <a:solidFill>
            <a:schemeClr val="bg2"/>
          </a:solidFill>
          <a:ln w="9525">
            <a:solidFill>
              <a:srgbClr val="9A99AD"/>
            </a:solidFill>
            <a:prstDash val="solid"/>
          </a:ln>
        </p:spPr>
      </p:sp>
      <p:sp>
        <p:nvSpPr>
          <p:cNvPr id="119" name="Not raised"/>
          <p:cNvSpPr/>
          <p:nvPr/>
        </p:nvSpPr>
        <p:spPr>
          <a:xfrm>
            <a:off x="10844784" y="4343400"/>
            <a:ext cx="173736" cy="173736"/>
          </a:xfrm>
          <a:prstGeom prst="ellipse">
            <a:avLst/>
          </a:prstGeom>
          <a:solidFill>
            <a:schemeClr val="bg2"/>
          </a:solidFill>
          <a:ln w="9525">
            <a:solidFill>
              <a:srgbClr val="9A99AD"/>
            </a:solidFill>
            <a:prstDash val="solid"/>
          </a:ln>
        </p:spPr>
      </p:sp>
      <p:sp>
        <p:nvSpPr>
          <p:cNvPr id="120" name="Text 118"/>
          <p:cNvSpPr txBox="1"/>
          <p:nvPr/>
        </p:nvSpPr>
        <p:spPr>
          <a:xfrm>
            <a:off x="8375904" y="4636008"/>
            <a:ext cx="3017520" cy="237744"/>
          </a:xfrm>
          <a:prstGeom prst="rect">
            <a:avLst/>
          </a:prstGeom>
          <a:noFill/>
          <a:ln/>
        </p:spPr>
        <p:txBody>
          <a:bodyPr wrap="square" lIns="0" tIns="0" rIns="0" bIns="0" rtlCol="0" anchor="t"/>
          <a:lstStyle/>
          <a:p>
            <a:pPr indent="0" marL="0">
              <a:buNone/>
            </a:pPr>
            <a:r>
              <a:rPr lang="en-US" sz="1100" dirty="0">
                <a:solidFill>
                  <a:srgbClr val="6B6A80"/>
                </a:solidFill>
              </a:rPr>
              <a:t>2 of 21 stable recordings raised it</a:t>
            </a:r>
            <a:endParaRPr lang="en-US" sz="1100" dirty="0"/>
          </a:p>
        </p:txBody>
      </p:sp>
      <p:sp>
        <p:nvSpPr>
          <p:cNvPr id="121" name="Text 119"/>
          <p:cNvSpPr txBox="1"/>
          <p:nvPr/>
        </p:nvSpPr>
        <p:spPr>
          <a:xfrm>
            <a:off x="8375904" y="4956048"/>
            <a:ext cx="3017520" cy="640080"/>
          </a:xfrm>
          <a:prstGeom prst="rect">
            <a:avLst/>
          </a:prstGeom>
          <a:noFill/>
          <a:ln/>
        </p:spPr>
        <p:txBody>
          <a:bodyPr wrap="square" lIns="0" tIns="0" rIns="0" bIns="0" rtlCol="0" anchor="t"/>
          <a:lstStyle/>
          <a:p>
            <a:pPr indent="0" marL="0">
              <a:buNone/>
            </a:pPr>
            <a:r>
              <a:rPr lang="en-US" sz="1400" dirty="0">
                <a:solidFill>
                  <a:schemeClr val="tx1"/>
                </a:solidFill>
              </a:rPr>
              <a:t>A running sum of fingerstick surprises. A plain comparison does as well (0.82).</a:t>
            </a:r>
            <a:endParaRPr lang="en-US" sz="1400" dirty="0"/>
          </a:p>
        </p:txBody>
      </p:sp>
      <p:sp>
        <p:nvSpPr>
          <p:cNvPr id="122" name="Text 120"/>
          <p:cNvSpPr txBox="1"/>
          <p:nvPr/>
        </p:nvSpPr>
        <p:spPr>
          <a:xfrm>
            <a:off x="8375904" y="5596128"/>
            <a:ext cx="3017520" cy="365760"/>
          </a:xfrm>
          <a:prstGeom prst="rect">
            <a:avLst/>
          </a:prstGeom>
          <a:noFill/>
          <a:ln/>
        </p:spPr>
        <p:txBody>
          <a:bodyPr wrap="square" lIns="0" tIns="0" rIns="0" bIns="0" rtlCol="0" anchor="t"/>
          <a:lstStyle/>
          <a:p>
            <a:pPr indent="0" marL="0">
              <a:buNone/>
            </a:pPr>
            <a:r>
              <a:rPr lang="en-US" sz="1200" dirty="0">
                <a:solidFill>
                  <a:schemeClr val="tx2"/>
                </a:solidFill>
              </a:rPr>
              <a:t>32 held-out recordings, supervised care.</a:t>
            </a:r>
            <a:endParaRPr lang="en-US" sz="1200" dirty="0"/>
          </a:p>
        </p:txBody>
      </p:sp>
      <p:sp>
        <p:nvSpPr>
          <p:cNvPr id="25" name="Slide Number Placeholder 0"/>
          <p:cNvSpPr>
            <a:spLocks noGrp="1"/>
          </p:cNvSpPr>
          <p:nvPr>
            <p:ph type="sldNum" sz="quarter" idx="4294967295"/>
          </p:nvPr>
        </p:nvSpPr>
        <p:spPr>
          <a:xfrm>
            <a:off x="10972800" y="6437376"/>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6A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1672" cy="960120"/>
          </a:xfrm>
          <a:prstGeom prst="rect">
            <a:avLst/>
          </a:prstGeom>
          <a:noFill/>
          <a:ln/>
        </p:spPr>
        <p:txBody>
          <a:bodyPr wrap="square" lIns="0" tIns="0" rIns="0" bIns="0" rtlCol="0" anchor="t"/>
          <a:lstStyle/>
          <a:p>
            <a:pPr algn="l" indent="0" marL="0">
              <a:buNone/>
            </a:pPr>
            <a:r>
              <a:rPr lang="en-US" sz="3200" b="1" dirty="0">
                <a:solidFill>
                  <a:schemeClr val="tx1"/>
                </a:solidFill>
              </a:rPr>
              <a:t>Honest limits, and what Indian validation would take</a:t>
            </a:r>
            <a:endParaRPr lang="en-US" sz="3200" dirty="0"/>
          </a:p>
        </p:txBody>
      </p:sp>
      <p:sp>
        <p:nvSpPr>
          <p:cNvPr id="3" name="Limits card"/>
          <p:cNvSpPr/>
          <p:nvPr/>
        </p:nvSpPr>
        <p:spPr>
          <a:xfrm>
            <a:off x="548640" y="1572768"/>
            <a:ext cx="5486400" cy="4572000"/>
          </a:xfrm>
          <a:prstGeom prst="rect">
            <a:avLst/>
          </a:prstGeom>
          <a:solidFill>
            <a:schemeClr val="bg2"/>
          </a:solidFill>
          <a:ln w="12700">
            <a:solidFill>
              <a:schemeClr val="bg2"/>
            </a:solidFill>
            <a:prstDash val="solid"/>
          </a:ln>
        </p:spPr>
      </p:sp>
      <p:sp>
        <p:nvSpPr>
          <p:cNvPr id="4" name="Text 2"/>
          <p:cNvSpPr txBox="1"/>
          <p:nvPr/>
        </p:nvSpPr>
        <p:spPr>
          <a:xfrm>
            <a:off x="822960" y="1755648"/>
            <a:ext cx="2743200" cy="274320"/>
          </a:xfrm>
          <a:prstGeom prst="rect">
            <a:avLst/>
          </a:prstGeom>
          <a:noFill/>
          <a:ln/>
        </p:spPr>
        <p:txBody>
          <a:bodyPr wrap="square" lIns="0" tIns="0" rIns="0" bIns="0" rtlCol="0" anchor="t"/>
          <a:lstStyle/>
          <a:p>
            <a:pPr indent="0" marL="0">
              <a:buNone/>
            </a:pPr>
            <a:r>
              <a:rPr lang="en-US" sz="1100" b="1" spc="150" kern="0" dirty="0">
                <a:solidFill>
                  <a:schemeClr val="accent5"/>
                </a:solidFill>
              </a:rPr>
              <a:t>LIMITS</a:t>
            </a:r>
            <a:endParaRPr lang="en-US" sz="1100" dirty="0"/>
          </a:p>
        </p:txBody>
      </p:sp>
      <p:sp>
        <p:nvSpPr>
          <p:cNvPr id="5" name="Text 3"/>
          <p:cNvSpPr txBox="1"/>
          <p:nvPr/>
        </p:nvSpPr>
        <p:spPr>
          <a:xfrm>
            <a:off x="822960" y="2148840"/>
            <a:ext cx="4937760" cy="914400"/>
          </a:xfrm>
          <a:prstGeom prst="rect">
            <a:avLst/>
          </a:prstGeom>
          <a:noFill/>
          <a:ln/>
        </p:spPr>
        <p:txBody>
          <a:bodyPr wrap="square" lIns="0" tIns="0" rIns="0" bIns="0" rtlCol="0" anchor="t"/>
          <a:lstStyle/>
          <a:p>
            <a:pPr indent="0" marL="0">
              <a:buNone/>
            </a:pPr>
            <a:r>
              <a:rPr lang="en-US" sz="1500" b="1" dirty="0">
                <a:solidFill>
                  <a:schemeClr val="tx1"/>
                </a:solidFill>
              </a:rPr>
              <a:t>No Indian patient data.</a:t>
            </a:r>
            <a:pPr indent="0" marL="0">
              <a:buNone/>
            </a:pPr>
            <a:r>
              <a:rPr lang="en-US" sz="1500" dirty="0">
                <a:solidFill>
                  <a:schemeClr val="tx2"/>
                </a:solidFill>
              </a:rPr>
              <a:t> The evidence is a supervised-care cohort (ShanghaiT2DM) and a free-living cohort of mixed glycaemic status (CGMacros).</a:t>
            </a:r>
            <a:endParaRPr lang="en-US" sz="1500" dirty="0"/>
          </a:p>
        </p:txBody>
      </p:sp>
      <p:sp>
        <p:nvSpPr>
          <p:cNvPr id="6" name="Text 4"/>
          <p:cNvSpPr txBox="1"/>
          <p:nvPr/>
        </p:nvSpPr>
        <p:spPr>
          <a:xfrm>
            <a:off x="822960" y="3127248"/>
            <a:ext cx="4937760" cy="914400"/>
          </a:xfrm>
          <a:prstGeom prst="rect">
            <a:avLst/>
          </a:prstGeom>
          <a:noFill/>
          <a:ln/>
        </p:spPr>
        <p:txBody>
          <a:bodyPr wrap="square" lIns="0" tIns="0" rIns="0" bIns="0" rtlCol="0" anchor="t"/>
          <a:lstStyle/>
          <a:p>
            <a:pPr indent="0" marL="0">
              <a:buNone/>
            </a:pPr>
            <a:r>
              <a:rPr lang="en-US" sz="1500" b="1" dirty="0">
                <a:solidFill>
                  <a:schemeClr val="tx1"/>
                </a:solidFill>
              </a:rPr>
              <a:t>Small effects.</a:t>
            </a:r>
            <a:pPr indent="0" marL="0">
              <a:buNone/>
            </a:pPr>
            <a:r>
              <a:rPr lang="en-US" sz="1500" dirty="0">
                <a:solidFill>
                  <a:schemeClr val="tx2"/>
                </a:solidFill>
              </a:rPr>
              <a:t> The shadow is 1.4 mg/dL closer than the patient’s own average day; the physiology alone beats it in only 60 % of held-out patients.</a:t>
            </a:r>
            <a:endParaRPr lang="en-US" sz="1500" dirty="0"/>
          </a:p>
        </p:txBody>
      </p:sp>
      <p:sp>
        <p:nvSpPr>
          <p:cNvPr id="7" name="Text 5"/>
          <p:cNvSpPr txBox="1"/>
          <p:nvPr/>
        </p:nvSpPr>
        <p:spPr>
          <a:xfrm>
            <a:off x="822960" y="4105656"/>
            <a:ext cx="4937760" cy="914400"/>
          </a:xfrm>
          <a:prstGeom prst="rect">
            <a:avLst/>
          </a:prstGeom>
          <a:noFill/>
          <a:ln/>
        </p:spPr>
        <p:txBody>
          <a:bodyPr wrap="square" lIns="0" tIns="0" rIns="0" bIns="0" rtlCol="0" anchor="t"/>
          <a:lstStyle/>
          <a:p>
            <a:pPr indent="0" marL="0">
              <a:buNone/>
            </a:pPr>
            <a:r>
              <a:rPr lang="en-US" sz="1500" b="1" dirty="0">
                <a:solidFill>
                  <a:schemeClr val="tx1"/>
                </a:solidFill>
              </a:rPr>
              <a:t>Conditional gains.</a:t>
            </a:r>
            <a:pPr indent="0" marL="0">
              <a:buNone/>
            </a:pPr>
            <a:r>
              <a:rPr lang="en-US" sz="1500" dirty="0">
                <a:solidFill>
                  <a:schemeClr val="tx2"/>
                </a:solidFill>
              </a:rPr>
              <a:t> The fingerstick result holds at about six a day in supervised care.</a:t>
            </a:r>
            <a:endParaRPr lang="en-US" sz="1500" dirty="0"/>
          </a:p>
        </p:txBody>
      </p:sp>
      <p:sp>
        <p:nvSpPr>
          <p:cNvPr id="8" name="Text 6"/>
          <p:cNvSpPr txBox="1"/>
          <p:nvPr/>
        </p:nvSpPr>
        <p:spPr>
          <a:xfrm>
            <a:off x="822960" y="5084064"/>
            <a:ext cx="4937760" cy="914400"/>
          </a:xfrm>
          <a:prstGeom prst="rect">
            <a:avLst/>
          </a:prstGeom>
          <a:noFill/>
          <a:ln/>
        </p:spPr>
        <p:txBody>
          <a:bodyPr wrap="square" lIns="0" tIns="0" rIns="0" bIns="0" rtlCol="0" anchor="t"/>
          <a:lstStyle/>
          <a:p>
            <a:pPr indent="0" marL="0">
              <a:buNone/>
            </a:pPr>
            <a:r>
              <a:rPr lang="en-US" sz="1500" b="1" dirty="0">
                <a:solidFill>
                  <a:schemeClr val="tx1"/>
                </a:solidFill>
              </a:rPr>
              <a:t>Research prototype.</a:t>
            </a:r>
            <a:pPr indent="0" marL="0">
              <a:buNone/>
            </a:pPr>
            <a:r>
              <a:rPr lang="en-US" sz="1500" dirty="0">
                <a:solidFill>
                  <a:schemeClr val="tx2"/>
                </a:solidFill>
              </a:rPr>
              <a:t> No dose advice, no low-glucose estimates, no alarms.</a:t>
            </a:r>
            <a:endParaRPr lang="en-US" sz="1500" dirty="0"/>
          </a:p>
        </p:txBody>
      </p:sp>
      <p:sp>
        <p:nvSpPr>
          <p:cNvPr id="9" name="Text 7"/>
          <p:cNvSpPr txBox="1"/>
          <p:nvPr/>
        </p:nvSpPr>
        <p:spPr>
          <a:xfrm>
            <a:off x="6537960" y="1755648"/>
            <a:ext cx="2743200" cy="274320"/>
          </a:xfrm>
          <a:prstGeom prst="rect">
            <a:avLst/>
          </a:prstGeom>
          <a:noFill/>
          <a:ln/>
        </p:spPr>
        <p:txBody>
          <a:bodyPr wrap="square" lIns="0" tIns="0" rIns="0" bIns="0" rtlCol="0" anchor="t"/>
          <a:lstStyle/>
          <a:p>
            <a:pPr indent="0" marL="0">
              <a:buNone/>
            </a:pPr>
            <a:r>
              <a:rPr lang="en-US" sz="1100" b="1" spc="150" kern="0" dirty="0">
                <a:solidFill>
                  <a:schemeClr val="accent1"/>
                </a:solidFill>
              </a:rPr>
              <a:t>ROADMAP</a:t>
            </a:r>
            <a:endParaRPr lang="en-US" sz="1100" dirty="0"/>
          </a:p>
        </p:txBody>
      </p:sp>
      <p:sp>
        <p:nvSpPr>
          <p:cNvPr id="10" name="Roadmap connector"/>
          <p:cNvSpPr/>
          <p:nvPr/>
        </p:nvSpPr>
        <p:spPr>
          <a:xfrm>
            <a:off x="6784848" y="2331720"/>
            <a:ext cx="0" cy="2743200"/>
          </a:xfrm>
          <a:prstGeom prst="line">
            <a:avLst/>
          </a:prstGeom>
          <a:noFill/>
          <a:ln w="25400">
            <a:solidFill>
              <a:srgbClr val="C9C8D6"/>
            </a:solidFill>
            <a:prstDash val="solid"/>
          </a:ln>
        </p:spPr>
      </p:sp>
      <p:sp>
        <p:nvSpPr>
          <p:cNvPr id="11" name="Roadmap node Now"/>
          <p:cNvSpPr/>
          <p:nvPr/>
        </p:nvSpPr>
        <p:spPr>
          <a:xfrm>
            <a:off x="6537960" y="2194560"/>
            <a:ext cx="493776" cy="493776"/>
          </a:xfrm>
          <a:prstGeom prst="ellipse">
            <a:avLst/>
          </a:prstGeom>
          <a:solidFill>
            <a:schemeClr val="accent4"/>
          </a:solidFill>
          <a:ln w="12700">
            <a:solidFill>
              <a:schemeClr val="accent4"/>
            </a:solidFill>
            <a:prstDash val="solid"/>
          </a:ln>
        </p:spPr>
      </p:sp>
      <p:sp>
        <p:nvSpPr>
          <p:cNvPr id="12" name="Text 10"/>
          <p:cNvSpPr txBox="1"/>
          <p:nvPr/>
        </p:nvSpPr>
        <p:spPr>
          <a:xfrm>
            <a:off x="6537960" y="2194560"/>
            <a:ext cx="493776" cy="493776"/>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13" name="Text 11"/>
          <p:cNvSpPr txBox="1"/>
          <p:nvPr/>
        </p:nvSpPr>
        <p:spPr>
          <a:xfrm>
            <a:off x="7269480" y="2176272"/>
            <a:ext cx="4297680" cy="310896"/>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Now</a:t>
            </a:r>
            <a:endParaRPr lang="en-US" sz="1700" dirty="0"/>
          </a:p>
        </p:txBody>
      </p:sp>
      <p:sp>
        <p:nvSpPr>
          <p:cNvPr id="14" name="Text 12"/>
          <p:cNvSpPr txBox="1"/>
          <p:nvPr/>
        </p:nvSpPr>
        <p:spPr>
          <a:xfrm>
            <a:off x="7269480" y="2523744"/>
            <a:ext cx="4343400" cy="914400"/>
          </a:xfrm>
          <a:prstGeom prst="rect">
            <a:avLst/>
          </a:prstGeom>
          <a:noFill/>
          <a:ln/>
        </p:spPr>
        <p:txBody>
          <a:bodyPr wrap="square" lIns="0" tIns="0" rIns="0" bIns="0" rtlCol="0" anchor="t"/>
          <a:lstStyle/>
          <a:p>
            <a:pPr indent="0" marL="0">
              <a:buNone/>
            </a:pPr>
            <a:r>
              <a:rPr lang="en-US" sz="1500" dirty="0">
                <a:solidFill>
                  <a:schemeClr val="tx2"/>
                </a:solidFill>
              </a:rPr>
              <a:t>Open-data prototype: nine pre-registered bars, five passed, every number reproducible.</a:t>
            </a:r>
            <a:endParaRPr lang="en-US" sz="1500" dirty="0"/>
          </a:p>
        </p:txBody>
      </p:sp>
      <p:sp>
        <p:nvSpPr>
          <p:cNvPr id="15" name="Roadmap node Next"/>
          <p:cNvSpPr/>
          <p:nvPr/>
        </p:nvSpPr>
        <p:spPr>
          <a:xfrm>
            <a:off x="6537960" y="3566160"/>
            <a:ext cx="493776" cy="493776"/>
          </a:xfrm>
          <a:prstGeom prst="ellipse">
            <a:avLst/>
          </a:prstGeom>
          <a:solidFill>
            <a:schemeClr val="accent1"/>
          </a:solidFill>
          <a:ln w="12700">
            <a:solidFill>
              <a:schemeClr val="accent1"/>
            </a:solidFill>
            <a:prstDash val="solid"/>
          </a:ln>
        </p:spPr>
      </p:sp>
      <p:sp>
        <p:nvSpPr>
          <p:cNvPr id="16" name="Text 14"/>
          <p:cNvSpPr txBox="1"/>
          <p:nvPr/>
        </p:nvSpPr>
        <p:spPr>
          <a:xfrm>
            <a:off x="6537960" y="3566160"/>
            <a:ext cx="493776" cy="493776"/>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7" name="Text 15"/>
          <p:cNvSpPr txBox="1"/>
          <p:nvPr/>
        </p:nvSpPr>
        <p:spPr>
          <a:xfrm>
            <a:off x="7269480" y="3547872"/>
            <a:ext cx="4297680" cy="310896"/>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Next</a:t>
            </a:r>
            <a:endParaRPr lang="en-US" sz="1700" dirty="0"/>
          </a:p>
        </p:txBody>
      </p:sp>
      <p:sp>
        <p:nvSpPr>
          <p:cNvPr id="18" name="Text 16"/>
          <p:cNvSpPr txBox="1"/>
          <p:nvPr/>
        </p:nvSpPr>
        <p:spPr>
          <a:xfrm>
            <a:off x="7269480" y="3895344"/>
            <a:ext cx="4343400" cy="914400"/>
          </a:xfrm>
          <a:prstGeom prst="rect">
            <a:avLst/>
          </a:prstGeom>
          <a:noFill/>
          <a:ln/>
        </p:spPr>
        <p:txBody>
          <a:bodyPr wrap="square" lIns="0" tIns="0" rIns="0" bIns="0" rtlCol="0" anchor="t"/>
          <a:lstStyle/>
          <a:p>
            <a:pPr indent="0" marL="0">
              <a:buNone/>
            </a:pPr>
            <a:r>
              <a:rPr lang="en-US" sz="1500" dirty="0">
                <a:solidFill>
                  <a:schemeClr val="tx2"/>
                </a:solidFill>
              </a:rPr>
              <a:t>An Indian clinic cohort, outpatient fingerstick frequencies of one or two a day, bars written before the run.</a:t>
            </a:r>
            <a:endParaRPr lang="en-US" sz="1500" dirty="0"/>
          </a:p>
        </p:txBody>
      </p:sp>
      <p:sp>
        <p:nvSpPr>
          <p:cNvPr id="19" name="Roadmap node Then"/>
          <p:cNvSpPr/>
          <p:nvPr/>
        </p:nvSpPr>
        <p:spPr>
          <a:xfrm>
            <a:off x="6537960" y="4937760"/>
            <a:ext cx="493776" cy="493776"/>
          </a:xfrm>
          <a:prstGeom prst="ellipse">
            <a:avLst/>
          </a:prstGeom>
          <a:solidFill>
            <a:schemeClr val="accent1"/>
          </a:solidFill>
          <a:ln w="12700">
            <a:solidFill>
              <a:schemeClr val="accent1"/>
            </a:solidFill>
            <a:prstDash val="solid"/>
          </a:ln>
        </p:spPr>
      </p:sp>
      <p:sp>
        <p:nvSpPr>
          <p:cNvPr id="20" name="Text 18"/>
          <p:cNvSpPr txBox="1"/>
          <p:nvPr/>
        </p:nvSpPr>
        <p:spPr>
          <a:xfrm>
            <a:off x="6537960" y="4937760"/>
            <a:ext cx="493776" cy="493776"/>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21" name="Text 19"/>
          <p:cNvSpPr txBox="1"/>
          <p:nvPr/>
        </p:nvSpPr>
        <p:spPr>
          <a:xfrm>
            <a:off x="7269480" y="4919472"/>
            <a:ext cx="4297680" cy="310896"/>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Then</a:t>
            </a:r>
            <a:endParaRPr lang="en-US" sz="1700" dirty="0"/>
          </a:p>
        </p:txBody>
      </p:sp>
      <p:sp>
        <p:nvSpPr>
          <p:cNvPr id="22" name="Text 20"/>
          <p:cNvSpPr txBox="1"/>
          <p:nvPr/>
        </p:nvSpPr>
        <p:spPr>
          <a:xfrm>
            <a:off x="7269480" y="5266944"/>
            <a:ext cx="4343400" cy="914400"/>
          </a:xfrm>
          <a:prstGeom prst="rect">
            <a:avLst/>
          </a:prstGeom>
          <a:noFill/>
          <a:ln/>
        </p:spPr>
        <p:txBody>
          <a:bodyPr wrap="square" lIns="0" tIns="0" rIns="0" bIns="0" rtlCol="0" anchor="t"/>
          <a:lstStyle/>
          <a:p>
            <a:pPr indent="0" marL="0">
              <a:buNone/>
            </a:pPr>
            <a:r>
              <a:rPr lang="en-US" sz="1500" dirty="0">
                <a:solidFill>
                  <a:schemeClr val="tx2"/>
                </a:solidFill>
              </a:rPr>
              <a:t>A prospective check that the stale-report prompt changes a clinical decision.</a:t>
            </a:r>
            <a:endParaRPr lang="en-US" sz="1500" dirty="0"/>
          </a:p>
        </p:txBody>
      </p:sp>
      <p:sp>
        <p:nvSpPr>
          <p:cNvPr id="25" name="Slide Number Placeholder 0"/>
          <p:cNvSpPr>
            <a:spLocks noGrp="1"/>
          </p:cNvSpPr>
          <p:nvPr>
            <p:ph type="sldNum" sz="quarter" idx="4294967295"/>
          </p:nvPr>
        </p:nvSpPr>
        <p:spPr>
          <a:xfrm>
            <a:off x="10972800" y="6437376"/>
            <a:ext cx="667512"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6B6A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7315200" cy="1097280"/>
          </a:xfrm>
          <a:prstGeom prst="rect">
            <a:avLst/>
          </a:prstGeom>
          <a:noFill/>
          <a:ln/>
        </p:spPr>
        <p:txBody>
          <a:bodyPr wrap="square" lIns="0" tIns="0" rIns="0" bIns="0" rtlCol="0" anchor="t"/>
          <a:lstStyle/>
          <a:p>
            <a:pPr algn="l" indent="0" marL="0">
              <a:buNone/>
            </a:pPr>
            <a:r>
              <a:rPr lang="en-US" sz="4400" b="1" dirty="0">
                <a:solidFill>
                  <a:schemeClr val="bg1"/>
                </a:solidFill>
              </a:rPr>
              <a:t>Every number is a command</a:t>
            </a:r>
            <a:endParaRPr lang="en-US" sz="4400" dirty="0"/>
          </a:p>
        </p:txBody>
      </p:sp>
      <p:sp>
        <p:nvSpPr>
          <p:cNvPr id="3" name="Text 1"/>
          <p:cNvSpPr txBox="1"/>
          <p:nvPr/>
        </p:nvSpPr>
        <p:spPr>
          <a:xfrm>
            <a:off x="548640" y="1691640"/>
            <a:ext cx="6949440" cy="822960"/>
          </a:xfrm>
          <a:prstGeom prst="rect">
            <a:avLst/>
          </a:prstGeom>
          <a:noFill/>
          <a:ln/>
        </p:spPr>
        <p:txBody>
          <a:bodyPr wrap="square" lIns="0" tIns="0" rIns="0" bIns="0" rtlCol="0" anchor="t"/>
          <a:lstStyle/>
          <a:p>
            <a:pPr indent="0" marL="0">
              <a:buNone/>
            </a:pPr>
            <a:r>
              <a:rPr lang="en-US" sz="2000" dirty="0">
                <a:solidFill>
                  <a:schemeClr val="accent6"/>
                </a:solidFill>
                <a:latin typeface="Cambria" pitchFamily="34" charset="0"/>
                <a:ea typeface="Cambria" pitchFamily="34" charset="-122"/>
                <a:cs typeface="Cambria" pitchFamily="34" charset="-120"/>
              </a:rPr>
              <a:t>Chhaya means shadow. When the sensor goes, the twin stays, and it says when to stop trusting it.</a:t>
            </a:r>
            <a:endParaRPr lang="en-US" sz="2000" dirty="0"/>
          </a:p>
        </p:txBody>
      </p:sp>
      <p:sp>
        <p:nvSpPr>
          <p:cNvPr id="4" name="Text 2"/>
          <p:cNvSpPr txBox="1"/>
          <p:nvPr/>
        </p:nvSpPr>
        <p:spPr>
          <a:xfrm>
            <a:off x="548640" y="2788920"/>
            <a:ext cx="2743200" cy="256032"/>
          </a:xfrm>
          <a:prstGeom prst="rect">
            <a:avLst/>
          </a:prstGeom>
          <a:noFill/>
          <a:ln/>
        </p:spPr>
        <p:txBody>
          <a:bodyPr wrap="square" lIns="0" tIns="0" rIns="0" bIns="0" rtlCol="0" anchor="t"/>
          <a:lstStyle/>
          <a:p>
            <a:pPr indent="0" marL="0">
              <a:buNone/>
            </a:pPr>
            <a:r>
              <a:rPr lang="en-US" sz="1100" b="1" spc="150" kern="0" dirty="0">
                <a:solidFill>
                  <a:srgbClr val="A9A4D6"/>
                </a:solidFill>
              </a:rPr>
              <a:t>LIVE DEMO</a:t>
            </a:r>
            <a:endParaRPr lang="en-US" sz="1100" dirty="0"/>
          </a:p>
        </p:txBody>
      </p:sp>
      <p:sp>
        <p:nvSpPr>
          <p:cNvPr id="5" name="Text 3">
            <a:hlinkClick r:id="rId1" tooltip=""/>
          </p:cNvPr>
          <p:cNvSpPr txBox="1"/>
          <p:nvPr/>
        </p:nvSpPr>
        <p:spPr>
          <a:xfrm>
            <a:off x="548640" y="3063240"/>
            <a:ext cx="6949440" cy="411480"/>
          </a:xfrm>
          <a:prstGeom prst="rect">
            <a:avLst/>
          </a:prstGeom>
          <a:noFill/>
          <a:ln/>
        </p:spPr>
        <p:txBody>
          <a:bodyPr wrap="square" lIns="0" tIns="0" rIns="0" bIns="0" rtlCol="0" anchor="t"/>
          <a:lstStyle/>
          <a:p>
            <a:pPr indent="0" marL="0">
              <a:buNone/>
            </a:pPr>
            <a:r>
              <a:rPr lang="en-US" sz="2200" b="1" u="sng" dirty="0">
                <a:solidFill>
                  <a:schemeClr val="bg1"/>
                </a:solidFill>
                <a:hlinkClick r:id="rId1" invalidUrl="" action="" tgtFrame="" tooltip="" history="1" highlightClick="0" endSnd="0">
                  <a:extLst>
                    <a:ext uri="{A12FA001-AC4F-418D-AE19-62706E023703}">
                      <ahyp:hlinkClr xmlns:ahyp="http://schemas.microsoft.com/office/drawing/2018/hyperlinkcolor" val="tx"/>
                    </a:ext>
                  </a:extLst>
                </a:hlinkClick>
              </a:rPr>
              <a:t>chhaya-digital-twin.vercel.app</a:t>
            </a:r>
            <a:endParaRPr lang="en-US" sz="2200" dirty="0"/>
          </a:p>
        </p:txBody>
      </p:sp>
      <p:sp>
        <p:nvSpPr>
          <p:cNvPr id="6" name="Text 4"/>
          <p:cNvSpPr txBox="1"/>
          <p:nvPr/>
        </p:nvSpPr>
        <p:spPr>
          <a:xfrm>
            <a:off x="548640" y="3657600"/>
            <a:ext cx="2743200" cy="256032"/>
          </a:xfrm>
          <a:prstGeom prst="rect">
            <a:avLst/>
          </a:prstGeom>
          <a:noFill/>
          <a:ln/>
        </p:spPr>
        <p:txBody>
          <a:bodyPr wrap="square" lIns="0" tIns="0" rIns="0" bIns="0" rtlCol="0" anchor="t"/>
          <a:lstStyle/>
          <a:p>
            <a:pPr indent="0" marL="0">
              <a:buNone/>
            </a:pPr>
            <a:r>
              <a:rPr lang="en-US" sz="1100" b="1" spc="150" kern="0" dirty="0">
                <a:solidFill>
                  <a:srgbClr val="A9A4D6"/>
                </a:solidFill>
              </a:rPr>
              <a:t>CODE</a:t>
            </a:r>
            <a:endParaRPr lang="en-US" sz="1100" dirty="0"/>
          </a:p>
        </p:txBody>
      </p:sp>
      <p:sp>
        <p:nvSpPr>
          <p:cNvPr id="7" name="Text 5"/>
          <p:cNvSpPr txBox="1"/>
          <p:nvPr/>
        </p:nvSpPr>
        <p:spPr>
          <a:xfrm>
            <a:off x="548640" y="3931920"/>
            <a:ext cx="6949440" cy="365760"/>
          </a:xfrm>
          <a:prstGeom prst="rect">
            <a:avLst/>
          </a:prstGeom>
          <a:noFill/>
          <a:ln/>
        </p:spPr>
        <p:txBody>
          <a:bodyPr wrap="square" lIns="0" tIns="0" rIns="0" bIns="0" rtlCol="0" anchor="t"/>
          <a:lstStyle/>
          <a:p>
            <a:pPr indent="0" marL="0">
              <a:buNone/>
            </a:pPr>
            <a:r>
              <a:rPr lang="en-US" sz="1800" dirty="0">
                <a:solidFill>
                  <a:schemeClr val="bg1"/>
                </a:solidFill>
              </a:rPr>
              <a:t>github.com/AdityaChandel11/DigitalTwinHack</a:t>
            </a:r>
            <a:endParaRPr lang="en-US" sz="1800" dirty="0"/>
          </a:p>
        </p:txBody>
      </p:sp>
      <p:sp>
        <p:nvSpPr>
          <p:cNvPr id="8" name="Text 6"/>
          <p:cNvSpPr txBox="1"/>
          <p:nvPr/>
        </p:nvSpPr>
        <p:spPr>
          <a:xfrm>
            <a:off x="548640" y="4526280"/>
            <a:ext cx="2743200" cy="256032"/>
          </a:xfrm>
          <a:prstGeom prst="rect">
            <a:avLst/>
          </a:prstGeom>
          <a:noFill/>
          <a:ln/>
        </p:spPr>
        <p:txBody>
          <a:bodyPr wrap="square" lIns="0" tIns="0" rIns="0" bIns="0" rtlCol="0" anchor="t"/>
          <a:lstStyle/>
          <a:p>
            <a:pPr indent="0" marL="0">
              <a:buNone/>
            </a:pPr>
            <a:r>
              <a:rPr lang="en-US" sz="1100" b="1" spc="150" kern="0" dirty="0">
                <a:solidFill>
                  <a:srgbClr val="A9A4D6"/>
                </a:solidFill>
              </a:rPr>
              <a:t>REPRODUCE</a:t>
            </a:r>
            <a:endParaRPr lang="en-US" sz="1100" dirty="0"/>
          </a:p>
        </p:txBody>
      </p:sp>
      <p:sp>
        <p:nvSpPr>
          <p:cNvPr id="9" name="Text 7"/>
          <p:cNvSpPr txBox="1"/>
          <p:nvPr/>
        </p:nvSpPr>
        <p:spPr>
          <a:xfrm>
            <a:off x="548640" y="4800600"/>
            <a:ext cx="6949440" cy="914400"/>
          </a:xfrm>
          <a:prstGeom prst="rect">
            <a:avLst/>
          </a:prstGeom>
          <a:noFill/>
          <a:ln/>
        </p:spPr>
        <p:txBody>
          <a:bodyPr wrap="square" lIns="0" tIns="0" rIns="0" bIns="0" rtlCol="0" anchor="t"/>
          <a:lstStyle/>
          <a:p>
            <a:pPr indent="0" marL="0">
              <a:buNone/>
            </a:pPr>
            <a:r>
              <a:rPr lang="en-US" sz="1500" dirty="0">
                <a:solidFill>
                  <a:schemeClr val="accent6"/>
                </a:solidFill>
                <a:latin typeface="Courier New" pitchFamily="34" charset="0"/>
                <a:ea typeface="Courier New" pitchFamily="34" charset="-122"/>
                <a:cs typeface="Courier New" pitchFamily="34" charset="-120"/>
              </a:rPr>
              <a:t>uv sync</a:t>
            </a:r>
            <a:endParaRPr lang="en-US" sz="1500" dirty="0"/>
          </a:p>
          <a:p>
            <a:pPr indent="0" marL="0">
              <a:buNone/>
            </a:pPr>
            <a:r>
              <a:rPr lang="en-US" sz="1500" dirty="0">
                <a:solidFill>
                  <a:schemeClr val="accent6"/>
                </a:solidFill>
                <a:latin typeface="Courier New" pitchFamily="34" charset="0"/>
                <a:ea typeface="Courier New" pitchFamily="34" charset="-122"/>
                <a:cs typeface="Courier New" pitchFamily="34" charset="-120"/>
              </a:rPr>
              <a:t>uv run python -m chhaya.dashboard</a:t>
            </a:r>
            <a:endParaRPr lang="en-US" sz="1500" dirty="0"/>
          </a:p>
          <a:p>
            <a:pPr indent="0" marL="0">
              <a:buNone/>
            </a:pPr>
            <a:r>
              <a:rPr lang="en-US" sz="1500" dirty="0">
                <a:solidFill>
                  <a:schemeClr val="accent6"/>
                </a:solidFill>
                <a:latin typeface="Courier New" pitchFamily="34" charset="0"/>
                <a:ea typeface="Courier New" pitchFamily="34" charset="-122"/>
                <a:cs typeface="Courier New" pitchFamily="34" charset="-120"/>
              </a:rPr>
              <a:t>uv run pytest -q</a:t>
            </a:r>
            <a:endParaRPr lang="en-US" sz="1500" dirty="0"/>
          </a:p>
        </p:txBody>
      </p:sp>
      <p:sp>
        <p:nvSpPr>
          <p:cNvPr id="10" name="Text 8"/>
          <p:cNvSpPr txBox="1"/>
          <p:nvPr/>
        </p:nvSpPr>
        <p:spPr>
          <a:xfrm>
            <a:off x="548640" y="5897880"/>
            <a:ext cx="7498080" cy="274320"/>
          </a:xfrm>
          <a:prstGeom prst="rect">
            <a:avLst/>
          </a:prstGeom>
          <a:noFill/>
          <a:ln/>
        </p:spPr>
        <p:txBody>
          <a:bodyPr wrap="square" lIns="0" tIns="0" rIns="0" bIns="0" rtlCol="0" anchor="t"/>
          <a:lstStyle/>
          <a:p>
            <a:pPr indent="0" marL="0">
              <a:buNone/>
            </a:pPr>
            <a:r>
              <a:rPr lang="en-US" sz="1200" dirty="0">
                <a:solidFill>
                  <a:srgbClr val="A9A4D6"/>
                </a:solidFill>
              </a:rPr>
              <a:t>400+ tests · 15 decision records · pre-registered bars · code MIT, data CC BY 4.0 and CC BY-NC-SA 4.0</a:t>
            </a:r>
            <a:endParaRPr lang="en-US" sz="1200" dirty="0"/>
          </a:p>
        </p:txBody>
      </p:sp>
      <p:sp>
        <p:nvSpPr>
          <p:cNvPr id="11" name="QR tile"/>
          <p:cNvSpPr/>
          <p:nvPr/>
        </p:nvSpPr>
        <p:spPr>
          <a:xfrm>
            <a:off x="8732520" y="1691640"/>
            <a:ext cx="2907792" cy="2907792"/>
          </a:xfrm>
          <a:prstGeom prst="rect">
            <a:avLst/>
          </a:prstGeom>
          <a:solidFill>
            <a:schemeClr val="bg1"/>
          </a:solidFill>
          <a:ln w="12700">
            <a:solidFill>
              <a:schemeClr val="bg1"/>
            </a:solidFill>
            <a:prstDash val="solid"/>
          </a:ln>
        </p:spPr>
      </p:sp>
      <p:pic>
        <p:nvPicPr>
          <p:cNvPr id="12" name="Image 0" descr="QR code linking to the live Chhaya demo">    </p:cNvPr>
          <p:cNvPicPr>
            <a:picLocks noChangeAspect="1"/>
          </p:cNvPicPr>
          <p:nvPr/>
        </p:nvPicPr>
        <p:blipFill>
          <a:blip r:embed="rId2"/>
          <a:stretch>
            <a:fillRect/>
          </a:stretch>
        </p:blipFill>
        <p:spPr>
          <a:xfrm>
            <a:off x="8842248" y="1801368"/>
            <a:ext cx="2688336" cy="2688336"/>
          </a:xfrm>
          <a:prstGeom prst="rect">
            <a:avLst/>
          </a:prstGeom>
        </p:spPr>
      </p:pic>
      <p:sp>
        <p:nvSpPr>
          <p:cNvPr id="13" name="Text 10"/>
          <p:cNvSpPr txBox="1"/>
          <p:nvPr/>
        </p:nvSpPr>
        <p:spPr>
          <a:xfrm>
            <a:off x="8732520" y="4709160"/>
            <a:ext cx="2907792" cy="274320"/>
          </a:xfrm>
          <a:prstGeom prst="rect">
            <a:avLst/>
          </a:prstGeom>
          <a:noFill/>
          <a:ln/>
        </p:spPr>
        <p:txBody>
          <a:bodyPr wrap="square" lIns="0" tIns="0" rIns="0" bIns="0" rtlCol="0" anchor="t"/>
          <a:lstStyle/>
          <a:p>
            <a:pPr algn="ctr" indent="0" marL="0">
              <a:buNone/>
            </a:pPr>
            <a:r>
              <a:rPr lang="en-US" sz="1300" dirty="0">
                <a:solidFill>
                  <a:schemeClr val="bg1"/>
                </a:solidFill>
              </a:rPr>
              <a:t>Scan to open the demo</a:t>
            </a:r>
            <a:endParaRPr lang="en-US" sz="1300" dirty="0"/>
          </a:p>
        </p:txBody>
      </p:sp>
      <p:sp>
        <p:nvSpPr>
          <p:cNvPr id="14" name="Text 11"/>
          <p:cNvSpPr txBox="1"/>
          <p:nvPr/>
        </p:nvSpPr>
        <p:spPr>
          <a:xfrm>
            <a:off x="8732520" y="5349240"/>
            <a:ext cx="2907792" cy="365760"/>
          </a:xfrm>
          <a:prstGeom prst="rect">
            <a:avLst/>
          </a:prstGeom>
          <a:noFill/>
          <a:ln/>
        </p:spPr>
        <p:txBody>
          <a:bodyPr wrap="square" lIns="0" tIns="0" rIns="0" bIns="0" rtlCol="0" anchor="t"/>
          <a:lstStyle/>
          <a:p>
            <a:pPr algn="ctr" indent="0" marL="0">
              <a:buNone/>
            </a:pPr>
            <a:r>
              <a:rPr lang="en-US" sz="1800" b="1" dirty="0">
                <a:solidFill>
                  <a:schemeClr val="bg1"/>
                </a:solidFill>
                <a:latin typeface="Cambria" pitchFamily="34" charset="0"/>
                <a:ea typeface="Cambria" pitchFamily="34" charset="-122"/>
                <a:cs typeface="Cambria" pitchFamily="34" charset="-120"/>
              </a:rPr>
              <a:t>Team SynapseX</a:t>
            </a:r>
            <a:endParaRPr lang="en-US" sz="1800" dirty="0"/>
          </a:p>
        </p:txBody>
      </p:sp>
      <p:sp>
        <p:nvSpPr>
          <p:cNvPr id="15" name="Text 12"/>
          <p:cNvSpPr txBox="1"/>
          <p:nvPr/>
        </p:nvSpPr>
        <p:spPr>
          <a:xfrm>
            <a:off x="8732520" y="5715000"/>
            <a:ext cx="2907792" cy="274320"/>
          </a:xfrm>
          <a:prstGeom prst="rect">
            <a:avLst/>
          </a:prstGeom>
          <a:noFill/>
          <a:ln/>
        </p:spPr>
        <p:txBody>
          <a:bodyPr wrap="square" lIns="0" tIns="0" rIns="0" bIns="0" rtlCol="0" anchor="t"/>
          <a:lstStyle/>
          <a:p>
            <a:pPr algn="ctr" indent="0" marL="0">
              <a:buNone/>
            </a:pPr>
            <a:r>
              <a:rPr lang="en-US" sz="1400" dirty="0">
                <a:solidFill>
                  <a:srgbClr val="A9A4D6"/>
                </a:solidFill>
              </a:rPr>
              <a:t>D.B.S. College, Kanpur</a:t>
            </a:r>
            <a:endParaRPr lang="en-US" sz="1400" dirty="0"/>
          </a:p>
        </p:txBody>
      </p:sp>
    </p:spTree>
  </p:cSld>
  <p:clrMapOvr>
    <a:masterClrMapping/>
  </p:clrMapOvr>
</p:sld>
</file>

<file path=ppt/theme/theme1.xml><?xml version="1.0" encoding="utf-8"?>
<a:theme xmlns:a="http://schemas.openxmlformats.org/drawingml/2006/main" name="Chhaya">
  <a:themeElements>
    <a:clrScheme name="Chhaya">
      <a:dk1>
        <a:srgbClr val="15142B"/>
      </a:dk1>
      <a:lt1>
        <a:srgbClr val="FFFFFF"/>
      </a:lt1>
      <a:dk2>
        <a:srgbClr val="4B4A5E"/>
      </a:dk2>
      <a:lt2>
        <a:srgbClr val="F6F5FB"/>
      </a:lt2>
      <a:accent1>
        <a:srgbClr val="4A3AA7"/>
      </a:accent1>
      <a:accent2>
        <a:srgbClr val="0E9AA7"/>
      </a:accent2>
      <a:accent3>
        <a:srgbClr val="B81F58"/>
      </a:accent3>
      <a:accent4>
        <a:srgbClr val="0A7A2A"/>
      </a:accent4>
      <a:accent5>
        <a:srgbClr val="B3311F"/>
      </a:accent5>
      <a:accent6>
        <a:srgbClr val="B7ABFF"/>
      </a:accent6>
      <a:hlink>
        <a:srgbClr val="4A3AA7"/>
      </a:hlink>
      <a:folHlink>
        <a:srgbClr val="6B6A80"/>
      </a:folHlink>
    </a:clrScheme>
    <a:fontScheme name="Chhay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Chhaya: the diabetes digital twin that keeps going when the sensor is off</dc:title>
  <dc:subject>Happiest Health Digital Twin Challenge 2026</dc:subject>
  <dc:creator>Team SynapseX, D.B.S. College, Kanpur</dc:creator>
  <cp:lastModifiedBy>Team SynapseX, D.B.S. College, Kanpur</cp:lastModifiedBy>
  <cp:revision>1</cp:revision>
  <dcterms:created xsi:type="dcterms:W3CDTF">2026-10-23T18:57:31Z</dcterms:created>
  <dcterms:modified xsi:type="dcterms:W3CDTF">2026-10-23T18:57:31Z</dcterms:modified>
</cp:coreProperties>
</file>